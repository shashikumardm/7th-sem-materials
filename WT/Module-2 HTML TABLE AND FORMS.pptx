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24" r:id="rId28"/>
    <p:sldId id="280" r:id="rId29"/>
    <p:sldId id="281" r:id="rId30"/>
    <p:sldId id="282" r:id="rId31"/>
    <p:sldId id="325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1350" y="-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518FA-600C-4C31-8232-19323E44188B}" type="datetimeFigureOut">
              <a:rPr lang="en-US" smtClean="0"/>
              <a:pPr/>
              <a:t>10/11/2020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D9E82-700B-4E7C-B529-A38F44A86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9D9E82-700B-4E7C-B529-A38F44A860D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9D9E82-700B-4E7C-B529-A38F44A860D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8839200" cy="6858000"/>
          </a:xfrm>
          <a:custGeom>
            <a:avLst/>
            <a:gdLst/>
            <a:ahLst/>
            <a:cxnLst/>
            <a:rect l="l" t="t" r="r" b="b"/>
            <a:pathLst>
              <a:path w="8839200" h="6858000">
                <a:moveTo>
                  <a:pt x="0" y="6858000"/>
                </a:moveTo>
                <a:lnTo>
                  <a:pt x="8839200" y="6858000"/>
                </a:lnTo>
                <a:lnTo>
                  <a:pt x="88392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3F3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4521" y="516470"/>
            <a:ext cx="592899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506D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sp>
        <p:nvSpPr>
          <p:cNvPr id="12" name="Shape 185"/>
          <p:cNvSpPr>
            <a:spLocks noChangeArrowheads="1"/>
          </p:cNvSpPr>
          <p:nvPr userDrawn="1"/>
        </p:nvSpPr>
        <p:spPr bwMode="auto">
          <a:xfrm>
            <a:off x="1981200" y="6584950"/>
            <a:ext cx="2286000" cy="27305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lIns="91425" tIns="45700" rIns="91425" bIns="45700" anchor="ctr"/>
          <a:lstStyle/>
          <a:p>
            <a:pPr algn="ctr">
              <a:buSzPct val="25000"/>
              <a:defRPr/>
            </a:pPr>
            <a:r>
              <a:rPr lang="en-US" sz="900">
                <a:latin typeface="Century Gothic" pitchFamily="34" charset="0"/>
                <a:sym typeface="Century Gothic" pitchFamily="34" charset="0"/>
              </a:rPr>
              <a:t>Acharya Institute of Technology</a:t>
            </a:r>
          </a:p>
        </p:txBody>
      </p:sp>
      <p:sp>
        <p:nvSpPr>
          <p:cNvPr id="13" name="Shape 186"/>
          <p:cNvSpPr>
            <a:spLocks noChangeArrowheads="1"/>
          </p:cNvSpPr>
          <p:nvPr userDrawn="1"/>
        </p:nvSpPr>
        <p:spPr bwMode="auto">
          <a:xfrm>
            <a:off x="685800" y="6584950"/>
            <a:ext cx="1219200" cy="273050"/>
          </a:xfrm>
          <a:prstGeom prst="rect">
            <a:avLst/>
          </a:prstGeom>
          <a:solidFill>
            <a:srgbClr val="223A84"/>
          </a:solidFill>
          <a:ln w="9525">
            <a:noFill/>
            <a:miter lim="800000"/>
            <a:headEnd/>
            <a:tailEnd/>
          </a:ln>
        </p:spPr>
        <p:txBody>
          <a:bodyPr lIns="91425" tIns="45700" rIns="91425" bIns="45700" anchor="ctr"/>
          <a:lstStyle/>
          <a:p>
            <a:pPr>
              <a:buSzPct val="25000"/>
              <a:defRPr/>
            </a:pPr>
            <a:r>
              <a:rPr lang="en-US" sz="900" dirty="0">
                <a:solidFill>
                  <a:srgbClr val="FFFFFF"/>
                </a:solidFill>
                <a:latin typeface="Century Gothic" pitchFamily="34" charset="0"/>
                <a:sym typeface="Century Gothic" pitchFamily="34" charset="0"/>
              </a:rPr>
              <a:t>Department of ISE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E3E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E3E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pic>
        <p:nvPicPr>
          <p:cNvPr id="3074" name="Picture 2" descr="E:\2020-21\web-tech\UPDATED\MODULE-1\For class\HTML EXE\acharya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745104" y="-125104"/>
            <a:ext cx="1447800" cy="1447800"/>
          </a:xfrm>
          <a:prstGeom prst="rect">
            <a:avLst/>
          </a:prstGeom>
          <a:noFill/>
        </p:spPr>
      </p:pic>
      <p:sp>
        <p:nvSpPr>
          <p:cNvPr id="8" name="Shape 185"/>
          <p:cNvSpPr>
            <a:spLocks noChangeArrowheads="1"/>
          </p:cNvSpPr>
          <p:nvPr userDrawn="1"/>
        </p:nvSpPr>
        <p:spPr bwMode="auto">
          <a:xfrm>
            <a:off x="2514600" y="6571302"/>
            <a:ext cx="2286000" cy="27305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lIns="91425" tIns="45700" rIns="91425" bIns="45700" anchor="ctr"/>
          <a:lstStyle/>
          <a:p>
            <a:pPr algn="ctr">
              <a:buSzPct val="25000"/>
              <a:defRPr/>
            </a:pPr>
            <a:r>
              <a:rPr lang="en-US" sz="900">
                <a:latin typeface="Century Gothic" pitchFamily="34" charset="0"/>
                <a:sym typeface="Century Gothic" pitchFamily="34" charset="0"/>
              </a:rPr>
              <a:t>Acharya Institute of Technology</a:t>
            </a:r>
          </a:p>
        </p:txBody>
      </p:sp>
      <p:sp>
        <p:nvSpPr>
          <p:cNvPr id="9" name="Shape 186"/>
          <p:cNvSpPr>
            <a:spLocks noChangeArrowheads="1"/>
          </p:cNvSpPr>
          <p:nvPr userDrawn="1"/>
        </p:nvSpPr>
        <p:spPr bwMode="auto">
          <a:xfrm>
            <a:off x="1219200" y="6571302"/>
            <a:ext cx="1219200" cy="273050"/>
          </a:xfrm>
          <a:prstGeom prst="rect">
            <a:avLst/>
          </a:prstGeom>
          <a:solidFill>
            <a:srgbClr val="223A84"/>
          </a:solidFill>
          <a:ln w="9525">
            <a:noFill/>
            <a:miter lim="800000"/>
            <a:headEnd/>
            <a:tailEnd/>
          </a:ln>
        </p:spPr>
        <p:txBody>
          <a:bodyPr lIns="91425" tIns="45700" rIns="91425" bIns="45700" anchor="ctr"/>
          <a:lstStyle/>
          <a:p>
            <a:pPr>
              <a:buSzPct val="25000"/>
              <a:defRPr/>
            </a:pPr>
            <a:r>
              <a:rPr lang="en-US" sz="900" dirty="0">
                <a:solidFill>
                  <a:srgbClr val="FFFFFF"/>
                </a:solidFill>
                <a:latin typeface="Century Gothic" pitchFamily="34" charset="0"/>
                <a:sym typeface="Century Gothic" pitchFamily="34" charset="0"/>
              </a:rPr>
              <a:t>Department of ISE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E3E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8839200" cy="6858000"/>
          </a:xfrm>
          <a:custGeom>
            <a:avLst/>
            <a:gdLst/>
            <a:ahLst/>
            <a:cxnLst/>
            <a:rect l="l" t="t" r="r" b="b"/>
            <a:pathLst>
              <a:path w="8839200" h="6858000">
                <a:moveTo>
                  <a:pt x="0" y="6858000"/>
                </a:moveTo>
                <a:lnTo>
                  <a:pt x="8839200" y="6858000"/>
                </a:lnTo>
                <a:lnTo>
                  <a:pt x="88392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3F3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E3E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pic>
        <p:nvPicPr>
          <p:cNvPr id="1026" name="Picture 2" descr="E:\2020-21\web-tech\UPDATED\MODULE-1\For class\HTML EXE\acharya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467600" y="-136480"/>
            <a:ext cx="1371600" cy="13716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3E3E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pic>
        <p:nvPicPr>
          <p:cNvPr id="2050" name="Picture 2" descr="E:\2020-21\web-tech\UPDATED\MODULE-1\For class\HTML EXE\acharya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772400" y="-117144"/>
            <a:ext cx="1412544" cy="1412544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8839200" cy="6858000"/>
          </a:xfrm>
          <a:custGeom>
            <a:avLst/>
            <a:gdLst/>
            <a:ahLst/>
            <a:cxnLst/>
            <a:rect l="l" t="t" r="r" b="b"/>
            <a:pathLst>
              <a:path w="8839200" h="6858000">
                <a:moveTo>
                  <a:pt x="0" y="6858000"/>
                </a:moveTo>
                <a:lnTo>
                  <a:pt x="8839200" y="6858000"/>
                </a:lnTo>
                <a:lnTo>
                  <a:pt x="88392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3F3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137477"/>
            <a:ext cx="396494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3E3E3E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110" y="1082039"/>
            <a:ext cx="7637779" cy="1691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E3E3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E3E3E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sp>
        <p:nvSpPr>
          <p:cNvPr id="8" name="Shape 185"/>
          <p:cNvSpPr>
            <a:spLocks noChangeArrowheads="1"/>
          </p:cNvSpPr>
          <p:nvPr userDrawn="1"/>
        </p:nvSpPr>
        <p:spPr bwMode="auto">
          <a:xfrm>
            <a:off x="2133600" y="6508750"/>
            <a:ext cx="2286000" cy="27305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lIns="91425" tIns="45700" rIns="91425" bIns="45700" anchor="ctr"/>
          <a:lstStyle/>
          <a:p>
            <a:pPr algn="ctr">
              <a:buSzPct val="25000"/>
              <a:defRPr/>
            </a:pPr>
            <a:r>
              <a:rPr lang="en-US" sz="900">
                <a:latin typeface="Century Gothic" pitchFamily="34" charset="0"/>
                <a:sym typeface="Century Gothic" pitchFamily="34" charset="0"/>
              </a:rPr>
              <a:t>Acharya Institute of Technology</a:t>
            </a:r>
          </a:p>
        </p:txBody>
      </p:sp>
      <p:sp>
        <p:nvSpPr>
          <p:cNvPr id="9" name="Shape 186"/>
          <p:cNvSpPr>
            <a:spLocks noChangeArrowheads="1"/>
          </p:cNvSpPr>
          <p:nvPr userDrawn="1"/>
        </p:nvSpPr>
        <p:spPr bwMode="auto">
          <a:xfrm>
            <a:off x="838200" y="6508750"/>
            <a:ext cx="1219200" cy="273050"/>
          </a:xfrm>
          <a:prstGeom prst="rect">
            <a:avLst/>
          </a:prstGeom>
          <a:solidFill>
            <a:srgbClr val="223A84"/>
          </a:solidFill>
          <a:ln w="9525">
            <a:noFill/>
            <a:miter lim="800000"/>
            <a:headEnd/>
            <a:tailEnd/>
          </a:ln>
        </p:spPr>
        <p:txBody>
          <a:bodyPr lIns="91425" tIns="45700" rIns="91425" bIns="45700" anchor="ctr"/>
          <a:lstStyle/>
          <a:p>
            <a:pPr>
              <a:buSzPct val="25000"/>
              <a:defRPr/>
            </a:pPr>
            <a:r>
              <a:rPr lang="en-US" sz="900" dirty="0">
                <a:solidFill>
                  <a:srgbClr val="FFFFFF"/>
                </a:solidFill>
                <a:latin typeface="Century Gothic" pitchFamily="34" charset="0"/>
                <a:sym typeface="Century Gothic" pitchFamily="34" charset="0"/>
              </a:rPr>
              <a:t>Department of ISE</a:t>
            </a:r>
          </a:p>
        </p:txBody>
      </p:sp>
      <p:pic>
        <p:nvPicPr>
          <p:cNvPr id="10" name="Picture 2" descr="E:\2020-21\web-tech\UPDATED\MODULE-1\For class\HTML EXE\acharya.png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7696200" y="-152400"/>
            <a:ext cx="1447800" cy="14478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WAI/intro/wcag.ph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html/html_form_input_types.asp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610600" cy="4572000"/>
          </a:xfrm>
          <a:custGeom>
            <a:avLst/>
            <a:gdLst/>
            <a:ahLst/>
            <a:cxnLst/>
            <a:rect l="l" t="t" r="r" b="b"/>
            <a:pathLst>
              <a:path w="8610600" h="4572000">
                <a:moveTo>
                  <a:pt x="0" y="4572000"/>
                </a:moveTo>
                <a:lnTo>
                  <a:pt x="8610600" y="4572000"/>
                </a:lnTo>
                <a:lnTo>
                  <a:pt x="8610600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solidFill>
            <a:srgbClr val="F3F3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2000"/>
            <a:ext cx="9144000" cy="1905000"/>
          </a:xfrm>
          <a:custGeom>
            <a:avLst/>
            <a:gdLst/>
            <a:ahLst/>
            <a:cxnLst/>
            <a:rect l="l" t="t" r="r" b="b"/>
            <a:pathLst>
              <a:path w="9144000" h="1905000">
                <a:moveTo>
                  <a:pt x="0" y="1905000"/>
                </a:moveTo>
                <a:lnTo>
                  <a:pt x="9144000" y="1905000"/>
                </a:lnTo>
                <a:lnTo>
                  <a:pt x="9144000" y="0"/>
                </a:lnTo>
                <a:lnTo>
                  <a:pt x="0" y="0"/>
                </a:lnTo>
                <a:lnTo>
                  <a:pt x="0" y="1905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3139" y="660400"/>
            <a:ext cx="5948680" cy="163576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6200"/>
              </a:lnSpc>
              <a:spcBef>
                <a:spcPts val="540"/>
              </a:spcBef>
            </a:pPr>
            <a:r>
              <a:rPr sz="5400" b="1" spc="-250" dirty="0">
                <a:latin typeface="Georgia"/>
                <a:cs typeface="Georgia"/>
              </a:rPr>
              <a:t>HTML </a:t>
            </a:r>
            <a:r>
              <a:rPr sz="5400" b="1" spc="-90" dirty="0">
                <a:latin typeface="Georgia"/>
                <a:cs typeface="Georgia"/>
              </a:rPr>
              <a:t>Tables</a:t>
            </a:r>
            <a:r>
              <a:rPr sz="5400" b="1" spc="-295" dirty="0">
                <a:latin typeface="Georgia"/>
                <a:cs typeface="Georgia"/>
              </a:rPr>
              <a:t> </a:t>
            </a:r>
            <a:r>
              <a:rPr sz="5400" b="1" spc="-210" dirty="0">
                <a:latin typeface="Georgia"/>
                <a:cs typeface="Georgia"/>
              </a:rPr>
              <a:t>and  </a:t>
            </a:r>
            <a:r>
              <a:rPr sz="5400" b="1" spc="-265" dirty="0">
                <a:latin typeface="Georgia"/>
                <a:cs typeface="Georgia"/>
              </a:rPr>
              <a:t>Forms</a:t>
            </a:r>
            <a:endParaRPr sz="54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8" y="3733800"/>
            <a:ext cx="335026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spc="-135" dirty="0" smtClean="0">
                <a:solidFill>
                  <a:srgbClr val="C88736"/>
                </a:solidFill>
                <a:latin typeface="Arial"/>
                <a:cs typeface="Arial"/>
              </a:rPr>
              <a:t>Module-2: </a:t>
            </a:r>
            <a:r>
              <a:rPr sz="2800" b="1" spc="-135" smtClean="0">
                <a:solidFill>
                  <a:srgbClr val="C88736"/>
                </a:solidFill>
                <a:latin typeface="Arial"/>
                <a:cs typeface="Arial"/>
              </a:rPr>
              <a:t>Chapter</a:t>
            </a:r>
            <a:r>
              <a:rPr sz="2800" b="1" spc="-225" smtClean="0">
                <a:solidFill>
                  <a:srgbClr val="C88736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C88736"/>
                </a:solidFill>
                <a:latin typeface="Arial"/>
                <a:cs typeface="Arial"/>
              </a:rPr>
              <a:t>5</a:t>
            </a:r>
            <a:endParaRPr sz="2800" b="1">
              <a:latin typeface="Arial"/>
              <a:cs typeface="Arial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lang="en-US"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139" y="1633537"/>
            <a:ext cx="5493385" cy="414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8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000" spc="-45" dirty="0">
                <a:solidFill>
                  <a:srgbClr val="00B0F0"/>
                </a:solidFill>
                <a:latin typeface="Arial"/>
                <a:cs typeface="Arial"/>
              </a:rPr>
              <a:t>table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000" spc="-170" dirty="0">
                <a:solidFill>
                  <a:srgbClr val="3E3E3E"/>
                </a:solidFill>
                <a:latin typeface="Arial"/>
                <a:cs typeface="Arial"/>
              </a:rPr>
              <a:t>HTML 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000" spc="-75" dirty="0">
                <a:solidFill>
                  <a:srgbClr val="3E3E3E"/>
                </a:solidFill>
                <a:latin typeface="Arial"/>
                <a:cs typeface="Arial"/>
              </a:rPr>
              <a:t>created </a:t>
            </a:r>
            <a:r>
              <a:rPr sz="2000" spc="-100" dirty="0">
                <a:solidFill>
                  <a:srgbClr val="3E3E3E"/>
                </a:solidFill>
                <a:latin typeface="Arial"/>
                <a:cs typeface="Arial"/>
              </a:rPr>
              <a:t>using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b="1" spc="-114" dirty="0">
                <a:solidFill>
                  <a:srgbClr val="3E3E3E"/>
                </a:solidFill>
                <a:latin typeface="Arial"/>
                <a:cs typeface="Arial"/>
              </a:rPr>
              <a:t>&lt;table&gt;</a:t>
            </a:r>
            <a:r>
              <a:rPr sz="2000" b="1" spc="-3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spc="-160" dirty="0">
                <a:solidFill>
                  <a:srgbClr val="3E3E3E"/>
                </a:solidFill>
                <a:latin typeface="Arial"/>
                <a:cs typeface="Arial"/>
              </a:rPr>
              <a:t>Tables </a:t>
            </a:r>
            <a:r>
              <a:rPr sz="2000" spc="-135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used </a:t>
            </a:r>
            <a:r>
              <a:rPr sz="20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3E3E3E"/>
                </a:solidFill>
                <a:latin typeface="Arial"/>
                <a:cs typeface="Arial"/>
              </a:rPr>
              <a:t>display: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75" dirty="0">
                <a:solidFill>
                  <a:srgbClr val="3E3E3E"/>
                </a:solidFill>
                <a:latin typeface="Arial"/>
                <a:cs typeface="Arial"/>
              </a:rPr>
              <a:t>Many types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000" spc="-2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content</a:t>
            </a:r>
            <a:endParaRPr sz="20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420"/>
              </a:spcBef>
              <a:buChar char="•"/>
              <a:tabLst>
                <a:tab pos="812165" algn="l"/>
                <a:tab pos="812800" algn="l"/>
              </a:tabLst>
            </a:pPr>
            <a:r>
              <a:rPr sz="1900" spc="-114" dirty="0">
                <a:solidFill>
                  <a:srgbClr val="3E3E3E"/>
                </a:solidFill>
                <a:latin typeface="Arial"/>
                <a:cs typeface="Arial"/>
              </a:rPr>
              <a:t>Calendars, </a:t>
            </a:r>
            <a:r>
              <a:rPr sz="1900" spc="-55" dirty="0">
                <a:solidFill>
                  <a:srgbClr val="3E3E3E"/>
                </a:solidFill>
                <a:latin typeface="Arial"/>
                <a:cs typeface="Arial"/>
              </a:rPr>
              <a:t>financial </a:t>
            </a:r>
            <a:r>
              <a:rPr sz="1900" spc="-65" dirty="0">
                <a:solidFill>
                  <a:srgbClr val="3E3E3E"/>
                </a:solidFill>
                <a:latin typeface="Arial"/>
                <a:cs typeface="Arial"/>
              </a:rPr>
              <a:t>data, lists,</a:t>
            </a:r>
            <a:r>
              <a:rPr sz="1900" spc="-2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900" spc="-200" dirty="0">
                <a:solidFill>
                  <a:srgbClr val="3E3E3E"/>
                </a:solidFill>
                <a:latin typeface="Arial"/>
                <a:cs typeface="Arial"/>
              </a:rPr>
              <a:t>etc…</a:t>
            </a:r>
            <a:endParaRPr sz="19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125" dirty="0">
                <a:solidFill>
                  <a:srgbClr val="3E3E3E"/>
                </a:solidFill>
                <a:latin typeface="Arial"/>
                <a:cs typeface="Arial"/>
              </a:rPr>
              <a:t>Any 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type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000" spc="-1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•"/>
              <a:tabLst>
                <a:tab pos="812165" algn="l"/>
                <a:tab pos="812800" algn="l"/>
              </a:tabLst>
            </a:pPr>
            <a:r>
              <a:rPr sz="1900" spc="-130" dirty="0">
                <a:solidFill>
                  <a:srgbClr val="3E3E3E"/>
                </a:solidFill>
                <a:latin typeface="Arial"/>
                <a:cs typeface="Arial"/>
              </a:rPr>
              <a:t>Images</a:t>
            </a:r>
            <a:endParaRPr sz="19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420"/>
              </a:spcBef>
              <a:buChar char="•"/>
              <a:tabLst>
                <a:tab pos="812165" algn="l"/>
                <a:tab pos="812800" algn="l"/>
              </a:tabLst>
            </a:pPr>
            <a:r>
              <a:rPr sz="1900" spc="-145" dirty="0">
                <a:solidFill>
                  <a:srgbClr val="3E3E3E"/>
                </a:solidFill>
                <a:latin typeface="Arial"/>
                <a:cs typeface="Arial"/>
              </a:rPr>
              <a:t>Text</a:t>
            </a:r>
            <a:endParaRPr sz="19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440"/>
              </a:spcBef>
              <a:buChar char="•"/>
              <a:tabLst>
                <a:tab pos="812165" algn="l"/>
                <a:tab pos="812800" algn="l"/>
              </a:tabLst>
            </a:pPr>
            <a:r>
              <a:rPr sz="1900" spc="-130" dirty="0">
                <a:solidFill>
                  <a:srgbClr val="3E3E3E"/>
                </a:solidFill>
                <a:latin typeface="Arial"/>
                <a:cs typeface="Arial"/>
              </a:rPr>
              <a:t>Links</a:t>
            </a:r>
            <a:endParaRPr sz="19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420"/>
              </a:spcBef>
              <a:buChar char="•"/>
              <a:tabLst>
                <a:tab pos="812165" algn="l"/>
                <a:tab pos="812800" algn="l"/>
              </a:tabLst>
            </a:pPr>
            <a:r>
              <a:rPr sz="1900" spc="-55" dirty="0">
                <a:solidFill>
                  <a:srgbClr val="3E3E3E"/>
                </a:solidFill>
                <a:latin typeface="Arial"/>
                <a:cs typeface="Arial"/>
              </a:rPr>
              <a:t>Other</a:t>
            </a:r>
            <a:r>
              <a:rPr sz="1900" spc="-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3E3E3E"/>
                </a:solidFill>
                <a:latin typeface="Arial"/>
                <a:cs typeface="Arial"/>
              </a:rPr>
              <a:t>tables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327400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-320" dirty="0"/>
              <a:t>HTML</a:t>
            </a:r>
            <a:r>
              <a:rPr spc="-215" dirty="0"/>
              <a:t> </a:t>
            </a:r>
            <a:r>
              <a:rPr spc="95" dirty="0"/>
              <a:t>Tables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40" dirty="0"/>
              <a:t>A </a:t>
            </a:r>
            <a:r>
              <a:rPr sz="1500" spc="70" dirty="0"/>
              <a:t>grid </a:t>
            </a:r>
            <a:r>
              <a:rPr sz="1500" dirty="0"/>
              <a:t>of</a:t>
            </a:r>
            <a:r>
              <a:rPr sz="1500" spc="-90" dirty="0"/>
              <a:t> </a:t>
            </a:r>
            <a:r>
              <a:rPr sz="1500" spc="55" dirty="0"/>
              <a:t>cells</a:t>
            </a:r>
            <a:endParaRPr sz="150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lang="en-US"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327400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-320" dirty="0"/>
              <a:t>HTML</a:t>
            </a:r>
            <a:r>
              <a:rPr spc="-215" dirty="0"/>
              <a:t> </a:t>
            </a:r>
            <a:r>
              <a:rPr spc="95" dirty="0"/>
              <a:t>Tables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35" dirty="0"/>
              <a:t>Example</a:t>
            </a:r>
            <a:r>
              <a:rPr sz="1500" spc="10" dirty="0"/>
              <a:t> </a:t>
            </a:r>
            <a:r>
              <a:rPr sz="1500" spc="55" dirty="0"/>
              <a:t>usages</a:t>
            </a:r>
            <a:endParaRPr sz="1500"/>
          </a:p>
        </p:txBody>
      </p:sp>
      <p:sp>
        <p:nvSpPr>
          <p:cNvPr id="3" name="object 3"/>
          <p:cNvSpPr/>
          <p:nvPr/>
        </p:nvSpPr>
        <p:spPr>
          <a:xfrm>
            <a:off x="685800" y="1143000"/>
            <a:ext cx="7315200" cy="5265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190240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95" dirty="0"/>
              <a:t>Table</a:t>
            </a:r>
            <a:r>
              <a:rPr spc="-15" dirty="0"/>
              <a:t> </a:t>
            </a:r>
            <a:r>
              <a:rPr spc="50" dirty="0"/>
              <a:t>Basics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-20" dirty="0"/>
              <a:t>Rows </a:t>
            </a:r>
            <a:r>
              <a:rPr sz="1500" spc="25" dirty="0"/>
              <a:t>and</a:t>
            </a:r>
            <a:r>
              <a:rPr sz="1500" spc="40" dirty="0"/>
              <a:t> </a:t>
            </a:r>
            <a:r>
              <a:rPr sz="1500" spc="55" dirty="0"/>
              <a:t>cells</a:t>
            </a:r>
            <a:endParaRPr sz="1500"/>
          </a:p>
        </p:txBody>
      </p:sp>
      <p:sp>
        <p:nvSpPr>
          <p:cNvPr id="7" name="object 7"/>
          <p:cNvSpPr/>
          <p:nvPr/>
        </p:nvSpPr>
        <p:spPr>
          <a:xfrm>
            <a:off x="5484266" y="5027066"/>
            <a:ext cx="385445" cy="353060"/>
          </a:xfrm>
          <a:custGeom>
            <a:avLst/>
            <a:gdLst/>
            <a:ahLst/>
            <a:cxnLst/>
            <a:rect l="l" t="t" r="r" b="b"/>
            <a:pathLst>
              <a:path w="385445" h="353060">
                <a:moveTo>
                  <a:pt x="226416" y="130581"/>
                </a:moveTo>
                <a:lnTo>
                  <a:pt x="50025" y="130581"/>
                </a:lnTo>
                <a:lnTo>
                  <a:pt x="311188" y="352780"/>
                </a:lnTo>
                <a:lnTo>
                  <a:pt x="385254" y="265722"/>
                </a:lnTo>
                <a:lnTo>
                  <a:pt x="226416" y="130581"/>
                </a:lnTo>
                <a:close/>
              </a:path>
              <a:path w="385445" h="353060">
                <a:moveTo>
                  <a:pt x="161124" y="0"/>
                </a:moveTo>
                <a:lnTo>
                  <a:pt x="0" y="12992"/>
                </a:lnTo>
                <a:lnTo>
                  <a:pt x="12992" y="174104"/>
                </a:lnTo>
                <a:lnTo>
                  <a:pt x="50025" y="130581"/>
                </a:lnTo>
                <a:lnTo>
                  <a:pt x="226416" y="130581"/>
                </a:lnTo>
                <a:lnTo>
                  <a:pt x="124091" y="43522"/>
                </a:lnTo>
                <a:lnTo>
                  <a:pt x="161124" y="0"/>
                </a:lnTo>
                <a:close/>
              </a:path>
            </a:pathLst>
          </a:custGeom>
          <a:solidFill>
            <a:srgbClr val="009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84266" y="5027066"/>
            <a:ext cx="385445" cy="353060"/>
          </a:xfrm>
          <a:custGeom>
            <a:avLst/>
            <a:gdLst/>
            <a:ahLst/>
            <a:cxnLst/>
            <a:rect l="l" t="t" r="r" b="b"/>
            <a:pathLst>
              <a:path w="385445" h="353060">
                <a:moveTo>
                  <a:pt x="311188" y="352780"/>
                </a:moveTo>
                <a:lnTo>
                  <a:pt x="50025" y="130581"/>
                </a:lnTo>
                <a:lnTo>
                  <a:pt x="12992" y="174104"/>
                </a:lnTo>
                <a:lnTo>
                  <a:pt x="0" y="12992"/>
                </a:lnTo>
                <a:lnTo>
                  <a:pt x="161124" y="0"/>
                </a:lnTo>
                <a:lnTo>
                  <a:pt x="124091" y="43522"/>
                </a:lnTo>
                <a:lnTo>
                  <a:pt x="385254" y="265722"/>
                </a:lnTo>
                <a:lnTo>
                  <a:pt x="311188" y="352780"/>
                </a:lnTo>
                <a:close/>
              </a:path>
            </a:pathLst>
          </a:custGeom>
          <a:ln w="25400">
            <a:solidFill>
              <a:srgbClr val="0074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3117" y="1661477"/>
            <a:ext cx="6770370" cy="3837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Char char="•"/>
              <a:tabLst>
                <a:tab pos="469265" algn="l"/>
                <a:tab pos="470534" algn="l"/>
              </a:tabLst>
            </a:pP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an </a:t>
            </a:r>
            <a:r>
              <a:rPr sz="2200" spc="-185" dirty="0">
                <a:solidFill>
                  <a:srgbClr val="3E3E3E"/>
                </a:solidFill>
                <a:latin typeface="Arial"/>
                <a:cs typeface="Arial"/>
              </a:rPr>
              <a:t>HTML </a:t>
            </a:r>
            <a:r>
              <a:rPr sz="2200" b="1" spc="-130" dirty="0">
                <a:solidFill>
                  <a:srgbClr val="3E3E3E"/>
                </a:solidFill>
                <a:latin typeface="Arial"/>
                <a:cs typeface="Arial"/>
              </a:rPr>
              <a:t>&lt;table&gt;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contains 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any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number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rows</a:t>
            </a:r>
            <a:r>
              <a:rPr sz="2200" spc="-3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(</a:t>
            </a:r>
            <a:r>
              <a:rPr sz="2200" b="1" spc="-95" dirty="0">
                <a:solidFill>
                  <a:srgbClr val="3E3E3E"/>
                </a:solidFill>
                <a:latin typeface="Arial"/>
                <a:cs typeface="Arial"/>
              </a:rPr>
              <a:t>&lt;tr&gt;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720"/>
              </a:spcBef>
              <a:buClr>
                <a:srgbClr val="B18714"/>
              </a:buClr>
              <a:buChar char="•"/>
              <a:tabLst>
                <a:tab pos="469265" algn="l"/>
                <a:tab pos="470534" algn="l"/>
              </a:tabLst>
            </a:pP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each</a:t>
            </a:r>
            <a:r>
              <a:rPr sz="22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row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contains</a:t>
            </a: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any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number</a:t>
            </a:r>
            <a:r>
              <a:rPr sz="22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table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22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cells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(</a:t>
            </a:r>
            <a:r>
              <a:rPr sz="2200" b="1" spc="-114" dirty="0">
                <a:solidFill>
                  <a:srgbClr val="3E3E3E"/>
                </a:solidFill>
                <a:latin typeface="Arial"/>
                <a:cs typeface="Arial"/>
              </a:rPr>
              <a:t>&lt;td&gt;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739"/>
              </a:spcBef>
              <a:buClr>
                <a:srgbClr val="B18714"/>
              </a:buClr>
              <a:buChar char="•"/>
              <a:tabLst>
                <a:tab pos="469265" algn="l"/>
                <a:tab pos="469900" algn="l"/>
              </a:tabLst>
            </a:pP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Content </a:t>
            </a:r>
            <a:r>
              <a:rPr sz="2200" spc="-165" dirty="0">
                <a:solidFill>
                  <a:srgbClr val="3E3E3E"/>
                </a:solidFill>
                <a:latin typeface="Arial"/>
                <a:cs typeface="Arial"/>
              </a:rPr>
              <a:t>goes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inside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200" b="1" spc="-85" dirty="0">
                <a:solidFill>
                  <a:srgbClr val="3E3E3E"/>
                </a:solidFill>
                <a:latin typeface="Arial"/>
                <a:cs typeface="Arial"/>
              </a:rPr>
              <a:t>&lt;td&gt;&lt;/td&gt;</a:t>
            </a:r>
            <a:r>
              <a:rPr sz="2200" b="1" spc="-25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tags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2200" spc="-90" dirty="0">
                <a:solidFill>
                  <a:srgbClr val="C00000"/>
                </a:solidFill>
                <a:latin typeface="Arial"/>
                <a:cs typeface="Arial"/>
              </a:rPr>
              <a:t>&lt;table&gt;</a:t>
            </a:r>
            <a:endParaRPr sz="2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200" spc="-60" dirty="0">
                <a:solidFill>
                  <a:srgbClr val="C00000"/>
                </a:solidFill>
                <a:latin typeface="Arial"/>
                <a:cs typeface="Arial"/>
              </a:rPr>
              <a:t>&lt;tr&gt;</a:t>
            </a:r>
            <a:endParaRPr sz="22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2200" spc="-114" dirty="0">
                <a:solidFill>
                  <a:srgbClr val="C00000"/>
                </a:solidFill>
                <a:latin typeface="Arial"/>
                <a:cs typeface="Arial"/>
              </a:rPr>
              <a:t>&lt;td&gt;</a:t>
            </a:r>
            <a:r>
              <a:rPr sz="2200" spc="-114" dirty="0">
                <a:solidFill>
                  <a:srgbClr val="00B0F0"/>
                </a:solidFill>
                <a:latin typeface="Arial"/>
                <a:cs typeface="Arial"/>
              </a:rPr>
              <a:t>The </a:t>
            </a:r>
            <a:r>
              <a:rPr sz="2200" spc="-100" dirty="0">
                <a:solidFill>
                  <a:srgbClr val="00B0F0"/>
                </a:solidFill>
                <a:latin typeface="Arial"/>
                <a:cs typeface="Arial"/>
              </a:rPr>
              <a:t>Death </a:t>
            </a:r>
            <a:r>
              <a:rPr sz="2200" spc="-5" dirty="0">
                <a:solidFill>
                  <a:srgbClr val="00B0F0"/>
                </a:solidFill>
                <a:latin typeface="Arial"/>
                <a:cs typeface="Arial"/>
              </a:rPr>
              <a:t>of</a:t>
            </a:r>
            <a:r>
              <a:rPr sz="2200" spc="-17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00B0F0"/>
                </a:solidFill>
                <a:latin typeface="Arial"/>
                <a:cs typeface="Arial"/>
              </a:rPr>
              <a:t>Marat</a:t>
            </a:r>
            <a:r>
              <a:rPr sz="2200" spc="-35" dirty="0">
                <a:solidFill>
                  <a:srgbClr val="C00000"/>
                </a:solidFill>
                <a:latin typeface="Arial"/>
                <a:cs typeface="Arial"/>
              </a:rPr>
              <a:t>&lt;/td&gt;</a:t>
            </a:r>
            <a:endParaRPr sz="2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&lt;/tr&gt;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00" spc="-50" dirty="0">
                <a:solidFill>
                  <a:srgbClr val="C00000"/>
                </a:solidFill>
                <a:latin typeface="Arial"/>
                <a:cs typeface="Arial"/>
              </a:rPr>
              <a:t>&lt;/table&gt;</a:t>
            </a:r>
            <a:endParaRPr sz="2200">
              <a:latin typeface="Arial"/>
              <a:cs typeface="Arial"/>
            </a:endParaRPr>
          </a:p>
          <a:p>
            <a:pPr marR="1088390" algn="r">
              <a:lnSpc>
                <a:spcPct val="100000"/>
              </a:lnSpc>
              <a:spcBef>
                <a:spcPts val="1555"/>
              </a:spcBef>
            </a:pPr>
            <a:r>
              <a:rPr sz="1800" spc="-165" dirty="0">
                <a:solidFill>
                  <a:srgbClr val="3E3E3E"/>
                </a:solidFill>
                <a:latin typeface="Arial"/>
                <a:cs typeface="Arial"/>
              </a:rPr>
              <a:t>c</a:t>
            </a:r>
            <a:r>
              <a:rPr sz="1800" spc="-65" dirty="0">
                <a:solidFill>
                  <a:srgbClr val="3E3E3E"/>
                </a:solidFill>
                <a:latin typeface="Arial"/>
                <a:cs typeface="Arial"/>
              </a:rPr>
              <a:t>o</a:t>
            </a:r>
            <a:r>
              <a:rPr sz="1800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t</a:t>
            </a:r>
            <a:r>
              <a:rPr sz="1800" spc="-110" dirty="0">
                <a:solidFill>
                  <a:srgbClr val="3E3E3E"/>
                </a:solidFill>
                <a:latin typeface="Arial"/>
                <a:cs typeface="Arial"/>
              </a:rPr>
              <a:t>e</a:t>
            </a:r>
            <a:r>
              <a:rPr sz="1800" spc="-10" dirty="0">
                <a:solidFill>
                  <a:srgbClr val="3E3E3E"/>
                </a:solidFill>
                <a:latin typeface="Arial"/>
                <a:cs typeface="Arial"/>
              </a:rPr>
              <a:t>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4744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A </a:t>
            </a:r>
            <a:r>
              <a:rPr spc="70" dirty="0"/>
              <a:t>Simple</a:t>
            </a:r>
            <a:r>
              <a:rPr spc="-100" dirty="0"/>
              <a:t> </a:t>
            </a:r>
            <a:r>
              <a:rPr spc="1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1066800"/>
            <a:ext cx="8031480" cy="53035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53822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With </a:t>
            </a:r>
            <a:r>
              <a:rPr spc="95" dirty="0"/>
              <a:t>Table</a:t>
            </a:r>
            <a:r>
              <a:rPr spc="-95" dirty="0"/>
              <a:t> </a:t>
            </a:r>
            <a:r>
              <a:rPr spc="100" dirty="0"/>
              <a:t>Headings</a:t>
            </a:r>
          </a:p>
        </p:txBody>
      </p:sp>
      <p:sp>
        <p:nvSpPr>
          <p:cNvPr id="7" name="object 7"/>
          <p:cNvSpPr/>
          <p:nvPr/>
        </p:nvSpPr>
        <p:spPr>
          <a:xfrm>
            <a:off x="1295400" y="33528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685800"/>
                </a:moveTo>
                <a:lnTo>
                  <a:pt x="607174" y="684290"/>
                </a:lnTo>
                <a:lnTo>
                  <a:pt x="534999" y="679990"/>
                </a:lnTo>
                <a:lnTo>
                  <a:pt x="471331" y="673243"/>
                </a:lnTo>
                <a:lnTo>
                  <a:pt x="418230" y="664392"/>
                </a:lnTo>
                <a:lnTo>
                  <a:pt x="377752" y="653781"/>
                </a:lnTo>
                <a:lnTo>
                  <a:pt x="342900" y="628650"/>
                </a:lnTo>
                <a:lnTo>
                  <a:pt x="342900" y="414566"/>
                </a:lnTo>
                <a:lnTo>
                  <a:pt x="333843" y="401463"/>
                </a:lnTo>
                <a:lnTo>
                  <a:pt x="267569" y="378823"/>
                </a:lnTo>
                <a:lnTo>
                  <a:pt x="214468" y="369972"/>
                </a:lnTo>
                <a:lnTo>
                  <a:pt x="150800" y="363225"/>
                </a:lnTo>
                <a:lnTo>
                  <a:pt x="78625" y="358925"/>
                </a:lnTo>
                <a:lnTo>
                  <a:pt x="0" y="357416"/>
                </a:lnTo>
                <a:lnTo>
                  <a:pt x="78625" y="355907"/>
                </a:lnTo>
                <a:lnTo>
                  <a:pt x="150800" y="351608"/>
                </a:lnTo>
                <a:lnTo>
                  <a:pt x="214468" y="344863"/>
                </a:lnTo>
                <a:lnTo>
                  <a:pt x="267569" y="336014"/>
                </a:lnTo>
                <a:lnTo>
                  <a:pt x="308047" y="325403"/>
                </a:lnTo>
                <a:lnTo>
                  <a:pt x="342900" y="300266"/>
                </a:lnTo>
                <a:lnTo>
                  <a:pt x="342900" y="57150"/>
                </a:lnTo>
                <a:lnTo>
                  <a:pt x="351956" y="44047"/>
                </a:lnTo>
                <a:lnTo>
                  <a:pt x="418230" y="21407"/>
                </a:lnTo>
                <a:lnTo>
                  <a:pt x="471331" y="12556"/>
                </a:lnTo>
                <a:lnTo>
                  <a:pt x="534999" y="5809"/>
                </a:lnTo>
                <a:lnTo>
                  <a:pt x="607174" y="1509"/>
                </a:lnTo>
                <a:lnTo>
                  <a:pt x="685800" y="0"/>
                </a:lnTo>
              </a:path>
            </a:pathLst>
          </a:custGeom>
          <a:ln w="10160">
            <a:solidFill>
              <a:srgbClr val="009E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93139" y="3534651"/>
            <a:ext cx="2273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00B0F0"/>
                </a:solidFill>
                <a:latin typeface="Arial"/>
                <a:cs typeface="Arial"/>
              </a:rPr>
              <a:t>t</a:t>
            </a:r>
            <a:r>
              <a:rPr sz="1800" b="1" spc="-135" dirty="0">
                <a:solidFill>
                  <a:srgbClr val="00B0F0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71600" y="990600"/>
            <a:ext cx="6019800" cy="5646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5346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Why </a:t>
            </a:r>
            <a:r>
              <a:rPr spc="95" dirty="0"/>
              <a:t>Table</a:t>
            </a:r>
            <a:r>
              <a:rPr spc="-229" dirty="0"/>
              <a:t> </a:t>
            </a:r>
            <a:r>
              <a:rPr spc="100" dirty="0"/>
              <a:t>Headings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93139" y="1661477"/>
            <a:ext cx="6193155" cy="303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95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table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heading</a:t>
            </a:r>
            <a:r>
              <a:rPr sz="2200" spc="-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&lt;th&gt;</a:t>
            </a:r>
            <a:endParaRPr sz="2200">
              <a:latin typeface="Arial"/>
              <a:cs typeface="Arial"/>
            </a:endParaRPr>
          </a:p>
          <a:p>
            <a:pPr marL="355600" marR="285115" indent="-342900">
              <a:lnSpc>
                <a:spcPct val="100000"/>
              </a:lnSpc>
              <a:spcBef>
                <a:spcPts val="1720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Browsers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tend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make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content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within</a:t>
            </a:r>
            <a:r>
              <a:rPr sz="2200" spc="-459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&lt;th&gt; 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bold</a:t>
            </a:r>
            <a:endParaRPr sz="2200">
              <a:latin typeface="Arial"/>
              <a:cs typeface="Arial"/>
            </a:endParaRPr>
          </a:p>
          <a:p>
            <a:pPr marL="355600" marR="170815" indent="-342900">
              <a:lnSpc>
                <a:spcPct val="100000"/>
              </a:lnSpc>
              <a:spcBef>
                <a:spcPts val="1739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&lt;th&gt;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for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accessibility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(it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helps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those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using  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screen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readers)</a:t>
            </a:r>
            <a:endParaRPr sz="2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720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Provides 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semantic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information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about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row</a:t>
            </a:r>
            <a:r>
              <a:rPr sz="2200" spc="-4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being 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row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headers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5800" y="137477"/>
            <a:ext cx="74295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Spanning </a:t>
            </a:r>
            <a:r>
              <a:rPr spc="-55" dirty="0"/>
              <a:t>Rows </a:t>
            </a:r>
            <a:r>
              <a:rPr spc="85" dirty="0"/>
              <a:t>and</a:t>
            </a:r>
            <a:r>
              <a:rPr spc="65" dirty="0"/>
              <a:t> </a:t>
            </a:r>
            <a:r>
              <a:rPr spc="80" dirty="0"/>
              <a:t>Columns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0739" y="1539240"/>
            <a:ext cx="2898140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4460">
              <a:lnSpc>
                <a:spcPct val="100000"/>
              </a:lnSpc>
              <a:spcBef>
                <a:spcPts val="100"/>
              </a:spcBef>
            </a:pPr>
            <a:r>
              <a:rPr sz="2200" spc="-210" dirty="0">
                <a:solidFill>
                  <a:srgbClr val="3E3E3E"/>
                </a:solidFill>
                <a:latin typeface="Arial"/>
                <a:cs typeface="Arial"/>
              </a:rPr>
              <a:t>Each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row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must 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have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 </a:t>
            </a: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same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number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&lt;td&gt;</a:t>
            </a:r>
            <a:r>
              <a:rPr sz="2200" spc="-3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or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&lt;th&gt;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containers.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If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you 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want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given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cell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200" spc="-3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cover 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several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columns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or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rows,  </a:t>
            </a:r>
            <a:r>
              <a:rPr sz="2200" spc="-150" dirty="0">
                <a:solidFill>
                  <a:srgbClr val="3E3E3E"/>
                </a:solidFill>
                <a:latin typeface="Arial"/>
                <a:cs typeface="Arial"/>
              </a:rPr>
              <a:t>use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b="1" spc="-200" dirty="0">
                <a:solidFill>
                  <a:srgbClr val="3E3E3E"/>
                </a:solidFill>
                <a:latin typeface="Arial"/>
                <a:cs typeface="Arial"/>
              </a:rPr>
              <a:t>colspan </a:t>
            </a:r>
            <a:r>
              <a:rPr sz="2200" b="1" spc="-125" dirty="0">
                <a:solidFill>
                  <a:srgbClr val="3E3E3E"/>
                </a:solidFill>
                <a:latin typeface="Arial"/>
                <a:cs typeface="Arial"/>
              </a:rPr>
              <a:t>or  </a:t>
            </a:r>
            <a:r>
              <a:rPr sz="2200" b="1" spc="-170" dirty="0">
                <a:solidFill>
                  <a:srgbClr val="3E3E3E"/>
                </a:solidFill>
                <a:latin typeface="Arial"/>
                <a:cs typeface="Arial"/>
              </a:rPr>
              <a:t>rowspan</a:t>
            </a:r>
            <a:r>
              <a:rPr sz="2200" b="1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b="1" spc="-110" dirty="0">
                <a:solidFill>
                  <a:srgbClr val="3E3E3E"/>
                </a:solidFill>
                <a:latin typeface="Arial"/>
                <a:cs typeface="Arial"/>
              </a:rPr>
              <a:t>attributes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56305" y="3933926"/>
            <a:ext cx="1720850" cy="889635"/>
          </a:xfrm>
          <a:custGeom>
            <a:avLst/>
            <a:gdLst/>
            <a:ahLst/>
            <a:cxnLst/>
            <a:rect l="l" t="t" r="r" b="b"/>
            <a:pathLst>
              <a:path w="1720850" h="889635">
                <a:moveTo>
                  <a:pt x="6235" y="0"/>
                </a:moveTo>
                <a:lnTo>
                  <a:pt x="0" y="12217"/>
                </a:lnTo>
                <a:lnTo>
                  <a:pt x="1705063" y="882980"/>
                </a:lnTo>
                <a:lnTo>
                  <a:pt x="1701939" y="889088"/>
                </a:lnTo>
                <a:lnTo>
                  <a:pt x="1720392" y="883107"/>
                </a:lnTo>
                <a:lnTo>
                  <a:pt x="1716391" y="870762"/>
                </a:lnTo>
                <a:lnTo>
                  <a:pt x="1711299" y="870762"/>
                </a:lnTo>
                <a:lnTo>
                  <a:pt x="6235" y="0"/>
                </a:lnTo>
                <a:close/>
              </a:path>
              <a:path w="1720850" h="889635">
                <a:moveTo>
                  <a:pt x="1714411" y="864654"/>
                </a:moveTo>
                <a:lnTo>
                  <a:pt x="1711299" y="870762"/>
                </a:lnTo>
                <a:lnTo>
                  <a:pt x="1716391" y="870762"/>
                </a:lnTo>
                <a:lnTo>
                  <a:pt x="1714411" y="864654"/>
                </a:lnTo>
                <a:close/>
              </a:path>
            </a:pathLst>
          </a:custGeom>
          <a:solidFill>
            <a:srgbClr val="009F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56305" y="3933926"/>
            <a:ext cx="1720850" cy="889635"/>
          </a:xfrm>
          <a:custGeom>
            <a:avLst/>
            <a:gdLst/>
            <a:ahLst/>
            <a:cxnLst/>
            <a:rect l="l" t="t" r="r" b="b"/>
            <a:pathLst>
              <a:path w="1720850" h="889635">
                <a:moveTo>
                  <a:pt x="6235" y="0"/>
                </a:moveTo>
                <a:lnTo>
                  <a:pt x="1711299" y="870762"/>
                </a:lnTo>
                <a:lnTo>
                  <a:pt x="1714411" y="864654"/>
                </a:lnTo>
                <a:lnTo>
                  <a:pt x="1720392" y="883107"/>
                </a:lnTo>
                <a:lnTo>
                  <a:pt x="1701939" y="889088"/>
                </a:lnTo>
                <a:lnTo>
                  <a:pt x="1705063" y="882980"/>
                </a:lnTo>
                <a:lnTo>
                  <a:pt x="0" y="12217"/>
                </a:lnTo>
                <a:lnTo>
                  <a:pt x="6235" y="0"/>
                </a:lnTo>
                <a:close/>
              </a:path>
            </a:pathLst>
          </a:custGeom>
          <a:ln w="25399">
            <a:solidFill>
              <a:srgbClr val="0074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84220" y="2590800"/>
            <a:ext cx="5402580" cy="3581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464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Web</a:t>
            </a:r>
            <a:r>
              <a:rPr spc="5" dirty="0"/>
              <a:t> </a:t>
            </a:r>
            <a:r>
              <a:rPr spc="135" dirty="0"/>
              <a:t>Accessibility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93139" y="1130363"/>
            <a:ext cx="6870065" cy="403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415">
              <a:lnSpc>
                <a:spcPct val="100000"/>
              </a:lnSpc>
              <a:spcBef>
                <a:spcPts val="100"/>
              </a:spcBef>
            </a:pP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Not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all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web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users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are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able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view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content</a:t>
            </a:r>
            <a:r>
              <a:rPr sz="22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on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web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60" dirty="0">
                <a:solidFill>
                  <a:srgbClr val="3E3E3E"/>
                </a:solidFill>
                <a:latin typeface="Arial"/>
                <a:cs typeface="Arial"/>
              </a:rPr>
              <a:t>pages  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same</a:t>
            </a:r>
            <a:r>
              <a:rPr sz="2200" spc="-3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manner.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720"/>
              </a:spcBef>
            </a:pP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term </a:t>
            </a:r>
            <a:r>
              <a:rPr sz="2200" b="1" spc="-130" dirty="0">
                <a:solidFill>
                  <a:srgbClr val="3E3E3E"/>
                </a:solidFill>
                <a:latin typeface="Arial"/>
                <a:cs typeface="Arial"/>
              </a:rPr>
              <a:t>web </a:t>
            </a:r>
            <a:r>
              <a:rPr sz="2200" b="1" spc="-170" dirty="0">
                <a:solidFill>
                  <a:srgbClr val="3E3E3E"/>
                </a:solidFill>
                <a:latin typeface="Arial"/>
                <a:cs typeface="Arial"/>
              </a:rPr>
              <a:t>accessibility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refers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assistive 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technologies,</a:t>
            </a:r>
            <a:r>
              <a:rPr sz="22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various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features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85" dirty="0">
                <a:solidFill>
                  <a:srgbClr val="3E3E3E"/>
                </a:solidFill>
                <a:latin typeface="Arial"/>
                <a:cs typeface="Arial"/>
              </a:rPr>
              <a:t>HTML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that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3E3E3E"/>
                </a:solidFill>
                <a:latin typeface="Arial"/>
                <a:cs typeface="Arial"/>
              </a:rPr>
              <a:t>work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with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those  technologies,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different 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coding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design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practices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that  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can make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site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more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usable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for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people 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with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visual,</a:t>
            </a:r>
            <a:r>
              <a:rPr sz="2200" spc="-4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3E3E3E"/>
                </a:solidFill>
                <a:latin typeface="Arial"/>
                <a:cs typeface="Arial"/>
              </a:rPr>
              <a:t>mobility, 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auditory,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cognitive</a:t>
            </a:r>
            <a:r>
              <a:rPr sz="2200" spc="-2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disabilities.</a:t>
            </a:r>
            <a:endParaRPr sz="2200">
              <a:latin typeface="Arial"/>
              <a:cs typeface="Arial"/>
            </a:endParaRPr>
          </a:p>
          <a:p>
            <a:pPr marL="12700" marR="320675">
              <a:lnSpc>
                <a:spcPct val="100000"/>
              </a:lnSpc>
              <a:spcBef>
                <a:spcPts val="1739"/>
              </a:spcBef>
            </a:pP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In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order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improve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accessibility</a:t>
            </a:r>
            <a:r>
              <a:rPr sz="2200" spc="-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websites,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15" dirty="0">
                <a:solidFill>
                  <a:srgbClr val="3E3E3E"/>
                </a:solidFill>
                <a:latin typeface="Arial"/>
                <a:cs typeface="Arial"/>
              </a:rPr>
              <a:t>W3C 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created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b="1" spc="-150" dirty="0">
                <a:solidFill>
                  <a:srgbClr val="3E3E3E"/>
                </a:solidFill>
                <a:latin typeface="Arial"/>
                <a:cs typeface="Arial"/>
              </a:rPr>
              <a:t>Web </a:t>
            </a:r>
            <a:r>
              <a:rPr sz="2200" b="1" spc="-180" dirty="0">
                <a:solidFill>
                  <a:srgbClr val="3E3E3E"/>
                </a:solidFill>
                <a:latin typeface="Arial"/>
                <a:cs typeface="Arial"/>
              </a:rPr>
              <a:t>Accessibility </a:t>
            </a:r>
            <a:r>
              <a:rPr sz="2200" b="1" spc="-90" dirty="0">
                <a:solidFill>
                  <a:srgbClr val="3E3E3E"/>
                </a:solidFill>
                <a:latin typeface="Arial"/>
                <a:cs typeface="Arial"/>
              </a:rPr>
              <a:t>Initiative</a:t>
            </a:r>
            <a:r>
              <a:rPr sz="2200" b="1" spc="-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b="1" spc="-114" dirty="0">
                <a:solidFill>
                  <a:srgbClr val="3E3E3E"/>
                </a:solidFill>
                <a:latin typeface="Arial"/>
                <a:cs typeface="Arial"/>
              </a:rPr>
              <a:t>(WAI)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720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200" u="heavy" spc="-135" dirty="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Arial"/>
                <a:cs typeface="Arial"/>
                <a:hlinkClick r:id="rId2"/>
              </a:rPr>
              <a:t>Web </a:t>
            </a:r>
            <a:r>
              <a:rPr sz="2200" u="heavy" spc="-80" dirty="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Arial"/>
                <a:cs typeface="Arial"/>
                <a:hlinkClick r:id="rId2"/>
              </a:rPr>
              <a:t>Content </a:t>
            </a:r>
            <a:r>
              <a:rPr sz="2200" u="heavy" spc="-90" dirty="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Arial"/>
                <a:cs typeface="Arial"/>
                <a:hlinkClick r:id="rId2"/>
              </a:rPr>
              <a:t>Accessibility</a:t>
            </a:r>
            <a:r>
              <a:rPr sz="2200" u="heavy" spc="-195" dirty="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2200" u="heavy" spc="-100" dirty="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Arial"/>
                <a:cs typeface="Arial"/>
                <a:hlinkClick r:id="rId2"/>
              </a:rPr>
              <a:t>Guidelines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46329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Accessible</a:t>
            </a:r>
            <a:r>
              <a:rPr spc="-195" dirty="0"/>
              <a:t> </a:t>
            </a:r>
            <a:r>
              <a:rPr spc="95" dirty="0"/>
              <a:t>Tables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93139" y="1310640"/>
            <a:ext cx="6186170" cy="403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More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about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85" dirty="0">
                <a:solidFill>
                  <a:srgbClr val="C00000"/>
                </a:solidFill>
                <a:latin typeface="Arial"/>
                <a:cs typeface="Arial"/>
              </a:rPr>
              <a:t>scope="col"</a:t>
            </a:r>
            <a:r>
              <a:rPr sz="2200" spc="-3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attribute: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From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text:</a:t>
            </a:r>
            <a:endParaRPr sz="2200">
              <a:latin typeface="Arial"/>
              <a:cs typeface="Arial"/>
            </a:endParaRPr>
          </a:p>
          <a:p>
            <a:pPr marL="12700" marR="198755">
              <a:lnSpc>
                <a:spcPct val="100000"/>
              </a:lnSpc>
              <a:spcBef>
                <a:spcPts val="1739"/>
              </a:spcBef>
            </a:pPr>
            <a:r>
              <a:rPr sz="2200" i="1" spc="-120" dirty="0">
                <a:solidFill>
                  <a:srgbClr val="3E3E3E"/>
                </a:solidFill>
                <a:latin typeface="Trebuchet MS"/>
                <a:cs typeface="Trebuchet MS"/>
              </a:rPr>
              <a:t>It</a:t>
            </a:r>
            <a:r>
              <a:rPr sz="2200" i="1" spc="-1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05" dirty="0">
                <a:solidFill>
                  <a:srgbClr val="3E3E3E"/>
                </a:solidFill>
                <a:latin typeface="Trebuchet MS"/>
                <a:cs typeface="Trebuchet MS"/>
              </a:rPr>
              <a:t>is</a:t>
            </a:r>
            <a:r>
              <a:rPr sz="2200" i="1" spc="-1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40" dirty="0">
                <a:solidFill>
                  <a:srgbClr val="3E3E3E"/>
                </a:solidFill>
                <a:latin typeface="Trebuchet MS"/>
                <a:cs typeface="Trebuchet MS"/>
              </a:rPr>
              <a:t>quite</a:t>
            </a:r>
            <a:r>
              <a:rPr sz="2200" i="1" spc="-20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10" dirty="0">
                <a:solidFill>
                  <a:srgbClr val="3E3E3E"/>
                </a:solidFill>
                <a:latin typeface="Trebuchet MS"/>
                <a:cs typeface="Trebuchet MS"/>
              </a:rPr>
              <a:t>revealing</a:t>
            </a:r>
            <a:r>
              <a:rPr sz="2200" i="1" spc="-23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30" dirty="0">
                <a:solidFill>
                  <a:srgbClr val="3E3E3E"/>
                </a:solidFill>
                <a:latin typeface="Trebuchet MS"/>
                <a:cs typeface="Trebuchet MS"/>
              </a:rPr>
              <a:t>to</a:t>
            </a:r>
            <a:r>
              <a:rPr sz="2200" i="1" spc="-18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40" dirty="0">
                <a:solidFill>
                  <a:srgbClr val="3E3E3E"/>
                </a:solidFill>
                <a:latin typeface="Trebuchet MS"/>
                <a:cs typeface="Trebuchet MS"/>
              </a:rPr>
              <a:t>listen</a:t>
            </a:r>
            <a:r>
              <a:rPr sz="2200" i="1" spc="-21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30" dirty="0">
                <a:solidFill>
                  <a:srgbClr val="3E3E3E"/>
                </a:solidFill>
                <a:latin typeface="Trebuchet MS"/>
                <a:cs typeface="Trebuchet MS"/>
              </a:rPr>
              <a:t>to</a:t>
            </a:r>
            <a:r>
              <a:rPr sz="2200" i="1" spc="-1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14" dirty="0">
                <a:solidFill>
                  <a:srgbClr val="3E3E3E"/>
                </a:solidFill>
                <a:latin typeface="Trebuchet MS"/>
                <a:cs typeface="Trebuchet MS"/>
              </a:rPr>
              <a:t>reader</a:t>
            </a:r>
            <a:r>
              <a:rPr sz="2200" i="1" spc="-22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10" dirty="0">
                <a:solidFill>
                  <a:srgbClr val="3E3E3E"/>
                </a:solidFill>
                <a:latin typeface="Trebuchet MS"/>
                <a:cs typeface="Trebuchet MS"/>
              </a:rPr>
              <a:t>software</a:t>
            </a:r>
            <a:r>
              <a:rPr sz="2200" i="1" spc="-21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50" dirty="0">
                <a:solidFill>
                  <a:srgbClr val="3E3E3E"/>
                </a:solidFill>
                <a:latin typeface="Trebuchet MS"/>
                <a:cs typeface="Trebuchet MS"/>
              </a:rPr>
              <a:t>recite  </a:t>
            </a:r>
            <a:r>
              <a:rPr sz="2200" i="1" spc="-140" dirty="0">
                <a:solidFill>
                  <a:srgbClr val="3E3E3E"/>
                </a:solidFill>
                <a:latin typeface="Trebuchet MS"/>
                <a:cs typeface="Trebuchet MS"/>
              </a:rPr>
              <a:t>the </a:t>
            </a:r>
            <a:r>
              <a:rPr sz="2200" i="1" spc="-114" dirty="0">
                <a:solidFill>
                  <a:srgbClr val="3E3E3E"/>
                </a:solidFill>
                <a:latin typeface="Trebuchet MS"/>
                <a:cs typeface="Trebuchet MS"/>
              </a:rPr>
              <a:t>contents </a:t>
            </a:r>
            <a:r>
              <a:rPr sz="2200" i="1" spc="-140" dirty="0">
                <a:solidFill>
                  <a:srgbClr val="3E3E3E"/>
                </a:solidFill>
                <a:latin typeface="Trebuchet MS"/>
                <a:cs typeface="Trebuchet MS"/>
              </a:rPr>
              <a:t>of </a:t>
            </a:r>
            <a:r>
              <a:rPr sz="2200" i="1" spc="-25" dirty="0">
                <a:solidFill>
                  <a:srgbClr val="3E3E3E"/>
                </a:solidFill>
                <a:latin typeface="Trebuchet MS"/>
                <a:cs typeface="Trebuchet MS"/>
              </a:rPr>
              <a:t>a </a:t>
            </a:r>
            <a:r>
              <a:rPr sz="2200" i="1" spc="-135" dirty="0">
                <a:solidFill>
                  <a:srgbClr val="3E3E3E"/>
                </a:solidFill>
                <a:latin typeface="Trebuchet MS"/>
                <a:cs typeface="Trebuchet MS"/>
              </a:rPr>
              <a:t>table </a:t>
            </a:r>
            <a:r>
              <a:rPr sz="2200" i="1" spc="-125" dirty="0">
                <a:solidFill>
                  <a:srgbClr val="3E3E3E"/>
                </a:solidFill>
                <a:latin typeface="Trebuchet MS"/>
                <a:cs typeface="Trebuchet MS"/>
              </a:rPr>
              <a:t>that </a:t>
            </a:r>
            <a:r>
              <a:rPr sz="2200" i="1" spc="-50" dirty="0">
                <a:solidFill>
                  <a:srgbClr val="3E3E3E"/>
                </a:solidFill>
                <a:latin typeface="Trebuchet MS"/>
                <a:cs typeface="Trebuchet MS"/>
              </a:rPr>
              <a:t>has </a:t>
            </a:r>
            <a:r>
              <a:rPr sz="2200" i="1" spc="-105" dirty="0">
                <a:solidFill>
                  <a:srgbClr val="3E3E3E"/>
                </a:solidFill>
                <a:latin typeface="Trebuchet MS"/>
                <a:cs typeface="Trebuchet MS"/>
              </a:rPr>
              <a:t>not </a:t>
            </a:r>
            <a:r>
              <a:rPr sz="2200" i="1" spc="-85" dirty="0">
                <a:solidFill>
                  <a:srgbClr val="3E3E3E"/>
                </a:solidFill>
                <a:latin typeface="Trebuchet MS"/>
                <a:cs typeface="Trebuchet MS"/>
              </a:rPr>
              <a:t>made </a:t>
            </a:r>
            <a:r>
              <a:rPr sz="2200" i="1" spc="-114" dirty="0">
                <a:solidFill>
                  <a:srgbClr val="3E3E3E"/>
                </a:solidFill>
                <a:latin typeface="Trebuchet MS"/>
                <a:cs typeface="Trebuchet MS"/>
              </a:rPr>
              <a:t>these  connections. </a:t>
            </a:r>
            <a:r>
              <a:rPr sz="2200" i="1" spc="-120" dirty="0">
                <a:solidFill>
                  <a:srgbClr val="3E3E3E"/>
                </a:solidFill>
                <a:latin typeface="Trebuchet MS"/>
                <a:cs typeface="Trebuchet MS"/>
              </a:rPr>
              <a:t>It </a:t>
            </a:r>
            <a:r>
              <a:rPr sz="2200" i="1" spc="-65" dirty="0">
                <a:solidFill>
                  <a:srgbClr val="3E3E3E"/>
                </a:solidFill>
                <a:latin typeface="Trebuchet MS"/>
                <a:cs typeface="Trebuchet MS"/>
              </a:rPr>
              <a:t>sounds </a:t>
            </a:r>
            <a:r>
              <a:rPr sz="2200" i="1" spc="-180" dirty="0">
                <a:solidFill>
                  <a:srgbClr val="3E3E3E"/>
                </a:solidFill>
                <a:latin typeface="Trebuchet MS"/>
                <a:cs typeface="Trebuchet MS"/>
              </a:rPr>
              <a:t>like </a:t>
            </a:r>
            <a:r>
              <a:rPr sz="2200" i="1" spc="-145" dirty="0">
                <a:solidFill>
                  <a:srgbClr val="3E3E3E"/>
                </a:solidFill>
                <a:latin typeface="Trebuchet MS"/>
                <a:cs typeface="Trebuchet MS"/>
              </a:rPr>
              <a:t>this: “row </a:t>
            </a:r>
            <a:r>
              <a:rPr sz="2200" i="1" spc="-150" dirty="0">
                <a:solidFill>
                  <a:srgbClr val="3E3E3E"/>
                </a:solidFill>
                <a:latin typeface="Trebuchet MS"/>
                <a:cs typeface="Trebuchet MS"/>
              </a:rPr>
              <a:t>3, </a:t>
            </a:r>
            <a:r>
              <a:rPr sz="2200" i="1" spc="-165" dirty="0">
                <a:solidFill>
                  <a:srgbClr val="3E3E3E"/>
                </a:solidFill>
                <a:latin typeface="Trebuchet MS"/>
                <a:cs typeface="Trebuchet MS"/>
              </a:rPr>
              <a:t>cell </a:t>
            </a:r>
            <a:r>
              <a:rPr sz="2200" i="1" spc="-130" dirty="0">
                <a:solidFill>
                  <a:srgbClr val="3E3E3E"/>
                </a:solidFill>
                <a:latin typeface="Trebuchet MS"/>
                <a:cs typeface="Trebuchet MS"/>
              </a:rPr>
              <a:t>4: </a:t>
            </a:r>
            <a:r>
              <a:rPr sz="2200" i="1" spc="-105" dirty="0">
                <a:solidFill>
                  <a:srgbClr val="3E3E3E"/>
                </a:solidFill>
                <a:latin typeface="Trebuchet MS"/>
                <a:cs typeface="Trebuchet MS"/>
              </a:rPr>
              <a:t>45.56;  row</a:t>
            </a:r>
            <a:r>
              <a:rPr sz="2200" i="1" spc="-16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50" dirty="0">
                <a:solidFill>
                  <a:srgbClr val="3E3E3E"/>
                </a:solidFill>
                <a:latin typeface="Trebuchet MS"/>
                <a:cs typeface="Trebuchet MS"/>
              </a:rPr>
              <a:t>3,</a:t>
            </a:r>
            <a:r>
              <a:rPr sz="2200" i="1" spc="-1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65" dirty="0">
                <a:solidFill>
                  <a:srgbClr val="3E3E3E"/>
                </a:solidFill>
                <a:latin typeface="Trebuchet MS"/>
                <a:cs typeface="Trebuchet MS"/>
              </a:rPr>
              <a:t>cell</a:t>
            </a:r>
            <a:r>
              <a:rPr sz="2200" i="1" spc="-1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30" dirty="0">
                <a:solidFill>
                  <a:srgbClr val="3E3E3E"/>
                </a:solidFill>
                <a:latin typeface="Trebuchet MS"/>
                <a:cs typeface="Trebuchet MS"/>
              </a:rPr>
              <a:t>5:</a:t>
            </a:r>
            <a:r>
              <a:rPr sz="2200" i="1" spc="-1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90" dirty="0">
                <a:solidFill>
                  <a:srgbClr val="3E3E3E"/>
                </a:solidFill>
                <a:latin typeface="Trebuchet MS"/>
                <a:cs typeface="Trebuchet MS"/>
              </a:rPr>
              <a:t>Canada;</a:t>
            </a:r>
            <a:r>
              <a:rPr sz="2200" i="1" spc="-22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05" dirty="0">
                <a:solidFill>
                  <a:srgbClr val="3E3E3E"/>
                </a:solidFill>
                <a:latin typeface="Trebuchet MS"/>
                <a:cs typeface="Trebuchet MS"/>
              </a:rPr>
              <a:t>row</a:t>
            </a:r>
            <a:r>
              <a:rPr sz="2200" i="1" spc="-16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50" dirty="0">
                <a:solidFill>
                  <a:srgbClr val="3E3E3E"/>
                </a:solidFill>
                <a:latin typeface="Trebuchet MS"/>
                <a:cs typeface="Trebuchet MS"/>
              </a:rPr>
              <a:t>3,</a:t>
            </a:r>
            <a:r>
              <a:rPr sz="2200" i="1" spc="-17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65" dirty="0">
                <a:solidFill>
                  <a:srgbClr val="3E3E3E"/>
                </a:solidFill>
                <a:latin typeface="Trebuchet MS"/>
                <a:cs typeface="Trebuchet MS"/>
              </a:rPr>
              <a:t>cell</a:t>
            </a:r>
            <a:r>
              <a:rPr sz="2200" i="1" spc="-19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30" dirty="0">
                <a:solidFill>
                  <a:srgbClr val="3E3E3E"/>
                </a:solidFill>
                <a:latin typeface="Trebuchet MS"/>
                <a:cs typeface="Trebuchet MS"/>
              </a:rPr>
              <a:t>6:</a:t>
            </a:r>
            <a:r>
              <a:rPr sz="2200" i="1" spc="-18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00" dirty="0">
                <a:solidFill>
                  <a:srgbClr val="3E3E3E"/>
                </a:solidFill>
                <a:latin typeface="Trebuchet MS"/>
                <a:cs typeface="Trebuchet MS"/>
              </a:rPr>
              <a:t>25,000;</a:t>
            </a:r>
            <a:r>
              <a:rPr sz="2200" i="1" spc="-19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220" dirty="0">
                <a:solidFill>
                  <a:srgbClr val="3E3E3E"/>
                </a:solidFill>
                <a:latin typeface="Trebuchet MS"/>
                <a:cs typeface="Trebuchet MS"/>
              </a:rPr>
              <a:t>etc.”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720"/>
              </a:spcBef>
            </a:pPr>
            <a:r>
              <a:rPr sz="2200" i="1" spc="-145" dirty="0">
                <a:solidFill>
                  <a:srgbClr val="3E3E3E"/>
                </a:solidFill>
                <a:latin typeface="Trebuchet MS"/>
                <a:cs typeface="Trebuchet MS"/>
              </a:rPr>
              <a:t>However, </a:t>
            </a:r>
            <a:r>
              <a:rPr sz="2200" i="1" spc="-195" dirty="0">
                <a:solidFill>
                  <a:srgbClr val="3E3E3E"/>
                </a:solidFill>
                <a:latin typeface="Trebuchet MS"/>
                <a:cs typeface="Trebuchet MS"/>
              </a:rPr>
              <a:t>if </a:t>
            </a:r>
            <a:r>
              <a:rPr sz="2200" i="1" spc="-114" dirty="0">
                <a:solidFill>
                  <a:srgbClr val="3E3E3E"/>
                </a:solidFill>
                <a:latin typeface="Trebuchet MS"/>
                <a:cs typeface="Trebuchet MS"/>
              </a:rPr>
              <a:t>these </a:t>
            </a:r>
            <a:r>
              <a:rPr sz="2200" i="1" spc="-100" dirty="0">
                <a:solidFill>
                  <a:srgbClr val="3E3E3E"/>
                </a:solidFill>
                <a:latin typeface="Trebuchet MS"/>
                <a:cs typeface="Trebuchet MS"/>
              </a:rPr>
              <a:t>connections </a:t>
            </a:r>
            <a:r>
              <a:rPr sz="2200" i="1" spc="-90" dirty="0">
                <a:solidFill>
                  <a:srgbClr val="3E3E3E"/>
                </a:solidFill>
                <a:latin typeface="Trebuchet MS"/>
                <a:cs typeface="Trebuchet MS"/>
              </a:rPr>
              <a:t>have </a:t>
            </a:r>
            <a:r>
              <a:rPr sz="2200" i="1" spc="-105" dirty="0">
                <a:solidFill>
                  <a:srgbClr val="3E3E3E"/>
                </a:solidFill>
                <a:latin typeface="Trebuchet MS"/>
                <a:cs typeface="Trebuchet MS"/>
              </a:rPr>
              <a:t>been </a:t>
            </a:r>
            <a:r>
              <a:rPr sz="2200" i="1" spc="-120" dirty="0">
                <a:solidFill>
                  <a:srgbClr val="3E3E3E"/>
                </a:solidFill>
                <a:latin typeface="Trebuchet MS"/>
                <a:cs typeface="Trebuchet MS"/>
              </a:rPr>
              <a:t>made, </a:t>
            </a:r>
            <a:r>
              <a:rPr sz="2200" i="1" spc="-185" dirty="0">
                <a:solidFill>
                  <a:srgbClr val="3E3E3E"/>
                </a:solidFill>
                <a:latin typeface="Trebuchet MS"/>
                <a:cs typeface="Trebuchet MS"/>
              </a:rPr>
              <a:t>it  </a:t>
            </a:r>
            <a:r>
              <a:rPr sz="2200" i="1" spc="-65" dirty="0">
                <a:solidFill>
                  <a:srgbClr val="3E3E3E"/>
                </a:solidFill>
                <a:latin typeface="Trebuchet MS"/>
                <a:cs typeface="Trebuchet MS"/>
              </a:rPr>
              <a:t>sounds</a:t>
            </a:r>
            <a:r>
              <a:rPr sz="2200" i="1" spc="-21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10" dirty="0">
                <a:solidFill>
                  <a:srgbClr val="3E3E3E"/>
                </a:solidFill>
                <a:latin typeface="Trebuchet MS"/>
                <a:cs typeface="Trebuchet MS"/>
              </a:rPr>
              <a:t>instead</a:t>
            </a:r>
            <a:r>
              <a:rPr sz="2200" i="1" spc="-22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80" dirty="0">
                <a:solidFill>
                  <a:srgbClr val="3E3E3E"/>
                </a:solidFill>
                <a:latin typeface="Trebuchet MS"/>
                <a:cs typeface="Trebuchet MS"/>
              </a:rPr>
              <a:t>like</a:t>
            </a:r>
            <a:r>
              <a:rPr sz="2200" i="1" spc="-145" dirty="0">
                <a:solidFill>
                  <a:srgbClr val="3E3E3E"/>
                </a:solidFill>
                <a:latin typeface="Trebuchet MS"/>
                <a:cs typeface="Trebuchet MS"/>
              </a:rPr>
              <a:t> this:</a:t>
            </a:r>
            <a:r>
              <a:rPr sz="2200" i="1" spc="-18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45" dirty="0">
                <a:solidFill>
                  <a:srgbClr val="3E3E3E"/>
                </a:solidFill>
                <a:latin typeface="Trebuchet MS"/>
                <a:cs typeface="Trebuchet MS"/>
              </a:rPr>
              <a:t>“row</a:t>
            </a:r>
            <a:r>
              <a:rPr sz="2200" i="1" spc="-13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50" dirty="0">
                <a:solidFill>
                  <a:srgbClr val="3E3E3E"/>
                </a:solidFill>
                <a:latin typeface="Trebuchet MS"/>
                <a:cs typeface="Trebuchet MS"/>
              </a:rPr>
              <a:t>3,</a:t>
            </a:r>
            <a:r>
              <a:rPr sz="2200" i="1" spc="-1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14" dirty="0">
                <a:solidFill>
                  <a:srgbClr val="3E3E3E"/>
                </a:solidFill>
                <a:latin typeface="Trebuchet MS"/>
                <a:cs typeface="Trebuchet MS"/>
              </a:rPr>
              <a:t>Average:</a:t>
            </a:r>
            <a:r>
              <a:rPr sz="2200" i="1" spc="-204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05" dirty="0">
                <a:solidFill>
                  <a:srgbClr val="3E3E3E"/>
                </a:solidFill>
                <a:latin typeface="Trebuchet MS"/>
                <a:cs typeface="Trebuchet MS"/>
              </a:rPr>
              <a:t>45.56;</a:t>
            </a:r>
            <a:r>
              <a:rPr sz="2200" i="1" spc="-204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05" dirty="0">
                <a:solidFill>
                  <a:srgbClr val="3E3E3E"/>
                </a:solidFill>
                <a:latin typeface="Trebuchet MS"/>
                <a:cs typeface="Trebuchet MS"/>
              </a:rPr>
              <a:t>row</a:t>
            </a:r>
            <a:r>
              <a:rPr sz="2200" i="1" spc="-150" dirty="0">
                <a:solidFill>
                  <a:srgbClr val="3E3E3E"/>
                </a:solidFill>
                <a:latin typeface="Trebuchet MS"/>
                <a:cs typeface="Trebuchet MS"/>
              </a:rPr>
              <a:t> 3,  </a:t>
            </a:r>
            <a:r>
              <a:rPr sz="2200" i="1" spc="-135" dirty="0">
                <a:solidFill>
                  <a:srgbClr val="3E3E3E"/>
                </a:solidFill>
                <a:latin typeface="Trebuchet MS"/>
                <a:cs typeface="Trebuchet MS"/>
              </a:rPr>
              <a:t>Country: </a:t>
            </a:r>
            <a:r>
              <a:rPr sz="2200" i="1" spc="-90" dirty="0">
                <a:solidFill>
                  <a:srgbClr val="3E3E3E"/>
                </a:solidFill>
                <a:latin typeface="Trebuchet MS"/>
                <a:cs typeface="Trebuchet MS"/>
              </a:rPr>
              <a:t>Canada; </a:t>
            </a:r>
            <a:r>
              <a:rPr sz="2200" i="1" spc="-105" dirty="0">
                <a:solidFill>
                  <a:srgbClr val="3E3E3E"/>
                </a:solidFill>
                <a:latin typeface="Trebuchet MS"/>
                <a:cs typeface="Trebuchet MS"/>
              </a:rPr>
              <a:t>row </a:t>
            </a:r>
            <a:r>
              <a:rPr sz="2200" i="1" spc="-150" dirty="0">
                <a:solidFill>
                  <a:srgbClr val="3E3E3E"/>
                </a:solidFill>
                <a:latin typeface="Trebuchet MS"/>
                <a:cs typeface="Trebuchet MS"/>
              </a:rPr>
              <a:t>3, </a:t>
            </a:r>
            <a:r>
              <a:rPr sz="2200" i="1" spc="-160" dirty="0">
                <a:solidFill>
                  <a:srgbClr val="3E3E3E"/>
                </a:solidFill>
                <a:latin typeface="Trebuchet MS"/>
                <a:cs typeface="Trebuchet MS"/>
              </a:rPr>
              <a:t>City </a:t>
            </a:r>
            <a:r>
              <a:rPr sz="2200" i="1" spc="-140" dirty="0">
                <a:solidFill>
                  <a:srgbClr val="3E3E3E"/>
                </a:solidFill>
                <a:latin typeface="Trebuchet MS"/>
                <a:cs typeface="Trebuchet MS"/>
              </a:rPr>
              <a:t>Count: </a:t>
            </a:r>
            <a:r>
              <a:rPr sz="2200" i="1" spc="-95" dirty="0">
                <a:solidFill>
                  <a:srgbClr val="3E3E3E"/>
                </a:solidFill>
                <a:latin typeface="Trebuchet MS"/>
                <a:cs typeface="Trebuchet MS"/>
              </a:rPr>
              <a:t>25,000; </a:t>
            </a:r>
            <a:r>
              <a:rPr sz="2200" i="1" spc="-229" dirty="0">
                <a:solidFill>
                  <a:srgbClr val="3E3E3E"/>
                </a:solidFill>
                <a:latin typeface="Trebuchet MS"/>
                <a:cs typeface="Trebuchet MS"/>
              </a:rPr>
              <a:t>etc.,”  </a:t>
            </a:r>
            <a:r>
              <a:rPr sz="2200" i="1" spc="-105" dirty="0">
                <a:solidFill>
                  <a:srgbClr val="3E3E3E"/>
                </a:solidFill>
                <a:latin typeface="Trebuchet MS"/>
                <a:cs typeface="Trebuchet MS"/>
              </a:rPr>
              <a:t>which is </a:t>
            </a:r>
            <a:r>
              <a:rPr sz="2200" i="1" spc="-25" dirty="0">
                <a:solidFill>
                  <a:srgbClr val="3E3E3E"/>
                </a:solidFill>
                <a:latin typeface="Trebuchet MS"/>
                <a:cs typeface="Trebuchet MS"/>
              </a:rPr>
              <a:t>a </a:t>
            </a:r>
            <a:r>
              <a:rPr sz="2200" i="1" spc="-114" dirty="0">
                <a:solidFill>
                  <a:srgbClr val="3E3E3E"/>
                </a:solidFill>
                <a:latin typeface="Trebuchet MS"/>
                <a:cs typeface="Trebuchet MS"/>
              </a:rPr>
              <a:t>significant</a:t>
            </a:r>
            <a:r>
              <a:rPr sz="2200" i="1" spc="-52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200" i="1" spc="-130" dirty="0">
                <a:solidFill>
                  <a:srgbClr val="3E3E3E"/>
                </a:solidFill>
                <a:latin typeface="Trebuchet MS"/>
                <a:cs typeface="Trebuchet MS"/>
              </a:rPr>
              <a:t>improvement.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53619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Additional </a:t>
            </a:r>
            <a:r>
              <a:rPr spc="125" dirty="0"/>
              <a:t>table</a:t>
            </a:r>
            <a:r>
              <a:rPr spc="-30" dirty="0"/>
              <a:t> </a:t>
            </a:r>
            <a:r>
              <a:rPr spc="135" dirty="0"/>
              <a:t>tags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8340" y="1440510"/>
            <a:ext cx="2430780" cy="2580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Char char="•"/>
              <a:tabLst>
                <a:tab pos="469265" algn="l"/>
                <a:tab pos="469900" algn="l"/>
              </a:tabLst>
            </a:pP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&lt;caption&gt;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720"/>
              </a:spcBef>
              <a:buClr>
                <a:srgbClr val="B18714"/>
              </a:buClr>
              <a:buChar char="•"/>
              <a:tabLst>
                <a:tab pos="469265" algn="l"/>
                <a:tab pos="469900" algn="l"/>
              </a:tabLst>
            </a:pP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&lt;col&gt;,&lt;colgroup&gt;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739"/>
              </a:spcBef>
              <a:buClr>
                <a:srgbClr val="B18714"/>
              </a:buClr>
              <a:buChar char="•"/>
              <a:tabLst>
                <a:tab pos="469265" algn="l"/>
                <a:tab pos="469900" algn="l"/>
              </a:tabLst>
            </a:pP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&lt;thead&gt;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720"/>
              </a:spcBef>
              <a:buClr>
                <a:srgbClr val="B18714"/>
              </a:buClr>
              <a:buChar char="•"/>
              <a:tabLst>
                <a:tab pos="469265" algn="l"/>
                <a:tab pos="469900" algn="l"/>
              </a:tabLst>
            </a:pP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&lt;tfoot&gt;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739"/>
              </a:spcBef>
              <a:buClr>
                <a:srgbClr val="B18714"/>
              </a:buClr>
              <a:buChar char="•"/>
              <a:tabLst>
                <a:tab pos="469265" algn="l"/>
                <a:tab pos="469900" algn="l"/>
              </a:tabLst>
            </a:pP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&lt;tbody&gt;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24200" y="1424939"/>
            <a:ext cx="5184140" cy="515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54020" y="1066800"/>
            <a:ext cx="342900" cy="281940"/>
          </a:xfrm>
          <a:custGeom>
            <a:avLst/>
            <a:gdLst/>
            <a:ahLst/>
            <a:cxnLst/>
            <a:rect l="l" t="t" r="r" b="b"/>
            <a:pathLst>
              <a:path w="342900" h="281940">
                <a:moveTo>
                  <a:pt x="342900" y="107696"/>
                </a:moveTo>
                <a:lnTo>
                  <a:pt x="0" y="107696"/>
                </a:lnTo>
                <a:lnTo>
                  <a:pt x="105968" y="174256"/>
                </a:lnTo>
                <a:lnTo>
                  <a:pt x="65493" y="281940"/>
                </a:lnTo>
                <a:lnTo>
                  <a:pt x="171450" y="215392"/>
                </a:lnTo>
                <a:lnTo>
                  <a:pt x="252392" y="215392"/>
                </a:lnTo>
                <a:lnTo>
                  <a:pt x="236931" y="174256"/>
                </a:lnTo>
                <a:lnTo>
                  <a:pt x="342900" y="107696"/>
                </a:lnTo>
                <a:close/>
              </a:path>
              <a:path w="342900" h="281940">
                <a:moveTo>
                  <a:pt x="252392" y="215392"/>
                </a:moveTo>
                <a:lnTo>
                  <a:pt x="171450" y="215392"/>
                </a:lnTo>
                <a:lnTo>
                  <a:pt x="277406" y="281940"/>
                </a:lnTo>
                <a:lnTo>
                  <a:pt x="252392" y="215392"/>
                </a:lnTo>
                <a:close/>
              </a:path>
              <a:path w="342900" h="281940">
                <a:moveTo>
                  <a:pt x="171450" y="0"/>
                </a:moveTo>
                <a:lnTo>
                  <a:pt x="130975" y="107696"/>
                </a:lnTo>
                <a:lnTo>
                  <a:pt x="211924" y="107696"/>
                </a:lnTo>
                <a:lnTo>
                  <a:pt x="171450" y="0"/>
                </a:lnTo>
                <a:close/>
              </a:path>
            </a:pathLst>
          </a:custGeom>
          <a:solidFill>
            <a:srgbClr val="CE2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54020" y="1066800"/>
            <a:ext cx="342900" cy="281940"/>
          </a:xfrm>
          <a:custGeom>
            <a:avLst/>
            <a:gdLst/>
            <a:ahLst/>
            <a:cxnLst/>
            <a:rect l="l" t="t" r="r" b="b"/>
            <a:pathLst>
              <a:path w="342900" h="281940">
                <a:moveTo>
                  <a:pt x="0" y="107696"/>
                </a:moveTo>
                <a:lnTo>
                  <a:pt x="130975" y="107696"/>
                </a:lnTo>
                <a:lnTo>
                  <a:pt x="171450" y="0"/>
                </a:lnTo>
                <a:lnTo>
                  <a:pt x="211924" y="107696"/>
                </a:lnTo>
                <a:lnTo>
                  <a:pt x="342900" y="107696"/>
                </a:lnTo>
                <a:lnTo>
                  <a:pt x="236931" y="174256"/>
                </a:lnTo>
                <a:lnTo>
                  <a:pt x="277406" y="281940"/>
                </a:lnTo>
                <a:lnTo>
                  <a:pt x="171450" y="215392"/>
                </a:lnTo>
                <a:lnTo>
                  <a:pt x="65493" y="281940"/>
                </a:lnTo>
                <a:lnTo>
                  <a:pt x="105968" y="174256"/>
                </a:lnTo>
                <a:lnTo>
                  <a:pt x="0" y="107696"/>
                </a:lnTo>
                <a:close/>
              </a:path>
            </a:pathLst>
          </a:custGeom>
          <a:ln w="25400">
            <a:solidFill>
              <a:srgbClr val="971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139" y="1608137"/>
            <a:ext cx="7278370" cy="404876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48640">
              <a:lnSpc>
                <a:spcPts val="1920"/>
              </a:lnSpc>
              <a:spcBef>
                <a:spcPts val="560"/>
              </a:spcBef>
            </a:pPr>
            <a:r>
              <a:rPr sz="2000" spc="-60" dirty="0">
                <a:solidFill>
                  <a:srgbClr val="3E3E3E"/>
                </a:solidFill>
                <a:latin typeface="Arial"/>
                <a:cs typeface="Arial"/>
              </a:rPr>
              <a:t>In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5" dirty="0">
                <a:solidFill>
                  <a:srgbClr val="3E3E3E"/>
                </a:solidFill>
                <a:latin typeface="Arial"/>
                <a:cs typeface="Arial"/>
              </a:rPr>
              <a:t>HTML5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3E3E3E"/>
                </a:solidFill>
                <a:latin typeface="Arial"/>
                <a:cs typeface="Arial"/>
              </a:rPr>
              <a:t>it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 is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rgbClr val="3E3E3E"/>
                </a:solidFill>
                <a:latin typeface="Arial"/>
                <a:cs typeface="Arial"/>
              </a:rPr>
              <a:t>left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320" dirty="0">
                <a:solidFill>
                  <a:srgbClr val="3E3E3E"/>
                </a:solidFill>
                <a:latin typeface="Arial"/>
                <a:cs typeface="Arial"/>
              </a:rPr>
              <a:t>CSS.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However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25" dirty="0">
                <a:solidFill>
                  <a:srgbClr val="3E3E3E"/>
                </a:solidFill>
                <a:latin typeface="Arial"/>
                <a:cs typeface="Arial"/>
              </a:rPr>
              <a:t>legacy</a:t>
            </a:r>
            <a:r>
              <a:rPr sz="2000" spc="-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support</a:t>
            </a:r>
            <a:r>
              <a:rPr sz="20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for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3E3E3E"/>
                </a:solidFill>
                <a:latin typeface="Arial"/>
                <a:cs typeface="Arial"/>
              </a:rPr>
              <a:t>deprecated  </a:t>
            </a:r>
            <a:r>
              <a:rPr sz="2000" spc="-170" dirty="0">
                <a:solidFill>
                  <a:srgbClr val="3E3E3E"/>
                </a:solidFill>
                <a:latin typeface="Arial"/>
                <a:cs typeface="Arial"/>
              </a:rPr>
              <a:t>HTML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attributes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still</a:t>
            </a:r>
            <a:r>
              <a:rPr sz="2000" spc="-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3E3E3E"/>
                </a:solidFill>
                <a:latin typeface="Arial"/>
                <a:cs typeface="Arial"/>
              </a:rPr>
              <a:t>exist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  <a:buClr>
                <a:srgbClr val="B18714"/>
              </a:buClr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000" b="1" spc="-70" dirty="0">
                <a:solidFill>
                  <a:srgbClr val="3E3E3E"/>
                </a:solidFill>
                <a:latin typeface="Arial"/>
                <a:cs typeface="Arial"/>
              </a:rPr>
              <a:t>width,</a:t>
            </a:r>
            <a:r>
              <a:rPr sz="2000" b="1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3E3E3E"/>
                </a:solidFill>
                <a:latin typeface="Arial"/>
                <a:cs typeface="Arial"/>
              </a:rPr>
              <a:t>height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—for</a:t>
            </a:r>
            <a:r>
              <a:rPr sz="20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setting</a:t>
            </a:r>
            <a:r>
              <a:rPr sz="20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width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and</a:t>
            </a:r>
            <a:r>
              <a:rPr sz="20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height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0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cells</a:t>
            </a:r>
            <a:endParaRPr sz="2000">
              <a:latin typeface="Arial"/>
              <a:cs typeface="Arial"/>
            </a:endParaRPr>
          </a:p>
          <a:p>
            <a:pPr marL="528320" indent="-515620">
              <a:lnSpc>
                <a:spcPct val="100000"/>
              </a:lnSpc>
              <a:spcBef>
                <a:spcPts val="1200"/>
              </a:spcBef>
              <a:buClr>
                <a:srgbClr val="B18714"/>
              </a:buClr>
              <a:buFont typeface="Wingdings"/>
              <a:buChar char=""/>
              <a:tabLst>
                <a:tab pos="527685" algn="l"/>
                <a:tab pos="528320" algn="l"/>
              </a:tabLst>
            </a:pPr>
            <a:r>
              <a:rPr sz="2000" b="1" spc="-140" dirty="0">
                <a:solidFill>
                  <a:srgbClr val="3E3E3E"/>
                </a:solidFill>
                <a:latin typeface="Arial"/>
                <a:cs typeface="Arial"/>
              </a:rPr>
              <a:t>cellspacing</a:t>
            </a:r>
            <a:r>
              <a:rPr sz="2000" spc="-140" dirty="0">
                <a:solidFill>
                  <a:srgbClr val="3E3E3E"/>
                </a:solidFill>
                <a:latin typeface="Arial"/>
                <a:cs typeface="Arial"/>
              </a:rPr>
              <a:t>—for </a:t>
            </a:r>
            <a:r>
              <a:rPr sz="2000" spc="-80" dirty="0">
                <a:solidFill>
                  <a:srgbClr val="3E3E3E"/>
                </a:solidFill>
                <a:latin typeface="Arial"/>
                <a:cs typeface="Arial"/>
              </a:rPr>
              <a:t>adding </a:t>
            </a:r>
            <a:r>
              <a:rPr sz="2000" spc="-145" dirty="0">
                <a:solidFill>
                  <a:srgbClr val="3E3E3E"/>
                </a:solidFill>
                <a:latin typeface="Arial"/>
                <a:cs typeface="Arial"/>
              </a:rPr>
              <a:t>space </a:t>
            </a:r>
            <a:r>
              <a:rPr sz="2000" spc="-60" dirty="0">
                <a:solidFill>
                  <a:srgbClr val="3E3E3E"/>
                </a:solidFill>
                <a:latin typeface="Arial"/>
                <a:cs typeface="Arial"/>
              </a:rPr>
              <a:t>between </a:t>
            </a:r>
            <a:r>
              <a:rPr sz="2000" spc="-85" dirty="0">
                <a:solidFill>
                  <a:srgbClr val="3E3E3E"/>
                </a:solidFill>
                <a:latin typeface="Arial"/>
                <a:cs typeface="Arial"/>
              </a:rPr>
              <a:t>every </a:t>
            </a:r>
            <a:r>
              <a:rPr sz="2000" spc="-65" dirty="0">
                <a:solidFill>
                  <a:srgbClr val="3E3E3E"/>
                </a:solidFill>
                <a:latin typeface="Arial"/>
                <a:cs typeface="Arial"/>
              </a:rPr>
              <a:t>cell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000" spc="-3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  <a:p>
            <a:pPr marL="12700" marR="295910">
              <a:lnSpc>
                <a:spcPct val="80000"/>
              </a:lnSpc>
              <a:spcBef>
                <a:spcPts val="1680"/>
              </a:spcBef>
              <a:buClr>
                <a:srgbClr val="B18714"/>
              </a:buClr>
              <a:buFont typeface="Wingdings"/>
              <a:buChar char=""/>
              <a:tabLst>
                <a:tab pos="527685" algn="l"/>
                <a:tab pos="528320" algn="l"/>
              </a:tabLst>
            </a:pPr>
            <a:r>
              <a:rPr sz="2000" b="1" spc="-120" dirty="0">
                <a:solidFill>
                  <a:srgbClr val="3E3E3E"/>
                </a:solidFill>
                <a:latin typeface="Arial"/>
                <a:cs typeface="Arial"/>
              </a:rPr>
              <a:t>cellpadding</a:t>
            </a:r>
            <a:r>
              <a:rPr sz="2000" spc="-120" dirty="0">
                <a:solidFill>
                  <a:srgbClr val="3E3E3E"/>
                </a:solidFill>
                <a:latin typeface="Arial"/>
                <a:cs typeface="Arial"/>
              </a:rPr>
              <a:t>—for</a:t>
            </a:r>
            <a:r>
              <a:rPr sz="2000" spc="-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3E3E3E"/>
                </a:solidFill>
                <a:latin typeface="Arial"/>
                <a:cs typeface="Arial"/>
              </a:rPr>
              <a:t>adding</a:t>
            </a:r>
            <a:r>
              <a:rPr sz="20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45" dirty="0">
                <a:solidFill>
                  <a:srgbClr val="3E3E3E"/>
                </a:solidFill>
                <a:latin typeface="Arial"/>
                <a:cs typeface="Arial"/>
              </a:rPr>
              <a:t>space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3E3E3E"/>
                </a:solidFill>
                <a:latin typeface="Arial"/>
                <a:cs typeface="Arial"/>
              </a:rPr>
              <a:t>between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content</a:t>
            </a:r>
            <a:r>
              <a:rPr sz="20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3E3E3E"/>
                </a:solidFill>
                <a:latin typeface="Arial"/>
                <a:cs typeface="Arial"/>
              </a:rPr>
              <a:t>cell  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its</a:t>
            </a:r>
            <a:r>
              <a:rPr sz="20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border</a:t>
            </a:r>
            <a:endParaRPr sz="2000">
              <a:latin typeface="Arial"/>
              <a:cs typeface="Arial"/>
            </a:endParaRPr>
          </a:p>
          <a:p>
            <a:pPr marL="528320" indent="-515620">
              <a:lnSpc>
                <a:spcPct val="100000"/>
              </a:lnSpc>
              <a:spcBef>
                <a:spcPts val="1200"/>
              </a:spcBef>
              <a:buClr>
                <a:srgbClr val="B18714"/>
              </a:buClr>
              <a:buFont typeface="Wingdings"/>
              <a:buChar char=""/>
              <a:tabLst>
                <a:tab pos="527685" algn="l"/>
                <a:tab pos="528320" algn="l"/>
              </a:tabLst>
            </a:pPr>
            <a:r>
              <a:rPr sz="2000" b="1" spc="-125" dirty="0">
                <a:solidFill>
                  <a:srgbClr val="3E3E3E"/>
                </a:solidFill>
                <a:latin typeface="Arial"/>
                <a:cs typeface="Arial"/>
              </a:rPr>
              <a:t>bgcolor</a:t>
            </a:r>
            <a:r>
              <a:rPr sz="2000" spc="-125" dirty="0">
                <a:solidFill>
                  <a:srgbClr val="3E3E3E"/>
                </a:solidFill>
                <a:latin typeface="Arial"/>
                <a:cs typeface="Arial"/>
              </a:rPr>
              <a:t>—for 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changing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background 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color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000" spc="-409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any 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table 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endParaRPr sz="2000">
              <a:latin typeface="Arial"/>
              <a:cs typeface="Arial"/>
            </a:endParaRPr>
          </a:p>
          <a:p>
            <a:pPr marL="12700" marR="798830">
              <a:lnSpc>
                <a:spcPts val="1920"/>
              </a:lnSpc>
              <a:spcBef>
                <a:spcPts val="1665"/>
              </a:spcBef>
              <a:buClr>
                <a:srgbClr val="B18714"/>
              </a:buClr>
              <a:buFont typeface="Wingdings"/>
              <a:buChar char=""/>
              <a:tabLst>
                <a:tab pos="527685" algn="l"/>
                <a:tab pos="528320" algn="l"/>
              </a:tabLst>
            </a:pPr>
            <a:r>
              <a:rPr sz="2000" b="1" spc="-135" dirty="0">
                <a:solidFill>
                  <a:srgbClr val="3E3E3E"/>
                </a:solidFill>
                <a:latin typeface="Arial"/>
                <a:cs typeface="Arial"/>
              </a:rPr>
              <a:t>background</a:t>
            </a:r>
            <a:r>
              <a:rPr sz="2000" spc="-135" dirty="0">
                <a:solidFill>
                  <a:srgbClr val="3E3E3E"/>
                </a:solidFill>
                <a:latin typeface="Arial"/>
                <a:cs typeface="Arial"/>
              </a:rPr>
              <a:t>—for </a:t>
            </a:r>
            <a:r>
              <a:rPr sz="2000" spc="-80" dirty="0">
                <a:solidFill>
                  <a:srgbClr val="3E3E3E"/>
                </a:solidFill>
                <a:latin typeface="Arial"/>
                <a:cs typeface="Arial"/>
              </a:rPr>
              <a:t>adding </a:t>
            </a:r>
            <a:r>
              <a:rPr sz="2000" spc="-155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background 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image </a:t>
            </a:r>
            <a:r>
              <a:rPr sz="20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any</a:t>
            </a:r>
            <a:r>
              <a:rPr sz="2000" spc="-3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table  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endParaRPr sz="2000">
              <a:latin typeface="Arial"/>
              <a:cs typeface="Arial"/>
            </a:endParaRPr>
          </a:p>
          <a:p>
            <a:pPr marL="12700" marR="330200">
              <a:lnSpc>
                <a:spcPts val="1920"/>
              </a:lnSpc>
              <a:spcBef>
                <a:spcPts val="1680"/>
              </a:spcBef>
              <a:buClr>
                <a:srgbClr val="B18714"/>
              </a:buClr>
              <a:buFont typeface="Wingdings"/>
              <a:buChar char=""/>
              <a:tabLst>
                <a:tab pos="527685" algn="l"/>
                <a:tab pos="528320" algn="l"/>
              </a:tabLst>
            </a:pPr>
            <a:r>
              <a:rPr sz="2000" b="1" spc="-100" dirty="0">
                <a:solidFill>
                  <a:srgbClr val="3E3E3E"/>
                </a:solidFill>
                <a:latin typeface="Arial"/>
                <a:cs typeface="Arial"/>
              </a:rPr>
              <a:t>align</a:t>
            </a:r>
            <a:r>
              <a:rPr sz="2000" spc="-100" dirty="0">
                <a:solidFill>
                  <a:srgbClr val="3E3E3E"/>
                </a:solidFill>
                <a:latin typeface="Arial"/>
                <a:cs typeface="Arial"/>
              </a:rPr>
              <a:t>—for</a:t>
            </a:r>
            <a:r>
              <a:rPr sz="20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indicating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3E3E3E"/>
                </a:solidFill>
                <a:latin typeface="Arial"/>
                <a:cs typeface="Arial"/>
              </a:rPr>
              <a:t>alignment</a:t>
            </a:r>
            <a:r>
              <a:rPr sz="20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000" spc="-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5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3E3E3E"/>
                </a:solidFill>
                <a:latin typeface="Arial"/>
                <a:cs typeface="Arial"/>
              </a:rPr>
              <a:t>table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in</a:t>
            </a:r>
            <a:r>
              <a:rPr sz="2000" spc="-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relation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  </a:t>
            </a:r>
            <a:r>
              <a:rPr sz="2000" spc="-65" dirty="0">
                <a:solidFill>
                  <a:srgbClr val="3E3E3E"/>
                </a:solidFill>
                <a:latin typeface="Arial"/>
                <a:cs typeface="Arial"/>
              </a:rPr>
              <a:t>surrounding</a:t>
            </a:r>
            <a:r>
              <a:rPr sz="2000" spc="-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container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609975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55" dirty="0"/>
              <a:t>Styling</a:t>
            </a:r>
            <a:r>
              <a:rPr spc="-155" dirty="0"/>
              <a:t> </a:t>
            </a:r>
            <a:r>
              <a:rPr spc="95" dirty="0"/>
              <a:t>Tables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20" dirty="0"/>
              <a:t>The </a:t>
            </a:r>
            <a:r>
              <a:rPr sz="1500" spc="40" dirty="0"/>
              <a:t>old ways</a:t>
            </a:r>
            <a:r>
              <a:rPr sz="1500" spc="-5" dirty="0"/>
              <a:t> </a:t>
            </a:r>
            <a:r>
              <a:rPr sz="1500" spc="60" dirty="0"/>
              <a:t>deprecated</a:t>
            </a: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609975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55" dirty="0"/>
              <a:t>Styling</a:t>
            </a:r>
            <a:r>
              <a:rPr spc="-155" dirty="0"/>
              <a:t> </a:t>
            </a:r>
            <a:r>
              <a:rPr spc="95" dirty="0"/>
              <a:t>Tables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15" dirty="0"/>
              <a:t>Borders</a:t>
            </a:r>
            <a:endParaRPr sz="1500"/>
          </a:p>
        </p:txBody>
      </p:sp>
      <p:sp>
        <p:nvSpPr>
          <p:cNvPr id="3" name="object 3"/>
          <p:cNvSpPr/>
          <p:nvPr/>
        </p:nvSpPr>
        <p:spPr>
          <a:xfrm>
            <a:off x="248920" y="1066800"/>
            <a:ext cx="8445500" cy="53325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609975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55" dirty="0"/>
              <a:t>Styling</a:t>
            </a:r>
            <a:r>
              <a:rPr spc="-155" dirty="0"/>
              <a:t> </a:t>
            </a:r>
            <a:r>
              <a:rPr spc="95" dirty="0"/>
              <a:t>Tables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30" dirty="0"/>
              <a:t>Padding and</a:t>
            </a:r>
            <a:r>
              <a:rPr sz="1500" spc="5" dirty="0"/>
              <a:t> </a:t>
            </a:r>
            <a:r>
              <a:rPr sz="1500" spc="55" dirty="0"/>
              <a:t>spacing</a:t>
            </a:r>
            <a:endParaRPr sz="1500"/>
          </a:p>
        </p:txBody>
      </p:sp>
      <p:sp>
        <p:nvSpPr>
          <p:cNvPr id="3" name="object 3"/>
          <p:cNvSpPr/>
          <p:nvPr/>
        </p:nvSpPr>
        <p:spPr>
          <a:xfrm>
            <a:off x="375920" y="1143000"/>
            <a:ext cx="8270240" cy="4878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609975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55" dirty="0"/>
              <a:t>Styling</a:t>
            </a:r>
            <a:r>
              <a:rPr spc="-155" dirty="0"/>
              <a:t> </a:t>
            </a:r>
            <a:r>
              <a:rPr spc="95" dirty="0"/>
              <a:t>Tables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35" dirty="0"/>
              <a:t>Examples</a:t>
            </a:r>
            <a:endParaRPr sz="1500"/>
          </a:p>
        </p:txBody>
      </p:sp>
      <p:sp>
        <p:nvSpPr>
          <p:cNvPr id="3" name="object 3"/>
          <p:cNvSpPr/>
          <p:nvPr/>
        </p:nvSpPr>
        <p:spPr>
          <a:xfrm>
            <a:off x="304800" y="914402"/>
            <a:ext cx="7238555" cy="5627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4860290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15" dirty="0"/>
              <a:t>Nth-Child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-20" dirty="0"/>
              <a:t>Nifty </a:t>
            </a:r>
            <a:r>
              <a:rPr sz="1500" spc="30" dirty="0"/>
              <a:t>Table styling </a:t>
            </a:r>
            <a:r>
              <a:rPr sz="1500" spc="15" dirty="0"/>
              <a:t>tricks: </a:t>
            </a:r>
            <a:r>
              <a:rPr sz="1500" spc="25" dirty="0"/>
              <a:t>hover </a:t>
            </a:r>
            <a:r>
              <a:rPr sz="1500" spc="40" dirty="0"/>
              <a:t>effect </a:t>
            </a:r>
            <a:r>
              <a:rPr sz="1500" spc="25" dirty="0"/>
              <a:t>and</a:t>
            </a:r>
            <a:r>
              <a:rPr sz="1500" spc="-200" dirty="0"/>
              <a:t> </a:t>
            </a:r>
            <a:r>
              <a:rPr sz="1500" spc="35" dirty="0"/>
              <a:t>zebra-stripes</a:t>
            </a:r>
            <a:endParaRPr sz="1500"/>
          </a:p>
        </p:txBody>
      </p:sp>
      <p:sp>
        <p:nvSpPr>
          <p:cNvPr id="3" name="object 3"/>
          <p:cNvSpPr/>
          <p:nvPr/>
        </p:nvSpPr>
        <p:spPr>
          <a:xfrm>
            <a:off x="990600" y="1122680"/>
            <a:ext cx="6172200" cy="4820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139" y="1661477"/>
            <a:ext cx="5669915" cy="332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b="1" spc="-229" dirty="0">
                <a:solidFill>
                  <a:srgbClr val="00B0F0"/>
                </a:solidFill>
                <a:latin typeface="Arial"/>
                <a:cs typeface="Arial"/>
              </a:rPr>
              <a:t>Forms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provide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user 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with 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an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alternative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way</a:t>
            </a:r>
            <a:r>
              <a:rPr sz="2200" spc="-4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 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interact 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with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web</a:t>
            </a:r>
            <a:r>
              <a:rPr sz="2200" spc="-3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server.</a:t>
            </a:r>
            <a:endParaRPr sz="2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720"/>
              </a:spcBef>
              <a:buClr>
                <a:srgbClr val="B18714"/>
              </a:buClr>
              <a:buChar char="•"/>
              <a:tabLst>
                <a:tab pos="469265" algn="l"/>
                <a:tab pos="469900" algn="l"/>
              </a:tabLst>
            </a:pPr>
            <a:r>
              <a:rPr sz="2200" spc="-150" dirty="0">
                <a:solidFill>
                  <a:srgbClr val="3E3E3E"/>
                </a:solidFill>
                <a:latin typeface="Arial"/>
                <a:cs typeface="Arial"/>
              </a:rPr>
              <a:t>Forms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provide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rich 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mechanisms</a:t>
            </a:r>
            <a:r>
              <a:rPr sz="2200" spc="-2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like:</a:t>
            </a:r>
            <a:endParaRPr sz="2200">
              <a:latin typeface="Arial"/>
              <a:cs typeface="Arial"/>
            </a:endParaRPr>
          </a:p>
          <a:p>
            <a:pPr marL="932180" lvl="1" indent="-457200">
              <a:lnSpc>
                <a:spcPct val="100000"/>
              </a:lnSpc>
              <a:spcBef>
                <a:spcPts val="1700"/>
              </a:spcBef>
              <a:buChar char="•"/>
              <a:tabLst>
                <a:tab pos="931544" algn="l"/>
                <a:tab pos="932180" algn="l"/>
              </a:tabLst>
            </a:pPr>
            <a:r>
              <a:rPr sz="2000" spc="-155" dirty="0">
                <a:solidFill>
                  <a:srgbClr val="3E3E3E"/>
                </a:solidFill>
                <a:latin typeface="Arial"/>
                <a:cs typeface="Arial"/>
              </a:rPr>
              <a:t>Text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input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: </a:t>
            </a:r>
            <a:r>
              <a:rPr sz="2000" spc="-155" dirty="0">
                <a:solidFill>
                  <a:srgbClr val="3E3E3E"/>
                </a:solidFill>
                <a:latin typeface="Arial"/>
                <a:cs typeface="Arial"/>
              </a:rPr>
              <a:t>Search</a:t>
            </a:r>
            <a:r>
              <a:rPr sz="2000" spc="-2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functionality</a:t>
            </a:r>
            <a:endParaRPr sz="2000">
              <a:latin typeface="Arial"/>
              <a:cs typeface="Arial"/>
            </a:endParaRPr>
          </a:p>
          <a:p>
            <a:pPr marL="932180" lvl="1" indent="-457200">
              <a:lnSpc>
                <a:spcPct val="100000"/>
              </a:lnSpc>
              <a:spcBef>
                <a:spcPts val="1680"/>
              </a:spcBef>
              <a:buChar char="•"/>
              <a:tabLst>
                <a:tab pos="931544" algn="l"/>
                <a:tab pos="932180" algn="l"/>
              </a:tabLst>
            </a:pPr>
            <a:r>
              <a:rPr sz="2000" spc="-140" dirty="0">
                <a:solidFill>
                  <a:srgbClr val="3E3E3E"/>
                </a:solidFill>
                <a:latin typeface="Arial"/>
                <a:cs typeface="Arial"/>
              </a:rPr>
              <a:t>Password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E3E3E"/>
                </a:solidFill>
                <a:latin typeface="Arial"/>
                <a:cs typeface="Arial"/>
              </a:rPr>
              <a:t>input</a:t>
            </a:r>
            <a:endParaRPr sz="2000">
              <a:latin typeface="Arial"/>
              <a:cs typeface="Arial"/>
            </a:endParaRPr>
          </a:p>
          <a:p>
            <a:pPr marL="932180" lvl="1" indent="-457200">
              <a:lnSpc>
                <a:spcPct val="100000"/>
              </a:lnSpc>
              <a:spcBef>
                <a:spcPts val="1680"/>
              </a:spcBef>
              <a:buChar char="•"/>
              <a:tabLst>
                <a:tab pos="931544" algn="l"/>
                <a:tab pos="932180" algn="l"/>
              </a:tabLst>
            </a:pPr>
            <a:r>
              <a:rPr sz="2000" spc="-70" dirty="0">
                <a:solidFill>
                  <a:srgbClr val="3E3E3E"/>
                </a:solidFill>
                <a:latin typeface="Arial"/>
                <a:cs typeface="Arial"/>
              </a:rPr>
              <a:t>Options</a:t>
            </a:r>
            <a:r>
              <a:rPr sz="20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20" dirty="0">
                <a:solidFill>
                  <a:srgbClr val="3E3E3E"/>
                </a:solidFill>
                <a:latin typeface="Arial"/>
                <a:cs typeface="Arial"/>
              </a:rPr>
              <a:t>Lists</a:t>
            </a:r>
            <a:endParaRPr sz="2000">
              <a:latin typeface="Arial"/>
              <a:cs typeface="Arial"/>
            </a:endParaRPr>
          </a:p>
          <a:p>
            <a:pPr marL="932180" lvl="1" indent="-457200">
              <a:lnSpc>
                <a:spcPct val="100000"/>
              </a:lnSpc>
              <a:spcBef>
                <a:spcPts val="1680"/>
              </a:spcBef>
              <a:buChar char="•"/>
              <a:tabLst>
                <a:tab pos="931544" algn="l"/>
                <a:tab pos="932180" algn="l"/>
              </a:tabLst>
            </a:pPr>
            <a:r>
              <a:rPr sz="2000" spc="-125" dirty="0">
                <a:solidFill>
                  <a:srgbClr val="3E3E3E"/>
                </a:solidFill>
                <a:latin typeface="Arial"/>
                <a:cs typeface="Arial"/>
              </a:rPr>
              <a:t>Radio 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000" spc="-120" dirty="0">
                <a:solidFill>
                  <a:srgbClr val="3E3E3E"/>
                </a:solidFill>
                <a:latin typeface="Arial"/>
                <a:cs typeface="Arial"/>
              </a:rPr>
              <a:t>check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40" dirty="0">
                <a:solidFill>
                  <a:srgbClr val="3E3E3E"/>
                </a:solidFill>
                <a:latin typeface="Arial"/>
                <a:cs typeface="Arial"/>
              </a:rPr>
              <a:t>boxes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215640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-320" dirty="0"/>
              <a:t>HTML</a:t>
            </a:r>
            <a:r>
              <a:rPr spc="-45" dirty="0"/>
              <a:t> </a:t>
            </a:r>
            <a:r>
              <a:rPr spc="-75" dirty="0"/>
              <a:t>Forms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10" dirty="0"/>
              <a:t>Richer </a:t>
            </a:r>
            <a:r>
              <a:rPr sz="1500" spc="45" dirty="0"/>
              <a:t>way </a:t>
            </a:r>
            <a:r>
              <a:rPr sz="1500" spc="-5" dirty="0"/>
              <a:t>to </a:t>
            </a:r>
            <a:r>
              <a:rPr sz="1500" spc="5" dirty="0"/>
              <a:t>interact </a:t>
            </a:r>
            <a:r>
              <a:rPr sz="1500" spc="-10" dirty="0"/>
              <a:t>with</a:t>
            </a:r>
            <a:r>
              <a:rPr sz="1500" dirty="0"/>
              <a:t> </a:t>
            </a:r>
            <a:r>
              <a:rPr sz="1500" spc="55" dirty="0"/>
              <a:t>server</a:t>
            </a: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67640"/>
            <a:ext cx="4572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Static </a:t>
            </a:r>
            <a:r>
              <a:rPr spc="145" dirty="0"/>
              <a:t>Vs</a:t>
            </a:r>
            <a:r>
              <a:rPr spc="-310" dirty="0"/>
              <a:t> </a:t>
            </a:r>
            <a:r>
              <a:rPr spc="65" dirty="0"/>
              <a:t>Dynamic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4074" y="1157859"/>
            <a:ext cx="1405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70" dirty="0">
                <a:solidFill>
                  <a:srgbClr val="3E3E3E"/>
                </a:solidFill>
                <a:latin typeface="Arial"/>
                <a:cs typeface="Arial"/>
              </a:rPr>
              <a:t>Static</a:t>
            </a:r>
            <a:r>
              <a:rPr sz="2400" b="1" spc="-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204" dirty="0">
                <a:solidFill>
                  <a:srgbClr val="3E3E3E"/>
                </a:solidFill>
                <a:latin typeface="Arial"/>
                <a:cs typeface="Arial"/>
              </a:rPr>
              <a:t>page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640" y="2231087"/>
            <a:ext cx="3747135" cy="350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35"/>
              </a:lnSpc>
              <a:tabLst>
                <a:tab pos="342265" algn="l"/>
              </a:tabLst>
            </a:pPr>
            <a:r>
              <a:rPr sz="2400" dirty="0">
                <a:solidFill>
                  <a:srgbClr val="B18714"/>
                </a:solidFill>
                <a:latin typeface="Wingdings"/>
                <a:cs typeface="Wingdings"/>
              </a:rPr>
              <a:t></a:t>
            </a:r>
            <a:r>
              <a:rPr sz="2400" dirty="0">
                <a:solidFill>
                  <a:srgbClr val="B18714"/>
                </a:solidFill>
                <a:latin typeface="Times New Roman"/>
                <a:cs typeface="Times New Roman"/>
              </a:rPr>
              <a:t>	</a:t>
            </a:r>
            <a:r>
              <a:rPr sz="2400" spc="-160" dirty="0">
                <a:solidFill>
                  <a:srgbClr val="3E3E3E"/>
                </a:solidFill>
                <a:latin typeface="Arial"/>
                <a:cs typeface="Arial"/>
              </a:rPr>
              <a:t>Forms </a:t>
            </a:r>
            <a:r>
              <a:rPr sz="2400" spc="-155" dirty="0">
                <a:solidFill>
                  <a:srgbClr val="3E3E3E"/>
                </a:solidFill>
                <a:latin typeface="Arial"/>
                <a:cs typeface="Arial"/>
              </a:rPr>
              <a:t>make </a:t>
            </a:r>
            <a:r>
              <a:rPr sz="2400" spc="-185" dirty="0">
                <a:solidFill>
                  <a:srgbClr val="3E3E3E"/>
                </a:solidFill>
                <a:latin typeface="Arial"/>
                <a:cs typeface="Arial"/>
              </a:rPr>
              <a:t>pages</a:t>
            </a:r>
            <a:r>
              <a:rPr sz="2400" spc="-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3E3E3E"/>
                </a:solidFill>
                <a:latin typeface="Arial"/>
                <a:cs typeface="Arial"/>
              </a:rPr>
              <a:t>dynamic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7925" y="1190579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20" dirty="0">
                <a:solidFill>
                  <a:srgbClr val="3E3E3E"/>
                </a:solidFill>
                <a:latin typeface="Arial"/>
                <a:cs typeface="Arial"/>
              </a:rPr>
              <a:t>D</a:t>
            </a:r>
            <a:r>
              <a:rPr sz="2400" b="1" spc="-200" dirty="0">
                <a:solidFill>
                  <a:srgbClr val="3E3E3E"/>
                </a:solidFill>
                <a:latin typeface="Arial"/>
                <a:cs typeface="Arial"/>
              </a:rPr>
              <a:t>y</a:t>
            </a:r>
            <a:r>
              <a:rPr sz="2400" b="1" spc="-190" dirty="0">
                <a:solidFill>
                  <a:srgbClr val="3E3E3E"/>
                </a:solidFill>
                <a:latin typeface="Arial"/>
                <a:cs typeface="Arial"/>
              </a:rPr>
              <a:t>n</a:t>
            </a:r>
            <a:r>
              <a:rPr sz="2400" b="1" spc="-135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400" b="1" spc="-200" dirty="0">
                <a:solidFill>
                  <a:srgbClr val="3E3E3E"/>
                </a:solidFill>
                <a:latin typeface="Arial"/>
                <a:cs typeface="Arial"/>
              </a:rPr>
              <a:t>m</a:t>
            </a:r>
            <a:r>
              <a:rPr sz="2400" b="1" spc="-90" dirty="0">
                <a:solidFill>
                  <a:srgbClr val="3E3E3E"/>
                </a:solidFill>
                <a:latin typeface="Arial"/>
                <a:cs typeface="Arial"/>
              </a:rPr>
              <a:t>i</a:t>
            </a:r>
            <a:r>
              <a:rPr sz="2400" b="1" spc="-335" dirty="0">
                <a:solidFill>
                  <a:srgbClr val="3E3E3E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3848" y="1190579"/>
            <a:ext cx="63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90" dirty="0">
                <a:solidFill>
                  <a:srgbClr val="3E3E3E"/>
                </a:solidFill>
                <a:latin typeface="Arial"/>
                <a:cs typeface="Arial"/>
              </a:rPr>
              <a:t>p</a:t>
            </a:r>
            <a:r>
              <a:rPr sz="2400" b="1" spc="-235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400" b="1" spc="-275" dirty="0">
                <a:solidFill>
                  <a:srgbClr val="3E3E3E"/>
                </a:solidFill>
                <a:latin typeface="Arial"/>
                <a:cs typeface="Arial"/>
              </a:rPr>
              <a:t>g</a:t>
            </a:r>
            <a:r>
              <a:rPr sz="2400" b="1" spc="-130" dirty="0">
                <a:solidFill>
                  <a:srgbClr val="3E3E3E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139" y="851032"/>
            <a:ext cx="3498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40" dirty="0">
                <a:solidFill>
                  <a:srgbClr val="3E3E3E"/>
                </a:solidFill>
                <a:latin typeface="Arial"/>
                <a:cs typeface="Arial"/>
              </a:rPr>
              <a:t>Forms </a:t>
            </a:r>
            <a:r>
              <a:rPr sz="2400" b="1" spc="-175" dirty="0">
                <a:solidFill>
                  <a:srgbClr val="3E3E3E"/>
                </a:solidFill>
                <a:latin typeface="Arial"/>
                <a:cs typeface="Arial"/>
              </a:rPr>
              <a:t>make </a:t>
            </a:r>
            <a:r>
              <a:rPr sz="2400" b="1" spc="-245" dirty="0">
                <a:solidFill>
                  <a:srgbClr val="3E3E3E"/>
                </a:solidFill>
                <a:latin typeface="Arial"/>
                <a:cs typeface="Arial"/>
              </a:rPr>
              <a:t>pages</a:t>
            </a:r>
            <a:r>
              <a:rPr sz="2400" b="1" spc="-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190" dirty="0">
                <a:solidFill>
                  <a:srgbClr val="3E3E3E"/>
                </a:solidFill>
                <a:latin typeface="Arial"/>
                <a:cs typeface="Arial"/>
              </a:rPr>
              <a:t>dynamic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4460" y="1577339"/>
            <a:ext cx="4450080" cy="4912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98340" y="1577339"/>
            <a:ext cx="4399089" cy="45008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301840"/>
            <a:ext cx="48482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>
                <a:solidFill>
                  <a:srgbClr val="00506D"/>
                </a:solidFill>
              </a:rPr>
              <a:t>Overview </a:t>
            </a:r>
            <a:r>
              <a:rPr spc="-5" dirty="0">
                <a:solidFill>
                  <a:srgbClr val="00506D"/>
                </a:solidFill>
              </a:rPr>
              <a:t>of</a:t>
            </a:r>
            <a:r>
              <a:rPr spc="-140" dirty="0">
                <a:solidFill>
                  <a:srgbClr val="00506D"/>
                </a:solidFill>
              </a:rPr>
              <a:t> </a:t>
            </a:r>
            <a:r>
              <a:rPr spc="-75" dirty="0">
                <a:solidFill>
                  <a:srgbClr val="00506D"/>
                </a:solidFill>
              </a:rPr>
              <a:t>Forms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39" y="1062566"/>
            <a:ext cx="5509260" cy="130746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7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185" dirty="0">
                <a:solidFill>
                  <a:srgbClr val="3E3E3E"/>
                </a:solidFill>
                <a:latin typeface="Arial"/>
                <a:cs typeface="Arial"/>
              </a:rPr>
              <a:t>Forms </a:t>
            </a:r>
            <a:r>
              <a:rPr sz="2800" spc="-130" dirty="0">
                <a:solidFill>
                  <a:srgbClr val="3E3E3E"/>
                </a:solidFill>
                <a:latin typeface="Arial"/>
                <a:cs typeface="Arial"/>
              </a:rPr>
              <a:t>are </a:t>
            </a:r>
            <a:r>
              <a:rPr sz="2800" spc="-160" dirty="0">
                <a:solidFill>
                  <a:srgbClr val="3E3E3E"/>
                </a:solidFill>
                <a:latin typeface="Arial"/>
                <a:cs typeface="Arial"/>
              </a:rPr>
              <a:t>used 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all </a:t>
            </a: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over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Web</a:t>
            </a:r>
            <a:r>
              <a:rPr sz="2800" spc="-4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10" dirty="0">
                <a:solidFill>
                  <a:srgbClr val="3E3E3E"/>
                </a:solidFill>
                <a:latin typeface="Arial"/>
                <a:cs typeface="Arial"/>
              </a:rPr>
              <a:t>to:</a:t>
            </a:r>
            <a:endParaRPr sz="2800">
              <a:latin typeface="Arial"/>
              <a:cs typeface="Arial"/>
            </a:endParaRPr>
          </a:p>
          <a:p>
            <a:pPr marL="756920" lvl="1" indent="-287020">
              <a:lnSpc>
                <a:spcPct val="100000"/>
              </a:lnSpc>
              <a:spcBef>
                <a:spcPts val="320"/>
              </a:spcBef>
              <a:buChar char="–"/>
              <a:tabLst>
                <a:tab pos="756920" algn="l"/>
              </a:tabLst>
            </a:pP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Accept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information</a:t>
            </a:r>
            <a:endParaRPr sz="2400">
              <a:latin typeface="Arial"/>
              <a:cs typeface="Arial"/>
            </a:endParaRPr>
          </a:p>
          <a:p>
            <a:pPr marL="756920" lvl="1" indent="-287020">
              <a:lnSpc>
                <a:spcPct val="100000"/>
              </a:lnSpc>
              <a:spcBef>
                <a:spcPts val="280"/>
              </a:spcBef>
              <a:buChar char="–"/>
              <a:tabLst>
                <a:tab pos="756920" algn="l"/>
              </a:tabLst>
            </a:pP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Provide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3E3E3E"/>
                </a:solidFill>
                <a:latin typeface="Arial"/>
                <a:cs typeface="Arial"/>
              </a:rPr>
              <a:t>interactivity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139" y="3470486"/>
            <a:ext cx="6843395" cy="156400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7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235" dirty="0">
                <a:solidFill>
                  <a:srgbClr val="3E3E3E"/>
                </a:solidFill>
                <a:latin typeface="Arial"/>
                <a:cs typeface="Arial"/>
              </a:rPr>
              <a:t>Types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800" spc="-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3E3E3E"/>
                </a:solidFill>
                <a:latin typeface="Arial"/>
                <a:cs typeface="Arial"/>
              </a:rPr>
              <a:t>forms:</a:t>
            </a:r>
            <a:endParaRPr sz="2800">
              <a:latin typeface="Arial"/>
              <a:cs typeface="Arial"/>
            </a:endParaRPr>
          </a:p>
          <a:p>
            <a:pPr marL="756920" marR="5080" indent="-287020">
              <a:lnSpc>
                <a:spcPct val="89900"/>
              </a:lnSpc>
              <a:spcBef>
                <a:spcPts val="615"/>
              </a:spcBef>
              <a:tabLst>
                <a:tab pos="3207385" algn="l"/>
              </a:tabLst>
            </a:pP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2400" spc="-185" dirty="0">
                <a:solidFill>
                  <a:srgbClr val="3E3E3E"/>
                </a:solidFill>
                <a:latin typeface="Arial"/>
                <a:cs typeface="Arial"/>
              </a:rPr>
              <a:t>Search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form,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Order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form, </a:t>
            </a:r>
            <a:r>
              <a:rPr sz="2400" spc="-70" dirty="0">
                <a:solidFill>
                  <a:srgbClr val="3E3E3E"/>
                </a:solidFill>
                <a:latin typeface="Arial"/>
                <a:cs typeface="Arial"/>
              </a:rPr>
              <a:t>Newsletter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sign-up 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form,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60" dirty="0">
                <a:solidFill>
                  <a:srgbClr val="3E3E3E"/>
                </a:solidFill>
                <a:latin typeface="Arial"/>
                <a:cs typeface="Arial"/>
              </a:rPr>
              <a:t>Survey</a:t>
            </a:r>
            <a:r>
              <a:rPr sz="2400" spc="-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form,	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Add 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Cart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form, 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Login</a:t>
            </a:r>
            <a:r>
              <a:rPr sz="2400" spc="-4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form, 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400" spc="-170" dirty="0">
                <a:solidFill>
                  <a:srgbClr val="3E3E3E"/>
                </a:solidFill>
                <a:latin typeface="Arial"/>
                <a:cs typeface="Arial"/>
              </a:rPr>
              <a:t>so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5" dirty="0">
                <a:solidFill>
                  <a:srgbClr val="3E3E3E"/>
                </a:solidFill>
                <a:latin typeface="Arial"/>
                <a:cs typeface="Arial"/>
              </a:rPr>
              <a:t>on…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91639" y="2651760"/>
            <a:ext cx="5608320" cy="7442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12" name="object 12"/>
          <p:cNvSpPr txBox="1"/>
          <p:nvPr/>
        </p:nvSpPr>
        <p:spPr>
          <a:xfrm>
            <a:off x="8978900" y="6629400"/>
            <a:ext cx="17780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70" dirty="0">
                <a:solidFill>
                  <a:srgbClr val="C0C0C0"/>
                </a:solidFill>
                <a:latin typeface="Arial"/>
                <a:cs typeface="Arial"/>
              </a:rPr>
              <a:t>23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738250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10" dirty="0"/>
              <a:t>How </a:t>
            </a:r>
            <a:r>
              <a:rPr sz="4000" spc="25" dirty="0"/>
              <a:t>forms interact </a:t>
            </a:r>
            <a:r>
              <a:rPr sz="4000" spc="-30" dirty="0"/>
              <a:t>with</a:t>
            </a:r>
            <a:r>
              <a:rPr sz="4000" spc="180" dirty="0"/>
              <a:t> </a:t>
            </a:r>
            <a:r>
              <a:rPr sz="4000" spc="155" dirty="0"/>
              <a:t>servers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85800" y="1031239"/>
            <a:ext cx="7162800" cy="5336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2140" y="396240"/>
            <a:ext cx="624967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40" dirty="0">
                <a:solidFill>
                  <a:srgbClr val="00506D"/>
                </a:solidFill>
              </a:rPr>
              <a:t>Attributes </a:t>
            </a:r>
            <a:r>
              <a:rPr spc="-5" dirty="0">
                <a:solidFill>
                  <a:srgbClr val="00506D"/>
                </a:solidFill>
              </a:rPr>
              <a:t>of </a:t>
            </a:r>
            <a:r>
              <a:rPr spc="50" dirty="0">
                <a:solidFill>
                  <a:srgbClr val="00506D"/>
                </a:solidFill>
              </a:rPr>
              <a:t>the </a:t>
            </a:r>
            <a:r>
              <a:rPr spc="-300" dirty="0">
                <a:solidFill>
                  <a:srgbClr val="00506D"/>
                </a:solidFill>
              </a:rPr>
              <a:t>&lt;</a:t>
            </a:r>
            <a:r>
              <a:rPr b="1" spc="-300" dirty="0">
                <a:solidFill>
                  <a:srgbClr val="00506D"/>
                </a:solidFill>
                <a:latin typeface="Georgia"/>
                <a:cs typeface="Georgia"/>
              </a:rPr>
              <a:t>form&gt;  </a:t>
            </a:r>
            <a:r>
              <a:rPr spc="90" dirty="0">
                <a:solidFill>
                  <a:srgbClr val="00506D"/>
                </a:solidFill>
              </a:rPr>
              <a:t>element: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1069339" y="1805940"/>
            <a:ext cx="6858000" cy="379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720" indent="-287020">
              <a:lnSpc>
                <a:spcPct val="100000"/>
              </a:lnSpc>
              <a:spcBef>
                <a:spcPts val="100"/>
              </a:spcBef>
              <a:buFont typeface="Arial"/>
              <a:buChar char="–"/>
              <a:tabLst>
                <a:tab pos="299720" algn="l"/>
              </a:tabLst>
            </a:pPr>
            <a:r>
              <a:rPr sz="2400" b="1" spc="-140" dirty="0">
                <a:solidFill>
                  <a:srgbClr val="3E3E3E"/>
                </a:solidFill>
                <a:latin typeface="Arial"/>
                <a:cs typeface="Arial"/>
              </a:rPr>
              <a:t>name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: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identifier for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3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form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E3E3E"/>
              </a:buClr>
              <a:buFont typeface="Arial"/>
              <a:buChar char="–"/>
            </a:pPr>
            <a:endParaRPr sz="300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buFont typeface="Arial"/>
              <a:buChar char="–"/>
              <a:tabLst>
                <a:tab pos="299720" algn="l"/>
              </a:tabLst>
            </a:pPr>
            <a:r>
              <a:rPr sz="2400" b="1" spc="-135" dirty="0">
                <a:solidFill>
                  <a:srgbClr val="3E3E3E"/>
                </a:solidFill>
                <a:latin typeface="Arial"/>
                <a:cs typeface="Arial"/>
              </a:rPr>
              <a:t>action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: </a:t>
            </a:r>
            <a:r>
              <a:rPr sz="2400" spc="-320" dirty="0">
                <a:solidFill>
                  <a:srgbClr val="3E3E3E"/>
                </a:solidFill>
                <a:latin typeface="Arial"/>
                <a:cs typeface="Arial"/>
              </a:rPr>
              <a:t>URL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file</a:t>
            </a:r>
            <a:r>
              <a:rPr sz="24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that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srgbClr val="3E3E3E"/>
                </a:solidFill>
                <a:latin typeface="Arial"/>
                <a:cs typeface="Arial"/>
              </a:rPr>
              <a:t>will</a:t>
            </a:r>
            <a:r>
              <a:rPr sz="24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45" dirty="0">
                <a:solidFill>
                  <a:srgbClr val="3E3E3E"/>
                </a:solidFill>
                <a:latin typeface="Arial"/>
                <a:cs typeface="Arial"/>
              </a:rPr>
              <a:t>process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3E3E3E"/>
              </a:buClr>
              <a:buFont typeface="Arial"/>
              <a:buChar char="–"/>
            </a:pPr>
            <a:endParaRPr sz="3300">
              <a:latin typeface="Times New Roman"/>
              <a:cs typeface="Times New Roman"/>
            </a:endParaRPr>
          </a:p>
          <a:p>
            <a:pPr marL="299720" marR="5080" indent="-287020">
              <a:lnSpc>
                <a:spcPts val="2580"/>
              </a:lnSpc>
              <a:buFont typeface="Arial"/>
              <a:buChar char="–"/>
              <a:tabLst>
                <a:tab pos="299720" algn="l"/>
              </a:tabLst>
            </a:pPr>
            <a:r>
              <a:rPr sz="2400" b="1" spc="-125" dirty="0">
                <a:solidFill>
                  <a:srgbClr val="3E3E3E"/>
                </a:solidFill>
                <a:latin typeface="Arial"/>
                <a:cs typeface="Arial"/>
              </a:rPr>
              <a:t>method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: </a:t>
            </a:r>
            <a:r>
              <a:rPr sz="2400" spc="-295" dirty="0">
                <a:solidFill>
                  <a:srgbClr val="3E3E3E"/>
                </a:solidFill>
                <a:latin typeface="Arial"/>
                <a:cs typeface="Arial"/>
              </a:rPr>
              <a:t>HTTP </a:t>
            </a:r>
            <a:r>
              <a:rPr sz="2400" spc="-60" dirty="0">
                <a:solidFill>
                  <a:srgbClr val="3E3E3E"/>
                </a:solidFill>
                <a:latin typeface="Arial"/>
                <a:cs typeface="Arial"/>
              </a:rPr>
              <a:t>method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for 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submitting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85" dirty="0">
                <a:solidFill>
                  <a:srgbClr val="3E3E3E"/>
                </a:solidFill>
                <a:latin typeface="Arial"/>
                <a:cs typeface="Arial"/>
              </a:rPr>
              <a:t>data;</a:t>
            </a:r>
            <a:r>
              <a:rPr sz="2400" spc="-3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“get” 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or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srgbClr val="3E3E3E"/>
                </a:solidFill>
                <a:latin typeface="Arial"/>
                <a:cs typeface="Arial"/>
              </a:rPr>
              <a:t>“post”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3E3E3E"/>
              </a:buClr>
              <a:buFont typeface="Arial"/>
              <a:buChar char="–"/>
            </a:pPr>
            <a:endParaRPr sz="3200">
              <a:latin typeface="Times New Roman"/>
              <a:cs typeface="Times New Roman"/>
            </a:endParaRPr>
          </a:p>
          <a:p>
            <a:pPr marL="299720" marR="331470" indent="-287020" algn="just">
              <a:lnSpc>
                <a:spcPct val="89900"/>
              </a:lnSpc>
              <a:buFont typeface="Arial"/>
              <a:buChar char="–"/>
              <a:tabLst>
                <a:tab pos="299720" algn="l"/>
              </a:tabLst>
            </a:pPr>
            <a:r>
              <a:rPr sz="2400" b="1" spc="-85" dirty="0">
                <a:solidFill>
                  <a:srgbClr val="3E3E3E"/>
                </a:solidFill>
                <a:latin typeface="Arial"/>
                <a:cs typeface="Arial"/>
              </a:rPr>
              <a:t>[target]</a:t>
            </a:r>
            <a:r>
              <a:rPr sz="2400" spc="-85" dirty="0">
                <a:solidFill>
                  <a:srgbClr val="3E3E3E"/>
                </a:solidFill>
                <a:latin typeface="Arial"/>
                <a:cs typeface="Arial"/>
              </a:rPr>
              <a:t>: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where 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open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185" dirty="0">
                <a:solidFill>
                  <a:srgbClr val="3E3E3E"/>
                </a:solidFill>
                <a:latin typeface="Arial"/>
                <a:cs typeface="Arial"/>
              </a:rPr>
              <a:t>pages </a:t>
            </a:r>
            <a:r>
              <a:rPr sz="2400" spc="-85" dirty="0">
                <a:solidFill>
                  <a:srgbClr val="3E3E3E"/>
                </a:solidFill>
                <a:latin typeface="Arial"/>
                <a:cs typeface="Arial"/>
              </a:rPr>
              <a:t>specified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in the 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action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attribute; </a:t>
            </a:r>
            <a:r>
              <a:rPr sz="2400" spc="-100" dirty="0">
                <a:solidFill>
                  <a:srgbClr val="3E3E3E"/>
                </a:solidFill>
                <a:latin typeface="Arial"/>
                <a:cs typeface="Arial"/>
              </a:rPr>
              <a:t>_blank 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opens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new 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window</a:t>
            </a:r>
            <a:r>
              <a:rPr sz="2400" spc="-43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or  </a:t>
            </a:r>
            <a:r>
              <a:rPr sz="2400" spc="-60" dirty="0">
                <a:solidFill>
                  <a:srgbClr val="3E3E3E"/>
                </a:solidFill>
                <a:latin typeface="Arial"/>
                <a:cs typeface="Arial"/>
              </a:rPr>
              <a:t>tab.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301840"/>
            <a:ext cx="33661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GET </a:t>
            </a:r>
            <a:r>
              <a:rPr spc="150" dirty="0"/>
              <a:t>vs</a:t>
            </a:r>
            <a:r>
              <a:rPr dirty="0"/>
              <a:t> </a:t>
            </a:r>
            <a:r>
              <a:rPr spc="-65" dirty="0"/>
              <a:t>POST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612140" y="1071879"/>
            <a:ext cx="8018780" cy="5090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900" b="1" spc="-180" dirty="0">
                <a:solidFill>
                  <a:srgbClr val="3E3E3E"/>
                </a:solidFill>
                <a:latin typeface="Georgia"/>
                <a:cs typeface="Georgia"/>
              </a:rPr>
              <a:t>Get</a:t>
            </a:r>
            <a:r>
              <a:rPr sz="2900" spc="-180" dirty="0">
                <a:solidFill>
                  <a:srgbClr val="3E3E3E"/>
                </a:solidFill>
                <a:latin typeface="Arial"/>
                <a:cs typeface="Arial"/>
              </a:rPr>
              <a:t>: </a:t>
            </a:r>
            <a:r>
              <a:rPr sz="2900" spc="-35" dirty="0">
                <a:solidFill>
                  <a:srgbClr val="3E3E3E"/>
                </a:solidFill>
                <a:latin typeface="Arial"/>
                <a:cs typeface="Arial"/>
              </a:rPr>
              <a:t>form </a:t>
            </a:r>
            <a:r>
              <a:rPr sz="2900" spc="-114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900" spc="-15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900" spc="-110" dirty="0">
                <a:solidFill>
                  <a:srgbClr val="3E3E3E"/>
                </a:solidFill>
                <a:latin typeface="Arial"/>
                <a:cs typeface="Arial"/>
              </a:rPr>
              <a:t>sent </a:t>
            </a:r>
            <a:r>
              <a:rPr sz="2900" spc="-275" dirty="0">
                <a:solidFill>
                  <a:srgbClr val="3E3E3E"/>
                </a:solidFill>
                <a:latin typeface="Arial"/>
                <a:cs typeface="Arial"/>
              </a:rPr>
              <a:t>as </a:t>
            </a:r>
            <a:r>
              <a:rPr sz="2900" spc="-30" dirty="0">
                <a:solidFill>
                  <a:srgbClr val="3E3E3E"/>
                </a:solidFill>
                <a:latin typeface="Arial"/>
                <a:cs typeface="Arial"/>
              </a:rPr>
              <a:t>part </a:t>
            </a:r>
            <a:r>
              <a:rPr sz="2900" spc="-1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900" spc="-3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900" spc="-385" dirty="0">
                <a:solidFill>
                  <a:srgbClr val="3E3E3E"/>
                </a:solidFill>
                <a:latin typeface="Arial"/>
                <a:cs typeface="Arial"/>
              </a:rPr>
              <a:t>URL</a:t>
            </a:r>
            <a:endParaRPr sz="2900">
              <a:latin typeface="Arial"/>
              <a:cs typeface="Arial"/>
            </a:endParaRPr>
          </a:p>
          <a:p>
            <a:pPr marL="756920" lvl="1" indent="-287020">
              <a:lnSpc>
                <a:spcPct val="100000"/>
              </a:lnSpc>
              <a:buChar char="–"/>
              <a:tabLst>
                <a:tab pos="756920" algn="l"/>
              </a:tabLst>
            </a:pPr>
            <a:r>
              <a:rPr sz="2900" spc="-3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900" spc="-114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900" spc="-15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900" spc="-100" dirty="0">
                <a:solidFill>
                  <a:srgbClr val="3E3E3E"/>
                </a:solidFill>
                <a:latin typeface="Arial"/>
                <a:cs typeface="Arial"/>
              </a:rPr>
              <a:t>visible </a:t>
            </a:r>
            <a:r>
              <a:rPr sz="2900" spc="-145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900" spc="-195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900" spc="-135" dirty="0">
                <a:solidFill>
                  <a:srgbClr val="3E3E3E"/>
                </a:solidFill>
                <a:latin typeface="Arial"/>
                <a:cs typeface="Arial"/>
              </a:rPr>
              <a:t>be</a:t>
            </a:r>
            <a:r>
              <a:rPr sz="2900" spc="-3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900" spc="-120" dirty="0">
                <a:solidFill>
                  <a:srgbClr val="3E3E3E"/>
                </a:solidFill>
                <a:latin typeface="Arial"/>
                <a:cs typeface="Arial"/>
              </a:rPr>
              <a:t>bookmarked</a:t>
            </a:r>
            <a:endParaRPr sz="2900">
              <a:latin typeface="Arial"/>
              <a:cs typeface="Arial"/>
            </a:endParaRPr>
          </a:p>
          <a:p>
            <a:pPr marL="12700" marR="902969">
              <a:lnSpc>
                <a:spcPct val="79700"/>
              </a:lnSpc>
              <a:spcBef>
                <a:spcPts val="700"/>
              </a:spcBef>
            </a:pPr>
            <a:r>
              <a:rPr sz="2800" spc="-20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800" spc="-370" dirty="0">
                <a:solidFill>
                  <a:srgbClr val="3E3E3E"/>
                </a:solidFill>
                <a:latin typeface="Arial"/>
                <a:cs typeface="Arial"/>
              </a:rPr>
              <a:t>URL </a:t>
            </a:r>
            <a:r>
              <a:rPr sz="2800" spc="-90" dirty="0">
                <a:solidFill>
                  <a:srgbClr val="3E3E3E"/>
                </a:solidFill>
                <a:latin typeface="Arial"/>
                <a:cs typeface="Arial"/>
              </a:rPr>
              <a:t>when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 form </a:t>
            </a:r>
            <a:r>
              <a:rPr sz="2800" spc="-14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submitted 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with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800" spc="-4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get  </a:t>
            </a:r>
            <a:r>
              <a:rPr sz="2800" spc="-60" dirty="0">
                <a:solidFill>
                  <a:srgbClr val="3E3E3E"/>
                </a:solidFill>
                <a:latin typeface="Arial"/>
                <a:cs typeface="Arial"/>
              </a:rPr>
              <a:t>method: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2380"/>
              </a:lnSpc>
              <a:spcBef>
                <a:spcPts val="60"/>
              </a:spcBef>
            </a:pPr>
            <a:r>
              <a:rPr sz="2000" b="1" spc="-135" dirty="0">
                <a:solidFill>
                  <a:srgbClr val="3E3E3E"/>
                </a:solidFill>
                <a:latin typeface="Georgia"/>
                <a:cs typeface="Georgia"/>
              </a:rPr>
              <a:t>subscribe.php</a:t>
            </a:r>
            <a:r>
              <a:rPr sz="2000" b="1" spc="-135" dirty="0">
                <a:solidFill>
                  <a:srgbClr val="9B1F26"/>
                </a:solidFill>
                <a:latin typeface="Georgia"/>
                <a:cs typeface="Georgia"/>
              </a:rPr>
              <a:t>?email=zak%40modulemedia.com&amp;submit=Subscribe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ts val="2980"/>
              </a:lnSpc>
            </a:pPr>
            <a:r>
              <a:rPr sz="2500" spc="-18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500" spc="-9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500" spc="-12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500" spc="-30" dirty="0">
                <a:solidFill>
                  <a:srgbClr val="3E3E3E"/>
                </a:solidFill>
                <a:latin typeface="Arial"/>
                <a:cs typeface="Arial"/>
              </a:rPr>
              <a:t>after the </a:t>
            </a:r>
            <a:r>
              <a:rPr sz="2500" b="1" spc="-370" dirty="0">
                <a:solidFill>
                  <a:srgbClr val="3E3E3E"/>
                </a:solidFill>
                <a:latin typeface="Arial"/>
                <a:cs typeface="Arial"/>
              </a:rPr>
              <a:t>? </a:t>
            </a:r>
            <a:r>
              <a:rPr sz="2500" spc="-114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500" spc="-12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500" spc="-100" dirty="0">
                <a:solidFill>
                  <a:srgbClr val="3E3E3E"/>
                </a:solidFill>
                <a:latin typeface="Arial"/>
                <a:cs typeface="Arial"/>
              </a:rPr>
              <a:t>called </a:t>
            </a:r>
            <a:r>
              <a:rPr sz="25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500" b="1" i="1" spc="-175" dirty="0">
                <a:solidFill>
                  <a:srgbClr val="3E3E3E"/>
                </a:solidFill>
                <a:latin typeface="Trebuchet MS"/>
                <a:cs typeface="Trebuchet MS"/>
              </a:rPr>
              <a:t>query</a:t>
            </a:r>
            <a:r>
              <a:rPr sz="2500" b="1" i="1" spc="-37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500" b="1" i="1" spc="-165" dirty="0">
                <a:solidFill>
                  <a:srgbClr val="3E3E3E"/>
                </a:solidFill>
                <a:latin typeface="Trebuchet MS"/>
                <a:cs typeface="Trebuchet MS"/>
              </a:rPr>
              <a:t>string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354965" marR="184785" indent="-342265">
              <a:lnSpc>
                <a:spcPct val="80000"/>
              </a:lnSpc>
              <a:spcBef>
                <a:spcPts val="1445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000" b="1" spc="-170" dirty="0">
                <a:solidFill>
                  <a:srgbClr val="3E3E3E"/>
                </a:solidFill>
                <a:latin typeface="Georgia"/>
                <a:cs typeface="Georgia"/>
              </a:rPr>
              <a:t>Post</a:t>
            </a:r>
            <a:r>
              <a:rPr sz="2500" spc="-170" dirty="0">
                <a:solidFill>
                  <a:srgbClr val="3E3E3E"/>
                </a:solidFill>
                <a:latin typeface="Arial"/>
                <a:cs typeface="Arial"/>
              </a:rPr>
              <a:t>: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form </a:t>
            </a:r>
            <a:r>
              <a:rPr sz="2600" spc="-10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600" spc="-13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600" spc="-170" dirty="0">
                <a:solidFill>
                  <a:srgbClr val="3E3E3E"/>
                </a:solidFill>
                <a:latin typeface="Arial"/>
                <a:cs typeface="Arial"/>
              </a:rPr>
              <a:t>packaged </a:t>
            </a:r>
            <a:r>
              <a:rPr sz="2600" spc="-250" dirty="0">
                <a:solidFill>
                  <a:srgbClr val="3E3E3E"/>
                </a:solidFill>
                <a:latin typeface="Arial"/>
                <a:cs typeface="Arial"/>
              </a:rPr>
              <a:t>as 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part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600" spc="-150" dirty="0">
                <a:solidFill>
                  <a:srgbClr val="3E3E3E"/>
                </a:solidFill>
                <a:latin typeface="Arial"/>
                <a:cs typeface="Arial"/>
              </a:rPr>
              <a:t>an </a:t>
            </a:r>
            <a:r>
              <a:rPr sz="2600" spc="-320" dirty="0">
                <a:solidFill>
                  <a:srgbClr val="3E3E3E"/>
                </a:solidFill>
                <a:latin typeface="Arial"/>
                <a:cs typeface="Arial"/>
              </a:rPr>
              <a:t>HTTP </a:t>
            </a:r>
            <a:r>
              <a:rPr sz="2600" spc="-95" dirty="0">
                <a:solidFill>
                  <a:srgbClr val="3E3E3E"/>
                </a:solidFill>
                <a:latin typeface="Arial"/>
                <a:cs typeface="Arial"/>
              </a:rPr>
              <a:t>request  </a:t>
            </a:r>
            <a:r>
              <a:rPr sz="2600" spc="-13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isn’t </a:t>
            </a:r>
            <a:r>
              <a:rPr sz="2600" spc="-85" dirty="0">
                <a:solidFill>
                  <a:srgbClr val="3E3E3E"/>
                </a:solidFill>
                <a:latin typeface="Arial"/>
                <a:cs typeface="Arial"/>
              </a:rPr>
              <a:t>visible </a:t>
            </a:r>
            <a:r>
              <a:rPr sz="2600" spc="-120" dirty="0">
                <a:solidFill>
                  <a:srgbClr val="3E3E3E"/>
                </a:solidFill>
                <a:latin typeface="Arial"/>
                <a:cs typeface="Arial"/>
              </a:rPr>
              <a:t>by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600" spc="-3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90" dirty="0">
                <a:solidFill>
                  <a:srgbClr val="3E3E3E"/>
                </a:solidFill>
                <a:latin typeface="Arial"/>
                <a:cs typeface="Arial"/>
              </a:rPr>
              <a:t>browser</a:t>
            </a:r>
            <a:endParaRPr sz="2600">
              <a:latin typeface="Arial"/>
              <a:cs typeface="Arial"/>
            </a:endParaRPr>
          </a:p>
          <a:p>
            <a:pPr marL="756920" lvl="1" indent="-287020">
              <a:lnSpc>
                <a:spcPct val="100000"/>
              </a:lnSpc>
              <a:buChar char="–"/>
              <a:tabLst>
                <a:tab pos="756920" algn="l"/>
              </a:tabLst>
            </a:pPr>
            <a:r>
              <a:rPr sz="2600" spc="-85" dirty="0">
                <a:solidFill>
                  <a:srgbClr val="3E3E3E"/>
                </a:solidFill>
                <a:latin typeface="Arial"/>
                <a:cs typeface="Arial"/>
              </a:rPr>
              <a:t>more</a:t>
            </a:r>
            <a:r>
              <a:rPr sz="26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60" dirty="0">
                <a:solidFill>
                  <a:srgbClr val="3E3E3E"/>
                </a:solidFill>
                <a:latin typeface="Arial"/>
                <a:cs typeface="Arial"/>
              </a:rPr>
              <a:t>secure</a:t>
            </a:r>
            <a:endParaRPr sz="2600">
              <a:latin typeface="Arial"/>
              <a:cs typeface="Arial"/>
            </a:endParaRPr>
          </a:p>
          <a:p>
            <a:pPr marL="756920" lvl="1" indent="-287020">
              <a:lnSpc>
                <a:spcPct val="100000"/>
              </a:lnSpc>
              <a:buChar char="–"/>
              <a:tabLst>
                <a:tab pos="756920" algn="l"/>
              </a:tabLst>
            </a:pPr>
            <a:r>
              <a:rPr sz="2600" spc="-75" dirty="0">
                <a:solidFill>
                  <a:srgbClr val="3E3E3E"/>
                </a:solidFill>
                <a:latin typeface="Arial"/>
                <a:cs typeface="Arial"/>
              </a:rPr>
              <a:t>resulting </a:t>
            </a:r>
            <a:r>
              <a:rPr sz="2600" spc="-180" dirty="0">
                <a:solidFill>
                  <a:srgbClr val="3E3E3E"/>
                </a:solidFill>
                <a:latin typeface="Arial"/>
                <a:cs typeface="Arial"/>
              </a:rPr>
              <a:t>page </a:t>
            </a:r>
            <a:r>
              <a:rPr sz="2600" spc="-65" dirty="0">
                <a:solidFill>
                  <a:srgbClr val="3E3E3E"/>
                </a:solidFill>
                <a:latin typeface="Arial"/>
                <a:cs typeface="Arial"/>
              </a:rPr>
              <a:t>can’t </a:t>
            </a:r>
            <a:r>
              <a:rPr sz="2600" spc="-125" dirty="0">
                <a:solidFill>
                  <a:srgbClr val="3E3E3E"/>
                </a:solidFill>
                <a:latin typeface="Arial"/>
                <a:cs typeface="Arial"/>
              </a:rPr>
              <a:t>be</a:t>
            </a:r>
            <a:r>
              <a:rPr sz="2600" spc="-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10" dirty="0">
                <a:solidFill>
                  <a:srgbClr val="3E3E3E"/>
                </a:solidFill>
                <a:latin typeface="Arial"/>
                <a:cs typeface="Arial"/>
              </a:rPr>
              <a:t>bookmarked</a:t>
            </a:r>
            <a:endParaRPr sz="2600">
              <a:latin typeface="Arial"/>
              <a:cs typeface="Arial"/>
            </a:endParaRPr>
          </a:p>
          <a:p>
            <a:pPr marL="354965" indent="-342265">
              <a:lnSpc>
                <a:spcPts val="3120"/>
              </a:lnSpc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b="1" spc="-125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800" b="1" spc="-114" dirty="0">
                <a:solidFill>
                  <a:srgbClr val="3E3E3E"/>
                </a:solidFill>
                <a:latin typeface="Arial"/>
                <a:cs typeface="Arial"/>
              </a:rPr>
              <a:t>either </a:t>
            </a:r>
            <a:r>
              <a:rPr sz="2800" b="1" spc="-270" dirty="0">
                <a:solidFill>
                  <a:srgbClr val="3E3E3E"/>
                </a:solidFill>
                <a:latin typeface="Arial"/>
                <a:cs typeface="Arial"/>
              </a:rPr>
              <a:t>case: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800" spc="-200" dirty="0">
                <a:solidFill>
                  <a:srgbClr val="3E3E3E"/>
                </a:solidFill>
                <a:latin typeface="Arial"/>
                <a:cs typeface="Arial"/>
              </a:rPr>
              <a:t>same </a:t>
            </a:r>
            <a:r>
              <a:rPr sz="2800" spc="-10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800" spc="-145" dirty="0">
                <a:solidFill>
                  <a:srgbClr val="3E3E3E"/>
                </a:solidFill>
                <a:latin typeface="Arial"/>
                <a:cs typeface="Arial"/>
              </a:rPr>
              <a:t>is</a:t>
            </a:r>
            <a:r>
              <a:rPr sz="28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3E3E3E"/>
                </a:solidFill>
                <a:latin typeface="Arial"/>
                <a:cs typeface="Arial"/>
              </a:rPr>
              <a:t>transmitted: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ts val="2400"/>
              </a:lnSpc>
            </a:pPr>
            <a:r>
              <a:rPr sz="2200" b="1" spc="-150" dirty="0">
                <a:solidFill>
                  <a:srgbClr val="9B1F26"/>
                </a:solidFill>
                <a:latin typeface="Georgia"/>
                <a:cs typeface="Georgia"/>
              </a:rPr>
              <a:t>?email=zak%40modulemedia.com&amp;submit=Subscribe</a:t>
            </a:r>
            <a:endParaRPr sz="22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33661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GET </a:t>
            </a:r>
            <a:r>
              <a:rPr spc="150" dirty="0"/>
              <a:t>vs</a:t>
            </a:r>
            <a:r>
              <a:rPr spc="5" dirty="0"/>
              <a:t> </a:t>
            </a:r>
            <a:r>
              <a:rPr spc="-65" dirty="0"/>
              <a:t>POST</a:t>
            </a:r>
          </a:p>
        </p:txBody>
      </p:sp>
      <p:sp>
        <p:nvSpPr>
          <p:cNvPr id="3" name="object 3"/>
          <p:cNvSpPr/>
          <p:nvPr/>
        </p:nvSpPr>
        <p:spPr>
          <a:xfrm>
            <a:off x="685800" y="838200"/>
            <a:ext cx="7713980" cy="502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36023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Query</a:t>
            </a:r>
            <a:r>
              <a:rPr spc="-30" dirty="0"/>
              <a:t> </a:t>
            </a:r>
            <a:r>
              <a:rPr spc="45" dirty="0"/>
              <a:t>Strings</a:t>
            </a:r>
          </a:p>
        </p:txBody>
      </p:sp>
      <p:sp>
        <p:nvSpPr>
          <p:cNvPr id="3" name="object 3"/>
          <p:cNvSpPr/>
          <p:nvPr/>
        </p:nvSpPr>
        <p:spPr>
          <a:xfrm>
            <a:off x="129539" y="1828800"/>
            <a:ext cx="8328659" cy="3139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606165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-385" dirty="0"/>
              <a:t>URL</a:t>
            </a:r>
            <a:r>
              <a:rPr spc="-25" dirty="0"/>
              <a:t> </a:t>
            </a:r>
            <a:r>
              <a:rPr spc="170" dirty="0"/>
              <a:t>encoding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40" dirty="0"/>
              <a:t>Special</a:t>
            </a:r>
            <a:r>
              <a:rPr sz="1500" spc="10" dirty="0"/>
              <a:t> </a:t>
            </a:r>
            <a:r>
              <a:rPr sz="1500" spc="45" dirty="0"/>
              <a:t>symbols</a:t>
            </a:r>
            <a:endParaRPr sz="1500"/>
          </a:p>
        </p:txBody>
      </p:sp>
      <p:sp>
        <p:nvSpPr>
          <p:cNvPr id="7" name="object 7"/>
          <p:cNvSpPr/>
          <p:nvPr/>
        </p:nvSpPr>
        <p:spPr>
          <a:xfrm>
            <a:off x="711200" y="1219200"/>
            <a:ext cx="7416800" cy="2613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2140" y="3922712"/>
            <a:ext cx="777494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260" dirty="0">
                <a:solidFill>
                  <a:srgbClr val="3E3E3E"/>
                </a:solidFill>
                <a:latin typeface="Arial"/>
                <a:cs typeface="Arial"/>
              </a:rPr>
              <a:t>URLs,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including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query</a:t>
            </a:r>
            <a:r>
              <a:rPr sz="2400" spc="-48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3E3E3E"/>
                </a:solidFill>
                <a:latin typeface="Arial"/>
                <a:cs typeface="Arial"/>
              </a:rPr>
              <a:t>strings:</a:t>
            </a:r>
            <a:endParaRPr sz="24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buChar char="•"/>
              <a:tabLst>
                <a:tab pos="812165" algn="l"/>
                <a:tab pos="812800" algn="l"/>
              </a:tabLst>
            </a:pPr>
            <a:r>
              <a:rPr sz="2400" spc="-80" dirty="0">
                <a:solidFill>
                  <a:srgbClr val="3E3E3E"/>
                </a:solidFill>
                <a:latin typeface="Arial"/>
                <a:cs typeface="Arial"/>
              </a:rPr>
              <a:t>must </a:t>
            </a:r>
            <a:r>
              <a:rPr sz="2400" spc="-165" dirty="0">
                <a:solidFill>
                  <a:srgbClr val="3E3E3E"/>
                </a:solidFill>
                <a:latin typeface="Arial"/>
                <a:cs typeface="Arial"/>
              </a:rPr>
              <a:t>use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only 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characters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from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265" dirty="0">
                <a:solidFill>
                  <a:srgbClr val="3E3E3E"/>
                </a:solidFill>
                <a:latin typeface="Arial"/>
                <a:cs typeface="Arial"/>
              </a:rPr>
              <a:t>ASCII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character</a:t>
            </a:r>
            <a:r>
              <a:rPr sz="2400" spc="-3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set</a:t>
            </a:r>
            <a:endParaRPr sz="24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buChar char="•"/>
              <a:tabLst>
                <a:tab pos="812165" algn="l"/>
                <a:tab pos="812800" algn="l"/>
              </a:tabLst>
            </a:pPr>
            <a:r>
              <a:rPr sz="2400" spc="-145" dirty="0">
                <a:solidFill>
                  <a:srgbClr val="3E3E3E"/>
                </a:solidFill>
                <a:latin typeface="Arial"/>
                <a:cs typeface="Arial"/>
              </a:rPr>
              <a:t>may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not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contain</a:t>
            </a:r>
            <a:r>
              <a:rPr sz="2400" spc="-2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spaces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spc="-229" dirty="0">
                <a:solidFill>
                  <a:srgbClr val="3E3E3E"/>
                </a:solidFill>
                <a:latin typeface="Arial"/>
                <a:cs typeface="Arial"/>
              </a:rPr>
              <a:t>Spaces 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are </a:t>
            </a:r>
            <a:r>
              <a:rPr sz="2400" spc="-100" dirty="0">
                <a:solidFill>
                  <a:srgbClr val="3E3E3E"/>
                </a:solidFill>
                <a:latin typeface="Arial"/>
                <a:cs typeface="Arial"/>
              </a:rPr>
              <a:t>replaced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with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either </a:t>
            </a:r>
            <a:r>
              <a:rPr sz="2400" spc="-210" dirty="0">
                <a:solidFill>
                  <a:srgbClr val="3E3E3E"/>
                </a:solidFill>
                <a:latin typeface="Arial"/>
                <a:cs typeface="Arial"/>
              </a:rPr>
              <a:t>+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or</a:t>
            </a:r>
            <a:r>
              <a:rPr sz="2400" spc="-229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3E3E3E"/>
                </a:solidFill>
                <a:latin typeface="Arial"/>
                <a:cs typeface="Arial"/>
              </a:rPr>
              <a:t>%20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spc="-70" dirty="0">
                <a:solidFill>
                  <a:srgbClr val="3E3E3E"/>
                </a:solidFill>
                <a:latin typeface="Arial"/>
                <a:cs typeface="Arial"/>
              </a:rPr>
              <a:t>Other 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values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not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in the </a:t>
            </a:r>
            <a:r>
              <a:rPr sz="2400" spc="-265" dirty="0">
                <a:solidFill>
                  <a:srgbClr val="3E3E3E"/>
                </a:solidFill>
                <a:latin typeface="Arial"/>
                <a:cs typeface="Arial"/>
              </a:rPr>
              <a:t>ASCII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character set 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are</a:t>
            </a:r>
            <a:r>
              <a:rPr sz="2400" spc="-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70" dirty="0">
                <a:solidFill>
                  <a:srgbClr val="3E3E3E"/>
                </a:solidFill>
                <a:latin typeface="Arial"/>
                <a:cs typeface="Arial"/>
              </a:rPr>
              <a:t>URL-encoded  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according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character</a:t>
            </a:r>
            <a:r>
              <a:rPr sz="24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set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for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3E3E3E"/>
                </a:solidFill>
                <a:latin typeface="Arial"/>
                <a:cs typeface="Arial"/>
              </a:rPr>
              <a:t>page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spc="-18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default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character set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for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HTML5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is</a:t>
            </a:r>
            <a:r>
              <a:rPr sz="2400" spc="-2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15" dirty="0">
                <a:solidFill>
                  <a:srgbClr val="3E3E3E"/>
                </a:solidFill>
                <a:latin typeface="Arial"/>
                <a:cs typeface="Arial"/>
              </a:rPr>
              <a:t>UTF-8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3366135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GET </a:t>
            </a:r>
            <a:r>
              <a:rPr spc="150" dirty="0"/>
              <a:t>vs</a:t>
            </a:r>
            <a:r>
              <a:rPr spc="5" dirty="0"/>
              <a:t> </a:t>
            </a:r>
            <a:r>
              <a:rPr spc="-65" dirty="0"/>
              <a:t>POST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b="1" spc="-40" dirty="0">
                <a:latin typeface="Georgia"/>
                <a:cs typeface="Georgia"/>
              </a:rPr>
              <a:t>Advantages </a:t>
            </a:r>
            <a:r>
              <a:rPr sz="1500" b="1" spc="-60" dirty="0">
                <a:latin typeface="Georgia"/>
                <a:cs typeface="Georgia"/>
              </a:rPr>
              <a:t>and</a:t>
            </a:r>
            <a:r>
              <a:rPr sz="1500" b="1" spc="10" dirty="0">
                <a:latin typeface="Georgia"/>
                <a:cs typeface="Georgia"/>
              </a:rPr>
              <a:t> </a:t>
            </a:r>
            <a:r>
              <a:rPr sz="1500" b="1" spc="-30" dirty="0">
                <a:latin typeface="Georgia"/>
                <a:cs typeface="Georgia"/>
              </a:rPr>
              <a:t>Disadvantages</a:t>
            </a:r>
            <a:endParaRPr sz="15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93036" y="1305559"/>
            <a:ext cx="7087234" cy="471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15" dirty="0">
                <a:solidFill>
                  <a:srgbClr val="3E3E3E"/>
                </a:solidFill>
                <a:latin typeface="Arial"/>
                <a:cs typeface="Arial"/>
              </a:rPr>
              <a:t>GET</a:t>
            </a:r>
            <a:endParaRPr sz="2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lr>
                <a:srgbClr val="765A0D"/>
              </a:buClr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800" spc="-185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800" spc="-125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clearly </a:t>
            </a:r>
            <a:r>
              <a:rPr sz="2800" spc="-180" dirty="0">
                <a:solidFill>
                  <a:srgbClr val="3E3E3E"/>
                </a:solidFill>
                <a:latin typeface="Arial"/>
                <a:cs typeface="Arial"/>
              </a:rPr>
              <a:t>seen 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address</a:t>
            </a:r>
            <a:r>
              <a:rPr sz="2800" spc="-4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rgbClr val="3E3E3E"/>
                </a:solidFill>
                <a:latin typeface="Arial"/>
                <a:cs typeface="Arial"/>
              </a:rPr>
              <a:t>bar.</a:t>
            </a:r>
            <a:endParaRPr sz="2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lr>
                <a:srgbClr val="765A0D"/>
              </a:buClr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800" spc="-125" dirty="0">
                <a:solidFill>
                  <a:srgbClr val="3E3E3E"/>
                </a:solidFill>
                <a:latin typeface="Arial"/>
                <a:cs typeface="Arial"/>
              </a:rPr>
              <a:t>remains 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browser </a:t>
            </a:r>
            <a:r>
              <a:rPr sz="2800" spc="-60" dirty="0">
                <a:solidFill>
                  <a:srgbClr val="3E3E3E"/>
                </a:solidFill>
                <a:latin typeface="Arial"/>
                <a:cs typeface="Arial"/>
              </a:rPr>
              <a:t>history </a:t>
            </a:r>
            <a:r>
              <a:rPr sz="2800" spc="-130" dirty="0">
                <a:solidFill>
                  <a:srgbClr val="3E3E3E"/>
                </a:solidFill>
                <a:latin typeface="Arial"/>
                <a:cs typeface="Arial"/>
              </a:rPr>
              <a:t>and</a:t>
            </a:r>
            <a:r>
              <a:rPr sz="2800" spc="-4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3E3E3E"/>
                </a:solidFill>
                <a:latin typeface="Arial"/>
                <a:cs typeface="Arial"/>
              </a:rPr>
              <a:t>cache.</a:t>
            </a:r>
            <a:endParaRPr sz="2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lr>
                <a:srgbClr val="765A0D"/>
              </a:buClr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800" spc="-185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800" spc="-125" dirty="0">
                <a:solidFill>
                  <a:srgbClr val="3E3E3E"/>
                </a:solidFill>
                <a:latin typeface="Arial"/>
                <a:cs typeface="Arial"/>
              </a:rPr>
              <a:t>be</a:t>
            </a:r>
            <a:r>
              <a:rPr sz="28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3E3E3E"/>
                </a:solidFill>
                <a:latin typeface="Arial"/>
                <a:cs typeface="Arial"/>
              </a:rPr>
              <a:t>bookmarked</a:t>
            </a:r>
            <a:endParaRPr sz="28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buClr>
                <a:srgbClr val="765A0D"/>
              </a:buClr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800" spc="-60" dirty="0">
                <a:solidFill>
                  <a:srgbClr val="3E3E3E"/>
                </a:solidFill>
                <a:latin typeface="Arial"/>
                <a:cs typeface="Arial"/>
              </a:rPr>
              <a:t>Limit</a:t>
            </a: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3E3E3E"/>
                </a:solidFill>
                <a:latin typeface="Arial"/>
                <a:cs typeface="Arial"/>
              </a:rPr>
              <a:t>on</a:t>
            </a:r>
            <a:r>
              <a:rPr sz="28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800" spc="-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3E3E3E"/>
                </a:solidFill>
                <a:latin typeface="Arial"/>
                <a:cs typeface="Arial"/>
              </a:rPr>
              <a:t>number</a:t>
            </a:r>
            <a:r>
              <a:rPr sz="28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8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35" dirty="0">
                <a:solidFill>
                  <a:srgbClr val="3E3E3E"/>
                </a:solidFill>
                <a:latin typeface="Arial"/>
                <a:cs typeface="Arial"/>
              </a:rPr>
              <a:t>characters</a:t>
            </a:r>
            <a:r>
              <a:rPr sz="28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in</a:t>
            </a:r>
            <a:r>
              <a:rPr sz="28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8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form  </a:t>
            </a:r>
            <a:r>
              <a:rPr sz="2800" spc="-105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2800" spc="-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3E3E3E"/>
                </a:solidFill>
                <a:latin typeface="Arial"/>
                <a:cs typeface="Arial"/>
              </a:rPr>
              <a:t>returned.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b="1" spc="-390" dirty="0">
                <a:solidFill>
                  <a:srgbClr val="3E3E3E"/>
                </a:solidFill>
                <a:latin typeface="Arial"/>
                <a:cs typeface="Arial"/>
              </a:rPr>
              <a:t>POST</a:t>
            </a:r>
            <a:endParaRPr sz="2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lr>
                <a:srgbClr val="765A0D"/>
              </a:buClr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800" spc="-185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800" spc="-85" dirty="0">
                <a:solidFill>
                  <a:srgbClr val="3E3E3E"/>
                </a:solidFill>
                <a:latin typeface="Arial"/>
                <a:cs typeface="Arial"/>
              </a:rPr>
              <a:t>contain </a:t>
            </a:r>
            <a:r>
              <a:rPr sz="2800" spc="-75" dirty="0">
                <a:solidFill>
                  <a:srgbClr val="3E3E3E"/>
                </a:solidFill>
                <a:latin typeface="Arial"/>
                <a:cs typeface="Arial"/>
              </a:rPr>
              <a:t>binary</a:t>
            </a:r>
            <a:r>
              <a:rPr sz="2800" spc="-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3E3E3E"/>
                </a:solidFill>
                <a:latin typeface="Arial"/>
                <a:cs typeface="Arial"/>
              </a:rPr>
              <a:t>data.</a:t>
            </a:r>
            <a:endParaRPr sz="2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lr>
                <a:srgbClr val="765A0D"/>
              </a:buClr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800" spc="-14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800" spc="-80" dirty="0">
                <a:solidFill>
                  <a:srgbClr val="3E3E3E"/>
                </a:solidFill>
                <a:latin typeface="Arial"/>
                <a:cs typeface="Arial"/>
              </a:rPr>
              <a:t>hidden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from</a:t>
            </a:r>
            <a:r>
              <a:rPr sz="2800" spc="-2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3E3E3E"/>
                </a:solidFill>
                <a:latin typeface="Arial"/>
                <a:cs typeface="Arial"/>
              </a:rPr>
              <a:t>user.</a:t>
            </a:r>
            <a:endParaRPr sz="2800">
              <a:latin typeface="Arial"/>
              <a:cs typeface="Arial"/>
            </a:endParaRPr>
          </a:p>
          <a:p>
            <a:pPr marL="469900" marR="24765" indent="-457200">
              <a:lnSpc>
                <a:spcPct val="100000"/>
              </a:lnSpc>
              <a:buClr>
                <a:srgbClr val="765A0D"/>
              </a:buClr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Submitted </a:t>
            </a:r>
            <a:r>
              <a:rPr sz="2800" spc="-10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800" spc="-14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not </a:t>
            </a:r>
            <a:r>
              <a:rPr sz="2800" spc="-90" dirty="0">
                <a:solidFill>
                  <a:srgbClr val="3E3E3E"/>
                </a:solidFill>
                <a:latin typeface="Arial"/>
                <a:cs typeface="Arial"/>
              </a:rPr>
              <a:t>stored 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in</a:t>
            </a:r>
            <a:r>
              <a:rPr sz="2800" spc="-4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70" dirty="0">
                <a:solidFill>
                  <a:srgbClr val="3E3E3E"/>
                </a:solidFill>
                <a:latin typeface="Arial"/>
                <a:cs typeface="Arial"/>
              </a:rPr>
              <a:t>cache, </a:t>
            </a:r>
            <a:r>
              <a:rPr sz="2800" spc="-90" dirty="0">
                <a:solidFill>
                  <a:srgbClr val="3E3E3E"/>
                </a:solidFill>
                <a:latin typeface="Arial"/>
                <a:cs typeface="Arial"/>
              </a:rPr>
              <a:t>history, 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or</a:t>
            </a:r>
            <a:r>
              <a:rPr sz="28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3E3E3E"/>
                </a:solidFill>
                <a:latin typeface="Arial"/>
                <a:cs typeface="Arial"/>
              </a:rPr>
              <a:t>bookmarks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138" y="137477"/>
            <a:ext cx="6245862" cy="929323"/>
          </a:xfrm>
        </p:spPr>
        <p:txBody>
          <a:bodyPr/>
          <a:lstStyle/>
          <a:p>
            <a:r>
              <a:rPr lang="en-US" dirty="0" smtClean="0"/>
              <a:t>Form Control Elements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lang="en-US" spc="2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0361" y="1219200"/>
            <a:ext cx="8039131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472440"/>
            <a:ext cx="54235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110" dirty="0" smtClean="0">
                <a:solidFill>
                  <a:srgbClr val="00506D"/>
                </a:solidFill>
              </a:rPr>
              <a:t>Text Input Controls</a:t>
            </a:r>
            <a:endParaRPr sz="400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8" name="object 8"/>
          <p:cNvSpPr txBox="1"/>
          <p:nvPr/>
        </p:nvSpPr>
        <p:spPr>
          <a:xfrm>
            <a:off x="8905875" y="642937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0" dirty="0">
                <a:solidFill>
                  <a:srgbClr val="C0C0C0"/>
                </a:solidFill>
                <a:latin typeface="Arial"/>
                <a:cs typeface="Arial"/>
              </a:rPr>
              <a:t>25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219200"/>
            <a:ext cx="4729163" cy="5285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548640"/>
            <a:ext cx="29616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>
                <a:solidFill>
                  <a:srgbClr val="00506D"/>
                </a:solidFill>
              </a:rPr>
              <a:t>t</a:t>
            </a:r>
            <a:r>
              <a:rPr spc="70" dirty="0">
                <a:solidFill>
                  <a:srgbClr val="00506D"/>
                </a:solidFill>
              </a:rPr>
              <a:t>y</a:t>
            </a:r>
            <a:r>
              <a:rPr spc="245" dirty="0">
                <a:solidFill>
                  <a:srgbClr val="00506D"/>
                </a:solidFill>
              </a:rPr>
              <a:t>p</a:t>
            </a:r>
            <a:r>
              <a:rPr spc="390" dirty="0">
                <a:solidFill>
                  <a:srgbClr val="00506D"/>
                </a:solidFill>
              </a:rPr>
              <a:t>e</a:t>
            </a:r>
            <a:r>
              <a:rPr spc="110" dirty="0">
                <a:solidFill>
                  <a:srgbClr val="00506D"/>
                </a:solidFill>
              </a:rPr>
              <a:t>=</a:t>
            </a:r>
            <a:r>
              <a:rPr spc="40" dirty="0">
                <a:solidFill>
                  <a:srgbClr val="00506D"/>
                </a:solidFill>
              </a:rPr>
              <a:t>"t</a:t>
            </a:r>
            <a:r>
              <a:rPr spc="25" dirty="0">
                <a:solidFill>
                  <a:srgbClr val="00506D"/>
                </a:solidFill>
              </a:rPr>
              <a:t>e</a:t>
            </a:r>
            <a:r>
              <a:rPr spc="-15" dirty="0">
                <a:solidFill>
                  <a:srgbClr val="00506D"/>
                </a:solidFill>
              </a:rPr>
              <a:t>xt"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095" y="1973579"/>
            <a:ext cx="7043420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marR="908685">
              <a:lnSpc>
                <a:spcPct val="100000"/>
              </a:lnSpc>
              <a:spcBef>
                <a:spcPts val="100"/>
              </a:spcBef>
            </a:pPr>
            <a:r>
              <a:rPr sz="2800" b="1" spc="-175" dirty="0">
                <a:solidFill>
                  <a:srgbClr val="3E3E3E"/>
                </a:solidFill>
                <a:latin typeface="Georgia"/>
                <a:cs typeface="Georgia"/>
              </a:rPr>
              <a:t>First </a:t>
            </a:r>
            <a:r>
              <a:rPr sz="2800" b="1" spc="-210" dirty="0">
                <a:solidFill>
                  <a:srgbClr val="3E3E3E"/>
                </a:solidFill>
                <a:latin typeface="Georgia"/>
                <a:cs typeface="Georgia"/>
              </a:rPr>
              <a:t>name:&lt;input </a:t>
            </a:r>
            <a:r>
              <a:rPr sz="2800" b="1" spc="-195" dirty="0">
                <a:solidFill>
                  <a:srgbClr val="3E3E3E"/>
                </a:solidFill>
                <a:latin typeface="Georgia"/>
                <a:cs typeface="Georgia"/>
              </a:rPr>
              <a:t>type="text"&gt;&lt;br&gt;  </a:t>
            </a:r>
            <a:r>
              <a:rPr sz="2800" b="1" spc="-200" dirty="0">
                <a:solidFill>
                  <a:srgbClr val="3E3E3E"/>
                </a:solidFill>
                <a:latin typeface="Georgia"/>
                <a:cs typeface="Georgia"/>
              </a:rPr>
              <a:t>Last </a:t>
            </a:r>
            <a:r>
              <a:rPr sz="2800" b="1" spc="-210" dirty="0">
                <a:solidFill>
                  <a:srgbClr val="3E3E3E"/>
                </a:solidFill>
                <a:latin typeface="Georgia"/>
                <a:cs typeface="Georgia"/>
              </a:rPr>
              <a:t>name:&lt;input</a:t>
            </a:r>
            <a:r>
              <a:rPr sz="2800" b="1" spc="-50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800" b="1" spc="-195" dirty="0">
                <a:solidFill>
                  <a:srgbClr val="3E3E3E"/>
                </a:solidFill>
                <a:latin typeface="Georgia"/>
                <a:cs typeface="Georgia"/>
              </a:rPr>
              <a:t>type="text"&gt;&lt;br&gt;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5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60"/>
              </a:lnSpc>
              <a:spcBef>
                <a:spcPts val="5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18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b="1" spc="-130" dirty="0">
                <a:solidFill>
                  <a:srgbClr val="3E3E3E"/>
                </a:solidFill>
                <a:latin typeface="Georgia"/>
                <a:cs typeface="Georgia"/>
              </a:rPr>
              <a:t>type= </a:t>
            </a:r>
            <a:r>
              <a:rPr sz="2400" b="1" spc="-150" dirty="0">
                <a:solidFill>
                  <a:srgbClr val="3E3E3E"/>
                </a:solidFill>
                <a:latin typeface="Georgia"/>
                <a:cs typeface="Georgia"/>
              </a:rPr>
              <a:t>"text"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attribute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creates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20-character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box 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for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user</a:t>
            </a:r>
            <a:r>
              <a:rPr sz="2400" spc="-2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input.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How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204" dirty="0">
                <a:solidFill>
                  <a:srgbClr val="3E3E3E"/>
                </a:solidFill>
                <a:latin typeface="Arial"/>
                <a:cs typeface="Arial"/>
              </a:rPr>
              <a:t>HTML 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code 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above </a:t>
            </a:r>
            <a:r>
              <a:rPr sz="2400" spc="-105" dirty="0">
                <a:solidFill>
                  <a:srgbClr val="3E3E3E"/>
                </a:solidFill>
                <a:latin typeface="Arial"/>
                <a:cs typeface="Arial"/>
              </a:rPr>
              <a:t>looks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400" spc="-2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browser: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71240" y="5029200"/>
            <a:ext cx="5039982" cy="993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87589" y="495655"/>
            <a:ext cx="44589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>
                <a:solidFill>
                  <a:srgbClr val="00506D"/>
                </a:solidFill>
              </a:rPr>
              <a:t>type="password"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7589" y="1983219"/>
            <a:ext cx="7687945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>
              <a:lnSpc>
                <a:spcPts val="3160"/>
              </a:lnSpc>
              <a:spcBef>
                <a:spcPts val="100"/>
              </a:spcBef>
            </a:pPr>
            <a:r>
              <a:rPr sz="2800" b="1" spc="-220" dirty="0">
                <a:solidFill>
                  <a:srgbClr val="3E3E3E"/>
                </a:solidFill>
                <a:latin typeface="Georgia"/>
                <a:cs typeface="Georgia"/>
              </a:rPr>
              <a:t>Password:&lt; </a:t>
            </a:r>
            <a:r>
              <a:rPr sz="2800" b="1" spc="-170" dirty="0">
                <a:solidFill>
                  <a:srgbClr val="3E3E3E"/>
                </a:solidFill>
                <a:latin typeface="Georgia"/>
                <a:cs typeface="Georgia"/>
              </a:rPr>
              <a:t>input</a:t>
            </a:r>
            <a:r>
              <a:rPr sz="2800" b="1" spc="-10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800" b="1" spc="-195" dirty="0">
                <a:solidFill>
                  <a:srgbClr val="3E3E3E"/>
                </a:solidFill>
                <a:latin typeface="Georgia"/>
                <a:cs typeface="Georgia"/>
              </a:rPr>
              <a:t>type="password"&gt;</a:t>
            </a:r>
            <a:endParaRPr sz="2800">
              <a:latin typeface="Georgia"/>
              <a:cs typeface="Georgia"/>
            </a:endParaRPr>
          </a:p>
          <a:p>
            <a:pPr marL="12700" marR="5080">
              <a:lnSpc>
                <a:spcPts val="2800"/>
              </a:lnSpc>
              <a:spcBef>
                <a:spcPts val="160"/>
              </a:spcBef>
            </a:pPr>
            <a:r>
              <a:rPr sz="2600" spc="-175" dirty="0">
                <a:solidFill>
                  <a:srgbClr val="3E3E3E"/>
                </a:solidFill>
                <a:latin typeface="Arial"/>
                <a:cs typeface="Arial"/>
              </a:rPr>
              <a:t>This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attribute </a:t>
            </a:r>
            <a:r>
              <a:rPr sz="2600" spc="-130" dirty="0">
                <a:solidFill>
                  <a:srgbClr val="3E3E3E"/>
                </a:solidFill>
                <a:latin typeface="Arial"/>
                <a:cs typeface="Arial"/>
              </a:rPr>
              <a:t>creates </a:t>
            </a:r>
            <a:r>
              <a:rPr sz="2600" spc="-204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600" spc="-110" dirty="0">
                <a:solidFill>
                  <a:srgbClr val="3E3E3E"/>
                </a:solidFill>
                <a:latin typeface="Arial"/>
                <a:cs typeface="Arial"/>
              </a:rPr>
              <a:t>standard 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text </a:t>
            </a:r>
            <a:r>
              <a:rPr sz="2600" spc="-135" dirty="0">
                <a:solidFill>
                  <a:srgbClr val="3E3E3E"/>
                </a:solidFill>
                <a:latin typeface="Arial"/>
                <a:cs typeface="Arial"/>
              </a:rPr>
              <a:t>box </a:t>
            </a:r>
            <a:r>
              <a:rPr sz="2600" spc="-15" dirty="0">
                <a:solidFill>
                  <a:srgbClr val="3E3E3E"/>
                </a:solidFill>
                <a:latin typeface="Arial"/>
                <a:cs typeface="Arial"/>
              </a:rPr>
              <a:t>but </a:t>
            </a:r>
            <a:r>
              <a:rPr sz="2600" spc="15" dirty="0">
                <a:solidFill>
                  <a:srgbClr val="3E3E3E"/>
                </a:solidFill>
                <a:latin typeface="Arial"/>
                <a:cs typeface="Arial"/>
              </a:rPr>
              <a:t>with</a:t>
            </a:r>
            <a:r>
              <a:rPr sz="2600" spc="-3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65" dirty="0">
                <a:solidFill>
                  <a:srgbClr val="3E3E3E"/>
                </a:solidFill>
                <a:latin typeface="Arial"/>
                <a:cs typeface="Arial"/>
              </a:rPr>
              <a:t>bullets  </a:t>
            </a:r>
            <a:r>
              <a:rPr sz="2600" spc="-100" dirty="0">
                <a:solidFill>
                  <a:srgbClr val="3E3E3E"/>
                </a:solidFill>
                <a:latin typeface="Arial"/>
                <a:cs typeface="Arial"/>
              </a:rPr>
              <a:t>instead </a:t>
            </a:r>
            <a:r>
              <a:rPr sz="2600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600" spc="-125" dirty="0">
                <a:solidFill>
                  <a:srgbClr val="3E3E3E"/>
                </a:solidFill>
                <a:latin typeface="Arial"/>
                <a:cs typeface="Arial"/>
              </a:rPr>
              <a:t>characters </a:t>
            </a:r>
            <a:r>
              <a:rPr sz="2600" spc="-250" dirty="0">
                <a:solidFill>
                  <a:srgbClr val="3E3E3E"/>
                </a:solidFill>
                <a:latin typeface="Arial"/>
                <a:cs typeface="Arial"/>
              </a:rPr>
              <a:t>as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600" spc="-120" dirty="0">
                <a:solidFill>
                  <a:srgbClr val="3E3E3E"/>
                </a:solidFill>
                <a:latin typeface="Arial"/>
                <a:cs typeface="Arial"/>
              </a:rPr>
              <a:t>user</a:t>
            </a:r>
            <a:r>
              <a:rPr sz="2600" spc="-3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95" dirty="0">
                <a:solidFill>
                  <a:srgbClr val="3E3E3E"/>
                </a:solidFill>
                <a:latin typeface="Arial"/>
                <a:cs typeface="Arial"/>
              </a:rPr>
              <a:t>types.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600" spc="-125" dirty="0">
                <a:solidFill>
                  <a:srgbClr val="3E3E3E"/>
                </a:solidFill>
                <a:latin typeface="Arial"/>
                <a:cs typeface="Arial"/>
              </a:rPr>
              <a:t>How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600" spc="-225" dirty="0">
                <a:solidFill>
                  <a:srgbClr val="3E3E3E"/>
                </a:solidFill>
                <a:latin typeface="Arial"/>
                <a:cs typeface="Arial"/>
              </a:rPr>
              <a:t>HTML </a:t>
            </a:r>
            <a:r>
              <a:rPr sz="2600" spc="-135" dirty="0">
                <a:solidFill>
                  <a:srgbClr val="3E3E3E"/>
                </a:solidFill>
                <a:latin typeface="Arial"/>
                <a:cs typeface="Arial"/>
              </a:rPr>
              <a:t>code </a:t>
            </a:r>
            <a:r>
              <a:rPr sz="2600" spc="-140" dirty="0">
                <a:solidFill>
                  <a:srgbClr val="3E3E3E"/>
                </a:solidFill>
                <a:latin typeface="Arial"/>
                <a:cs typeface="Arial"/>
              </a:rPr>
              <a:t>above </a:t>
            </a:r>
            <a:r>
              <a:rPr sz="2600" spc="-110" dirty="0">
                <a:solidFill>
                  <a:srgbClr val="3E3E3E"/>
                </a:solidFill>
                <a:latin typeface="Arial"/>
                <a:cs typeface="Arial"/>
              </a:rPr>
              <a:t>looks 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600" spc="-204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600" spc="-3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85" dirty="0">
                <a:solidFill>
                  <a:srgbClr val="3E3E3E"/>
                </a:solidFill>
                <a:latin typeface="Arial"/>
                <a:cs typeface="Arial"/>
              </a:rPr>
              <a:t>browser: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850">
              <a:latin typeface="Times New Roman"/>
              <a:cs typeface="Times New Roman"/>
            </a:endParaRPr>
          </a:p>
          <a:p>
            <a:pPr marL="355600" marR="494665" indent="-342900">
              <a:lnSpc>
                <a:spcPct val="90100"/>
              </a:lnSpc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600" spc="-65" dirty="0">
                <a:solidFill>
                  <a:srgbClr val="3E3E3E"/>
                </a:solidFill>
                <a:latin typeface="Arial"/>
                <a:cs typeface="Arial"/>
              </a:rPr>
              <a:t>Note:</a:t>
            </a:r>
            <a:r>
              <a:rPr sz="26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5" dirty="0">
                <a:solidFill>
                  <a:srgbClr val="3E3E3E"/>
                </a:solidFill>
                <a:latin typeface="Arial"/>
                <a:cs typeface="Arial"/>
              </a:rPr>
              <a:t>this</a:t>
            </a:r>
            <a:r>
              <a:rPr sz="2600" spc="-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50" dirty="0">
                <a:solidFill>
                  <a:srgbClr val="3E3E3E"/>
                </a:solidFill>
                <a:latin typeface="Arial"/>
                <a:cs typeface="Arial"/>
              </a:rPr>
              <a:t>does</a:t>
            </a:r>
            <a:r>
              <a:rPr sz="26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not</a:t>
            </a:r>
            <a:r>
              <a:rPr sz="26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70" dirty="0">
                <a:solidFill>
                  <a:srgbClr val="3E3E3E"/>
                </a:solidFill>
                <a:latin typeface="Arial"/>
                <a:cs typeface="Arial"/>
              </a:rPr>
              <a:t>encrypt</a:t>
            </a:r>
            <a:r>
              <a:rPr sz="26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6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25" dirty="0">
                <a:solidFill>
                  <a:srgbClr val="3E3E3E"/>
                </a:solidFill>
                <a:latin typeface="Arial"/>
                <a:cs typeface="Arial"/>
              </a:rPr>
              <a:t>password;</a:t>
            </a:r>
            <a:r>
              <a:rPr sz="26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80" dirty="0">
                <a:solidFill>
                  <a:srgbClr val="3E3E3E"/>
                </a:solidFill>
                <a:latin typeface="Arial"/>
                <a:cs typeface="Arial"/>
              </a:rPr>
              <a:t>it</a:t>
            </a:r>
            <a:r>
              <a:rPr sz="26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95" dirty="0">
                <a:solidFill>
                  <a:srgbClr val="3E3E3E"/>
                </a:solidFill>
                <a:latin typeface="Arial"/>
                <a:cs typeface="Arial"/>
              </a:rPr>
              <a:t>simply  </a:t>
            </a:r>
            <a:r>
              <a:rPr sz="2600" spc="-105" dirty="0">
                <a:solidFill>
                  <a:srgbClr val="3E3E3E"/>
                </a:solidFill>
                <a:latin typeface="Arial"/>
                <a:cs typeface="Arial"/>
              </a:rPr>
              <a:t>provides </a:t>
            </a:r>
            <a:r>
              <a:rPr sz="2600" spc="-204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600" spc="-95" dirty="0">
                <a:solidFill>
                  <a:srgbClr val="3E3E3E"/>
                </a:solidFill>
                <a:latin typeface="Arial"/>
                <a:cs typeface="Arial"/>
              </a:rPr>
              <a:t>shield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for </a:t>
            </a:r>
            <a:r>
              <a:rPr sz="2600" spc="-140" dirty="0">
                <a:solidFill>
                  <a:srgbClr val="3E3E3E"/>
                </a:solidFill>
                <a:latin typeface="Arial"/>
                <a:cs typeface="Arial"/>
              </a:rPr>
              <a:t>anyone </a:t>
            </a:r>
            <a:r>
              <a:rPr sz="2600" spc="-80" dirty="0">
                <a:solidFill>
                  <a:srgbClr val="3E3E3E"/>
                </a:solidFill>
                <a:latin typeface="Arial"/>
                <a:cs typeface="Arial"/>
              </a:rPr>
              <a:t>looking </a:t>
            </a:r>
            <a:r>
              <a:rPr sz="2600" spc="-45" dirty="0">
                <a:solidFill>
                  <a:srgbClr val="3E3E3E"/>
                </a:solidFill>
                <a:latin typeface="Arial"/>
                <a:cs typeface="Arial"/>
              </a:rPr>
              <a:t>at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600" spc="-130" dirty="0">
                <a:solidFill>
                  <a:srgbClr val="3E3E3E"/>
                </a:solidFill>
                <a:latin typeface="Arial"/>
                <a:cs typeface="Arial"/>
              </a:rPr>
              <a:t>user’s  </a:t>
            </a:r>
            <a:r>
              <a:rPr sz="2600" spc="-135" dirty="0">
                <a:solidFill>
                  <a:srgbClr val="3E3E3E"/>
                </a:solidFill>
                <a:latin typeface="Arial"/>
                <a:cs typeface="Arial"/>
              </a:rPr>
              <a:t>screen.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6801" y="3751582"/>
            <a:ext cx="5877952" cy="7055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lang="en-US" spc="2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7024" y="68240"/>
            <a:ext cx="6650780" cy="616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698" y="320040"/>
            <a:ext cx="50698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>
                <a:solidFill>
                  <a:srgbClr val="00506D"/>
                </a:solidFill>
              </a:rPr>
              <a:t>The </a:t>
            </a:r>
            <a:r>
              <a:rPr spc="55" dirty="0">
                <a:solidFill>
                  <a:srgbClr val="00506D"/>
                </a:solidFill>
              </a:rPr>
              <a:t>Name</a:t>
            </a:r>
            <a:r>
              <a:rPr spc="-15" dirty="0">
                <a:solidFill>
                  <a:srgbClr val="00506D"/>
                </a:solidFill>
              </a:rPr>
              <a:t> </a:t>
            </a:r>
            <a:r>
              <a:rPr spc="30" dirty="0">
                <a:solidFill>
                  <a:srgbClr val="00506D"/>
                </a:solidFill>
              </a:rPr>
              <a:t>Attribute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866387" y="1536598"/>
            <a:ext cx="7344409" cy="35464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680"/>
              </a:spcBef>
            </a:pPr>
            <a:r>
              <a:rPr sz="2400" b="1" spc="-150" dirty="0">
                <a:solidFill>
                  <a:srgbClr val="3E3E3E"/>
                </a:solidFill>
                <a:latin typeface="Georgia"/>
                <a:cs typeface="Georgia"/>
              </a:rPr>
              <a:t>First </a:t>
            </a:r>
            <a:r>
              <a:rPr sz="2400" b="1" spc="-210" dirty="0">
                <a:solidFill>
                  <a:srgbClr val="3E3E3E"/>
                </a:solidFill>
                <a:latin typeface="Georgia"/>
                <a:cs typeface="Georgia"/>
              </a:rPr>
              <a:t>name:&lt; </a:t>
            </a:r>
            <a:r>
              <a:rPr sz="2400" b="1" spc="-145" dirty="0">
                <a:solidFill>
                  <a:srgbClr val="3E3E3E"/>
                </a:solidFill>
                <a:latin typeface="Georgia"/>
                <a:cs typeface="Georgia"/>
              </a:rPr>
              <a:t>input type="text"</a:t>
            </a:r>
            <a:r>
              <a:rPr sz="2400" b="1" spc="-229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400" b="1" spc="-190" dirty="0">
                <a:solidFill>
                  <a:srgbClr val="3E3E3E"/>
                </a:solidFill>
                <a:latin typeface="Georgia"/>
                <a:cs typeface="Georgia"/>
              </a:rPr>
              <a:t>name="firstname"&gt;</a:t>
            </a:r>
            <a:endParaRPr sz="2400">
              <a:latin typeface="Georgia"/>
              <a:cs typeface="Georgia"/>
            </a:endParaRPr>
          </a:p>
          <a:p>
            <a:pPr marL="212725">
              <a:lnSpc>
                <a:spcPct val="100000"/>
              </a:lnSpc>
              <a:spcBef>
                <a:spcPts val="580"/>
              </a:spcBef>
            </a:pPr>
            <a:r>
              <a:rPr sz="2400" b="1" spc="-204" dirty="0">
                <a:solidFill>
                  <a:srgbClr val="3E3E3E"/>
                </a:solidFill>
                <a:latin typeface="Georgia"/>
                <a:cs typeface="Georgia"/>
              </a:rPr>
              <a:t>&lt;br&gt;</a:t>
            </a:r>
            <a:endParaRPr sz="2400">
              <a:latin typeface="Georgia"/>
              <a:cs typeface="Georgia"/>
            </a:endParaRPr>
          </a:p>
          <a:p>
            <a:pPr marL="212725">
              <a:lnSpc>
                <a:spcPct val="100000"/>
              </a:lnSpc>
            </a:pPr>
            <a:r>
              <a:rPr sz="2400" b="1" spc="-175" dirty="0">
                <a:solidFill>
                  <a:srgbClr val="3E3E3E"/>
                </a:solidFill>
                <a:latin typeface="Georgia"/>
                <a:cs typeface="Georgia"/>
              </a:rPr>
              <a:t>Last </a:t>
            </a:r>
            <a:r>
              <a:rPr sz="2400" b="1" spc="-210" dirty="0">
                <a:solidFill>
                  <a:srgbClr val="3E3E3E"/>
                </a:solidFill>
                <a:latin typeface="Georgia"/>
                <a:cs typeface="Georgia"/>
              </a:rPr>
              <a:t>name:&lt; </a:t>
            </a:r>
            <a:r>
              <a:rPr sz="2400" b="1" spc="-145" dirty="0">
                <a:solidFill>
                  <a:srgbClr val="3E3E3E"/>
                </a:solidFill>
                <a:latin typeface="Georgia"/>
                <a:cs typeface="Georgia"/>
              </a:rPr>
              <a:t>input type="text"</a:t>
            </a:r>
            <a:r>
              <a:rPr sz="2400" b="1" spc="-22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400" b="1" spc="-190" dirty="0">
                <a:solidFill>
                  <a:srgbClr val="3E3E3E"/>
                </a:solidFill>
                <a:latin typeface="Georgia"/>
                <a:cs typeface="Georgia"/>
              </a:rPr>
              <a:t>name="lastname"&gt;</a:t>
            </a:r>
            <a:endParaRPr sz="2400">
              <a:latin typeface="Georgia"/>
              <a:cs typeface="Georgia"/>
            </a:endParaRPr>
          </a:p>
          <a:p>
            <a:pPr marL="212725">
              <a:lnSpc>
                <a:spcPct val="100000"/>
              </a:lnSpc>
              <a:spcBef>
                <a:spcPts val="560"/>
              </a:spcBef>
            </a:pPr>
            <a:r>
              <a:rPr sz="2400" b="1" spc="-204" dirty="0">
                <a:solidFill>
                  <a:srgbClr val="3E3E3E"/>
                </a:solidFill>
                <a:latin typeface="Georgia"/>
                <a:cs typeface="Georgia"/>
              </a:rPr>
              <a:t>&lt;br&gt;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800">
              <a:latin typeface="Times New Roman"/>
              <a:cs typeface="Times New Roman"/>
            </a:endParaRPr>
          </a:p>
          <a:p>
            <a:pPr marL="354965" marR="5080" indent="-342265">
              <a:lnSpc>
                <a:spcPct val="100000"/>
              </a:lnSpc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180" dirty="0">
                <a:solidFill>
                  <a:srgbClr val="3E3E3E"/>
                </a:solidFill>
                <a:latin typeface="Arial"/>
                <a:cs typeface="Arial"/>
              </a:rPr>
              <a:t>Creates </a:t>
            </a:r>
            <a:r>
              <a:rPr sz="2800" spc="-120" dirty="0">
                <a:solidFill>
                  <a:srgbClr val="3E3E3E"/>
                </a:solidFill>
                <a:latin typeface="Arial"/>
                <a:cs typeface="Arial"/>
              </a:rPr>
              <a:t>variables, </a:t>
            </a:r>
            <a:r>
              <a:rPr sz="2800" i="1" spc="-165" dirty="0">
                <a:solidFill>
                  <a:srgbClr val="3E3E3E"/>
                </a:solidFill>
                <a:latin typeface="Trebuchet MS"/>
                <a:cs typeface="Trebuchet MS"/>
              </a:rPr>
              <a:t>firstname </a:t>
            </a:r>
            <a:r>
              <a:rPr sz="2800" spc="-13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800" i="1" spc="-130" dirty="0">
                <a:solidFill>
                  <a:srgbClr val="3E3E3E"/>
                </a:solidFill>
                <a:latin typeface="Trebuchet MS"/>
                <a:cs typeface="Trebuchet MS"/>
              </a:rPr>
              <a:t>lastname</a:t>
            </a:r>
            <a:r>
              <a:rPr sz="2800" i="1" spc="-350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800" spc="-80" dirty="0">
                <a:solidFill>
                  <a:srgbClr val="3E3E3E"/>
                </a:solidFill>
                <a:latin typeface="Arial"/>
                <a:cs typeface="Arial"/>
              </a:rPr>
              <a:t>which  </a:t>
            </a:r>
            <a:r>
              <a:rPr sz="2800" spc="-60" dirty="0">
                <a:solidFill>
                  <a:srgbClr val="3E3E3E"/>
                </a:solidFill>
                <a:latin typeface="Arial"/>
                <a:cs typeface="Arial"/>
              </a:rPr>
              <a:t>hold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800" spc="-160" dirty="0">
                <a:solidFill>
                  <a:srgbClr val="3E3E3E"/>
                </a:solidFill>
                <a:latin typeface="Arial"/>
                <a:cs typeface="Arial"/>
              </a:rPr>
              <a:t>values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800" spc="-110" dirty="0">
                <a:solidFill>
                  <a:srgbClr val="3E3E3E"/>
                </a:solidFill>
                <a:latin typeface="Arial"/>
                <a:cs typeface="Arial"/>
              </a:rPr>
              <a:t>strings </a:t>
            </a:r>
            <a:r>
              <a:rPr sz="2800" spc="-80" dirty="0">
                <a:solidFill>
                  <a:srgbClr val="3E3E3E"/>
                </a:solidFill>
                <a:latin typeface="Arial"/>
                <a:cs typeface="Arial"/>
              </a:rPr>
              <a:t>entered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into </a:t>
            </a:r>
            <a:r>
              <a:rPr sz="2800" spc="-175" dirty="0">
                <a:solidFill>
                  <a:srgbClr val="3E3E3E"/>
                </a:solidFill>
                <a:latin typeface="Arial"/>
                <a:cs typeface="Arial"/>
              </a:rPr>
              <a:t>each 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text</a:t>
            </a:r>
            <a:r>
              <a:rPr sz="2800" spc="-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3E3E3E"/>
                </a:solidFill>
                <a:latin typeface="Arial"/>
                <a:cs typeface="Arial"/>
              </a:rPr>
              <a:t>box.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3505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Radio</a:t>
            </a:r>
            <a:r>
              <a:rPr spc="-25" dirty="0"/>
              <a:t> </a:t>
            </a:r>
            <a:r>
              <a:rPr spc="-90" dirty="0"/>
              <a:t>Buttons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93139" y="1432877"/>
            <a:ext cx="6214745" cy="432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b="1" spc="-185" dirty="0">
                <a:solidFill>
                  <a:srgbClr val="3E3E3E"/>
                </a:solidFill>
                <a:latin typeface="Arial"/>
                <a:cs typeface="Arial"/>
              </a:rPr>
              <a:t>Radio </a:t>
            </a:r>
            <a:r>
              <a:rPr sz="2200" b="1" spc="-145" dirty="0">
                <a:solidFill>
                  <a:srgbClr val="3E3E3E"/>
                </a:solidFill>
                <a:latin typeface="Arial"/>
                <a:cs typeface="Arial"/>
              </a:rPr>
              <a:t>buttons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are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useful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when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you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want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user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 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select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single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item from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small 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list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200" spc="-3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choices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you 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want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all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choices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200" spc="-4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visible</a:t>
            </a:r>
            <a:endParaRPr sz="2200">
              <a:latin typeface="Arial"/>
              <a:cs typeface="Arial"/>
            </a:endParaRPr>
          </a:p>
          <a:p>
            <a:pPr marL="584200" indent="-571500">
              <a:lnSpc>
                <a:spcPct val="100000"/>
              </a:lnSpc>
              <a:spcBef>
                <a:spcPts val="1700"/>
              </a:spcBef>
              <a:buClr>
                <a:srgbClr val="B18714"/>
              </a:buClr>
              <a:buChar char="•"/>
              <a:tabLst>
                <a:tab pos="583565" algn="l"/>
                <a:tab pos="584200" algn="l"/>
              </a:tabLst>
            </a:pP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radio 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buttons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are added </a:t>
            </a:r>
            <a:r>
              <a:rPr sz="2000" spc="-85" dirty="0">
                <a:solidFill>
                  <a:srgbClr val="3E3E3E"/>
                </a:solidFill>
                <a:latin typeface="Arial"/>
                <a:cs typeface="Arial"/>
              </a:rPr>
              <a:t>via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000" spc="-4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2000" b="1" spc="-114" dirty="0">
                <a:solidFill>
                  <a:srgbClr val="3E3E3E"/>
                </a:solidFill>
                <a:latin typeface="Arial"/>
                <a:cs typeface="Arial"/>
              </a:rPr>
              <a:t>type="radio"&gt;</a:t>
            </a:r>
            <a:endParaRPr sz="20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</a:pP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endParaRPr sz="2000">
              <a:latin typeface="Arial"/>
              <a:cs typeface="Arial"/>
            </a:endParaRPr>
          </a:p>
          <a:p>
            <a:pPr marL="584200" marR="165100" indent="-571500">
              <a:lnSpc>
                <a:spcPct val="100000"/>
              </a:lnSpc>
              <a:spcBef>
                <a:spcPts val="1680"/>
              </a:spcBef>
              <a:buClr>
                <a:srgbClr val="B18714"/>
              </a:buClr>
              <a:buChar char="•"/>
              <a:tabLst>
                <a:tab pos="583565" algn="l"/>
                <a:tab pos="584200" algn="l"/>
              </a:tabLst>
            </a:pPr>
            <a:r>
              <a:rPr sz="2000" spc="-14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buttons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are </a:t>
            </a:r>
            <a:r>
              <a:rPr sz="2000" spc="-35" dirty="0">
                <a:solidFill>
                  <a:srgbClr val="3E3E3E"/>
                </a:solidFill>
                <a:latin typeface="Arial"/>
                <a:cs typeface="Arial"/>
              </a:rPr>
              <a:t>mutually 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exclusive </a:t>
            </a:r>
            <a:r>
              <a:rPr sz="2000" spc="-60" dirty="0">
                <a:solidFill>
                  <a:srgbClr val="3E3E3E"/>
                </a:solidFill>
                <a:latin typeface="Arial"/>
                <a:cs typeface="Arial"/>
              </a:rPr>
              <a:t>(i.e., </a:t>
            </a:r>
            <a:r>
              <a:rPr sz="2000" spc="-50" dirty="0">
                <a:solidFill>
                  <a:srgbClr val="3E3E3E"/>
                </a:solidFill>
                <a:latin typeface="Arial"/>
                <a:cs typeface="Arial"/>
              </a:rPr>
              <a:t>only </a:t>
            </a:r>
            <a:r>
              <a:rPr sz="2000" spc="-80" dirty="0">
                <a:solidFill>
                  <a:srgbClr val="3E3E3E"/>
                </a:solidFill>
                <a:latin typeface="Arial"/>
                <a:cs typeface="Arial"/>
              </a:rPr>
              <a:t>one</a:t>
            </a:r>
            <a:r>
              <a:rPr sz="2000" spc="-4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35" dirty="0">
                <a:solidFill>
                  <a:srgbClr val="3E3E3E"/>
                </a:solidFill>
                <a:latin typeface="Arial"/>
                <a:cs typeface="Arial"/>
              </a:rPr>
              <a:t>can 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chosen)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by sharing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spc="-145" dirty="0">
                <a:solidFill>
                  <a:srgbClr val="3E3E3E"/>
                </a:solidFill>
                <a:latin typeface="Arial"/>
                <a:cs typeface="Arial"/>
              </a:rPr>
              <a:t>same </a:t>
            </a:r>
            <a:r>
              <a:rPr sz="2000" spc="-100" dirty="0">
                <a:solidFill>
                  <a:srgbClr val="3E3E3E"/>
                </a:solidFill>
                <a:latin typeface="Arial"/>
                <a:cs typeface="Arial"/>
              </a:rPr>
              <a:t>name</a:t>
            </a:r>
            <a:r>
              <a:rPr sz="2000" spc="-2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attribute</a:t>
            </a:r>
            <a:endParaRPr sz="2000">
              <a:latin typeface="Arial"/>
              <a:cs typeface="Arial"/>
            </a:endParaRPr>
          </a:p>
          <a:p>
            <a:pPr marL="584200" marR="114935" indent="-571500">
              <a:lnSpc>
                <a:spcPct val="100000"/>
              </a:lnSpc>
              <a:spcBef>
                <a:spcPts val="1680"/>
              </a:spcBef>
              <a:buClr>
                <a:srgbClr val="B18714"/>
              </a:buClr>
              <a:buChar char="•"/>
              <a:tabLst>
                <a:tab pos="583565" algn="l"/>
                <a:tab pos="584200" algn="l"/>
              </a:tabLst>
            </a:pPr>
            <a:r>
              <a:rPr sz="2000" spc="-14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optional </a:t>
            </a:r>
            <a:r>
              <a:rPr sz="2000" b="1" spc="-185" dirty="0">
                <a:solidFill>
                  <a:srgbClr val="3E3E3E"/>
                </a:solidFill>
                <a:latin typeface="Arial"/>
                <a:cs typeface="Arial"/>
              </a:rPr>
              <a:t>checked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attribute 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used </a:t>
            </a:r>
            <a:r>
              <a:rPr sz="20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000" spc="-60" dirty="0">
                <a:solidFill>
                  <a:srgbClr val="3E3E3E"/>
                </a:solidFill>
                <a:latin typeface="Arial"/>
                <a:cs typeface="Arial"/>
              </a:rPr>
              <a:t>indicate</a:t>
            </a:r>
            <a:r>
              <a:rPr sz="2000" spc="-3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  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default</a:t>
            </a:r>
            <a:r>
              <a:rPr sz="20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choice</a:t>
            </a:r>
            <a:endParaRPr sz="2000">
              <a:latin typeface="Arial"/>
              <a:cs typeface="Arial"/>
            </a:endParaRPr>
          </a:p>
          <a:p>
            <a:pPr marL="584200" marR="85725" indent="-571500">
              <a:lnSpc>
                <a:spcPct val="100000"/>
              </a:lnSpc>
              <a:spcBef>
                <a:spcPts val="1680"/>
              </a:spcBef>
              <a:buClr>
                <a:srgbClr val="B18714"/>
              </a:buClr>
              <a:buChar char="•"/>
              <a:tabLst>
                <a:tab pos="583565" algn="l"/>
                <a:tab pos="584200" algn="l"/>
              </a:tabLst>
            </a:pP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b="1" spc="-130" dirty="0">
                <a:solidFill>
                  <a:srgbClr val="3E3E3E"/>
                </a:solidFill>
                <a:latin typeface="Arial"/>
                <a:cs typeface="Arial"/>
              </a:rPr>
              <a:t>value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attribute </a:t>
            </a:r>
            <a:r>
              <a:rPr sz="2000" spc="-85" dirty="0">
                <a:solidFill>
                  <a:srgbClr val="3E3E3E"/>
                </a:solidFill>
                <a:latin typeface="Arial"/>
                <a:cs typeface="Arial"/>
              </a:rPr>
              <a:t>works </a:t>
            </a:r>
            <a:r>
              <a:rPr sz="2000" spc="-25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spc="-145" dirty="0">
                <a:solidFill>
                  <a:srgbClr val="3E3E3E"/>
                </a:solidFill>
                <a:latin typeface="Arial"/>
                <a:cs typeface="Arial"/>
              </a:rPr>
              <a:t>same </a:t>
            </a:r>
            <a:r>
              <a:rPr sz="2000" spc="-70" dirty="0">
                <a:solidFill>
                  <a:srgbClr val="3E3E3E"/>
                </a:solidFill>
                <a:latin typeface="Arial"/>
                <a:cs typeface="Arial"/>
              </a:rPr>
              <a:t>manner</a:t>
            </a:r>
            <a:r>
              <a:rPr sz="2000" spc="-3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90" dirty="0">
                <a:solidFill>
                  <a:srgbClr val="3E3E3E"/>
                </a:solidFill>
                <a:latin typeface="Arial"/>
                <a:cs typeface="Arial"/>
              </a:rPr>
              <a:t>as </a:t>
            </a:r>
            <a:r>
              <a:rPr sz="2000" spc="10" dirty="0">
                <a:solidFill>
                  <a:srgbClr val="3E3E3E"/>
                </a:solidFill>
                <a:latin typeface="Arial"/>
                <a:cs typeface="Arial"/>
              </a:rPr>
              <a:t>with 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&lt;option&gt;</a:t>
            </a:r>
            <a:r>
              <a:rPr sz="2000" spc="-2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element.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301840"/>
            <a:ext cx="3505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>
                <a:solidFill>
                  <a:srgbClr val="00506D"/>
                </a:solidFill>
              </a:rPr>
              <a:t>Radio</a:t>
            </a:r>
            <a:r>
              <a:rPr spc="-25" dirty="0">
                <a:solidFill>
                  <a:srgbClr val="00506D"/>
                </a:solidFill>
              </a:rPr>
              <a:t> </a:t>
            </a:r>
            <a:r>
              <a:rPr spc="-90" dirty="0">
                <a:solidFill>
                  <a:srgbClr val="00506D"/>
                </a:solidFill>
              </a:rPr>
              <a:t>Buttons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39" y="1120140"/>
            <a:ext cx="7767955" cy="219456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866140" indent="-342900">
              <a:lnSpc>
                <a:spcPts val="2600"/>
              </a:lnSpc>
              <a:spcBef>
                <a:spcPts val="42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155" dirty="0">
                <a:solidFill>
                  <a:srgbClr val="3E3E3E"/>
                </a:solidFill>
                <a:latin typeface="Arial"/>
                <a:cs typeface="Arial"/>
              </a:rPr>
              <a:t>Radio 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buttons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let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user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select </a:t>
            </a:r>
            <a:r>
              <a:rPr sz="2400" spc="-365" dirty="0">
                <a:solidFill>
                  <a:srgbClr val="3E3E3E"/>
                </a:solidFill>
                <a:latin typeface="Arial"/>
                <a:cs typeface="Arial"/>
              </a:rPr>
              <a:t>ONLY </a:t>
            </a:r>
            <a:r>
              <a:rPr sz="2400" spc="-305" dirty="0">
                <a:solidFill>
                  <a:srgbClr val="3E3E3E"/>
                </a:solidFill>
                <a:latin typeface="Arial"/>
                <a:cs typeface="Arial"/>
              </a:rPr>
              <a:t>ONE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limited 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number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400" spc="-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choices: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200" b="1" spc="-245" dirty="0">
                <a:solidFill>
                  <a:srgbClr val="3E3E3E"/>
                </a:solidFill>
                <a:latin typeface="Georgia"/>
                <a:cs typeface="Georgia"/>
              </a:rPr>
              <a:t>&lt; </a:t>
            </a:r>
            <a:r>
              <a:rPr sz="2200" b="1" spc="-135" dirty="0">
                <a:solidFill>
                  <a:srgbClr val="3E3E3E"/>
                </a:solidFill>
                <a:latin typeface="Georgia"/>
                <a:cs typeface="Georgia"/>
              </a:rPr>
              <a:t>input </a:t>
            </a:r>
            <a:r>
              <a:rPr sz="2200" b="1" spc="-150" dirty="0">
                <a:solidFill>
                  <a:srgbClr val="3E3E3E"/>
                </a:solidFill>
                <a:latin typeface="Georgia"/>
                <a:cs typeface="Georgia"/>
              </a:rPr>
              <a:t>type="radio" </a:t>
            </a:r>
            <a:r>
              <a:rPr sz="2200" b="1" spc="-170" dirty="0">
                <a:solidFill>
                  <a:srgbClr val="3E3E3E"/>
                </a:solidFill>
                <a:latin typeface="Georgia"/>
                <a:cs typeface="Georgia"/>
              </a:rPr>
              <a:t>name="gender" </a:t>
            </a:r>
            <a:r>
              <a:rPr sz="2200" b="1" spc="-185" dirty="0">
                <a:solidFill>
                  <a:srgbClr val="3E3E3E"/>
                </a:solidFill>
                <a:latin typeface="Georgia"/>
                <a:cs typeface="Georgia"/>
              </a:rPr>
              <a:t>value="m"&gt;</a:t>
            </a:r>
            <a:r>
              <a:rPr sz="2200" b="1" spc="-41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200" b="1" spc="-185" dirty="0">
                <a:solidFill>
                  <a:srgbClr val="3E3E3E"/>
                </a:solidFill>
                <a:latin typeface="Georgia"/>
                <a:cs typeface="Georgia"/>
              </a:rPr>
              <a:t>Male&lt;br&gt;</a:t>
            </a:r>
            <a:endParaRPr sz="2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200" b="1" spc="-245" dirty="0">
                <a:solidFill>
                  <a:srgbClr val="3E3E3E"/>
                </a:solidFill>
                <a:latin typeface="Georgia"/>
                <a:cs typeface="Georgia"/>
              </a:rPr>
              <a:t>&lt; </a:t>
            </a:r>
            <a:r>
              <a:rPr sz="2200" b="1" spc="-135" dirty="0">
                <a:solidFill>
                  <a:srgbClr val="3E3E3E"/>
                </a:solidFill>
                <a:latin typeface="Georgia"/>
                <a:cs typeface="Georgia"/>
              </a:rPr>
              <a:t>input </a:t>
            </a:r>
            <a:r>
              <a:rPr sz="2200" b="1" spc="-150" dirty="0">
                <a:solidFill>
                  <a:srgbClr val="3E3E3E"/>
                </a:solidFill>
                <a:latin typeface="Georgia"/>
                <a:cs typeface="Georgia"/>
              </a:rPr>
              <a:t>type="radio" </a:t>
            </a:r>
            <a:r>
              <a:rPr sz="2200" b="1" spc="-170" dirty="0">
                <a:solidFill>
                  <a:srgbClr val="3E3E3E"/>
                </a:solidFill>
                <a:latin typeface="Georgia"/>
                <a:cs typeface="Georgia"/>
              </a:rPr>
              <a:t>name="gender" </a:t>
            </a:r>
            <a:r>
              <a:rPr sz="2200" b="1" spc="-150" dirty="0">
                <a:solidFill>
                  <a:srgbClr val="3E3E3E"/>
                </a:solidFill>
                <a:latin typeface="Georgia"/>
                <a:cs typeface="Georgia"/>
              </a:rPr>
              <a:t>value="f"&gt;</a:t>
            </a:r>
            <a:r>
              <a:rPr sz="2200" b="1" spc="-390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200" b="1" spc="-180" dirty="0">
                <a:solidFill>
                  <a:srgbClr val="3E3E3E"/>
                </a:solidFill>
                <a:latin typeface="Georgia"/>
                <a:cs typeface="Georgia"/>
              </a:rPr>
              <a:t>Female&lt;br&gt;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600" spc="-125" dirty="0">
                <a:solidFill>
                  <a:srgbClr val="3E3E3E"/>
                </a:solidFill>
                <a:latin typeface="Arial"/>
                <a:cs typeface="Arial"/>
              </a:rPr>
              <a:t>How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600" spc="-225" dirty="0">
                <a:solidFill>
                  <a:srgbClr val="3E3E3E"/>
                </a:solidFill>
                <a:latin typeface="Arial"/>
                <a:cs typeface="Arial"/>
              </a:rPr>
              <a:t>HTML </a:t>
            </a:r>
            <a:r>
              <a:rPr sz="2600" spc="-135" dirty="0">
                <a:solidFill>
                  <a:srgbClr val="3E3E3E"/>
                </a:solidFill>
                <a:latin typeface="Arial"/>
                <a:cs typeface="Arial"/>
              </a:rPr>
              <a:t>code </a:t>
            </a:r>
            <a:r>
              <a:rPr sz="2600" spc="-140" dirty="0">
                <a:solidFill>
                  <a:srgbClr val="3E3E3E"/>
                </a:solidFill>
                <a:latin typeface="Arial"/>
                <a:cs typeface="Arial"/>
              </a:rPr>
              <a:t>above </a:t>
            </a:r>
            <a:r>
              <a:rPr sz="2600" spc="-110" dirty="0">
                <a:solidFill>
                  <a:srgbClr val="3E3E3E"/>
                </a:solidFill>
                <a:latin typeface="Arial"/>
                <a:cs typeface="Arial"/>
              </a:rPr>
              <a:t>looks 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600" spc="-204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600" spc="-3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85" dirty="0">
                <a:solidFill>
                  <a:srgbClr val="3E3E3E"/>
                </a:solidFill>
                <a:latin typeface="Arial"/>
                <a:cs typeface="Arial"/>
              </a:rPr>
              <a:t>browser: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139" y="4871720"/>
            <a:ext cx="66497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600" spc="-65" dirty="0">
                <a:solidFill>
                  <a:srgbClr val="3E3E3E"/>
                </a:solidFill>
                <a:latin typeface="Arial"/>
                <a:cs typeface="Arial"/>
              </a:rPr>
              <a:t>Note: </a:t>
            </a:r>
            <a:r>
              <a:rPr sz="2600" spc="-19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600" spc="-140" dirty="0">
                <a:solidFill>
                  <a:srgbClr val="3E3E3E"/>
                </a:solidFill>
                <a:latin typeface="Arial"/>
                <a:cs typeface="Arial"/>
              </a:rPr>
              <a:t>name </a:t>
            </a:r>
            <a:r>
              <a:rPr sz="2600" spc="-40" dirty="0">
                <a:solidFill>
                  <a:srgbClr val="3E3E3E"/>
                </a:solidFill>
                <a:latin typeface="Arial"/>
                <a:cs typeface="Arial"/>
              </a:rPr>
              <a:t>attributes </a:t>
            </a:r>
            <a:r>
              <a:rPr sz="2600" spc="-125" dirty="0">
                <a:solidFill>
                  <a:srgbClr val="3E3E3E"/>
                </a:solidFill>
                <a:latin typeface="Arial"/>
                <a:cs typeface="Arial"/>
              </a:rPr>
              <a:t>are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600" spc="-160" dirty="0">
                <a:solidFill>
                  <a:srgbClr val="3E3E3E"/>
                </a:solidFill>
                <a:latin typeface="Arial"/>
                <a:cs typeface="Arial"/>
              </a:rPr>
              <a:t>same.</a:t>
            </a:r>
            <a:r>
              <a:rPr sz="2600" spc="-43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60" dirty="0">
                <a:solidFill>
                  <a:srgbClr val="3E3E3E"/>
                </a:solidFill>
                <a:latin typeface="Arial"/>
                <a:cs typeface="Arial"/>
              </a:rPr>
              <a:t>Why?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47800" y="3733801"/>
            <a:ext cx="2206066" cy="923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3505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Radio</a:t>
            </a:r>
            <a:r>
              <a:rPr spc="-25" dirty="0"/>
              <a:t> </a:t>
            </a:r>
            <a:r>
              <a:rPr spc="-90" dirty="0"/>
              <a:t>Buttons</a:t>
            </a:r>
          </a:p>
        </p:txBody>
      </p:sp>
      <p:sp>
        <p:nvSpPr>
          <p:cNvPr id="7" name="object 7"/>
          <p:cNvSpPr/>
          <p:nvPr/>
        </p:nvSpPr>
        <p:spPr>
          <a:xfrm>
            <a:off x="0" y="2532379"/>
            <a:ext cx="9144000" cy="1049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22140" y="4513579"/>
            <a:ext cx="34855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20" dirty="0">
                <a:solidFill>
                  <a:srgbClr val="9B1F26"/>
                </a:solidFill>
                <a:latin typeface="Arial"/>
                <a:cs typeface="Arial"/>
              </a:rPr>
              <a:t>**Note: </a:t>
            </a:r>
            <a:r>
              <a:rPr sz="1800" spc="-125" dirty="0">
                <a:solidFill>
                  <a:srgbClr val="9B1F26"/>
                </a:solidFill>
                <a:latin typeface="Arial"/>
                <a:cs typeface="Arial"/>
              </a:rPr>
              <a:t>because </a:t>
            </a:r>
            <a:r>
              <a:rPr sz="1800" spc="-50" dirty="0">
                <a:solidFill>
                  <a:srgbClr val="9B1F26"/>
                </a:solidFill>
                <a:latin typeface="Arial"/>
                <a:cs typeface="Arial"/>
              </a:rPr>
              <a:t>only </a:t>
            </a:r>
            <a:r>
              <a:rPr sz="1800" spc="-90" dirty="0">
                <a:solidFill>
                  <a:srgbClr val="9B1F26"/>
                </a:solidFill>
                <a:latin typeface="Arial"/>
                <a:cs typeface="Arial"/>
              </a:rPr>
              <a:t>1 </a:t>
            </a:r>
            <a:r>
              <a:rPr sz="1800" spc="-80" dirty="0">
                <a:solidFill>
                  <a:srgbClr val="9B1F26"/>
                </a:solidFill>
                <a:latin typeface="Arial"/>
                <a:cs typeface="Arial"/>
              </a:rPr>
              <a:t>value </a:t>
            </a:r>
            <a:r>
              <a:rPr sz="1800" spc="-90" dirty="0">
                <a:solidFill>
                  <a:srgbClr val="9B1F26"/>
                </a:solidFill>
                <a:latin typeface="Arial"/>
                <a:cs typeface="Arial"/>
              </a:rPr>
              <a:t>is  </a:t>
            </a:r>
            <a:r>
              <a:rPr sz="1800" spc="-40" dirty="0">
                <a:solidFill>
                  <a:srgbClr val="9B1F26"/>
                </a:solidFill>
                <a:latin typeface="Arial"/>
                <a:cs typeface="Arial"/>
              </a:rPr>
              <a:t>returned, </a:t>
            </a:r>
            <a:r>
              <a:rPr sz="1800" spc="-25" dirty="0">
                <a:solidFill>
                  <a:srgbClr val="9B1F26"/>
                </a:solidFill>
                <a:latin typeface="Arial"/>
                <a:cs typeface="Arial"/>
              </a:rPr>
              <a:t>the </a:t>
            </a:r>
            <a:r>
              <a:rPr sz="1800" b="1" spc="-130" dirty="0">
                <a:solidFill>
                  <a:srgbClr val="9B1F26"/>
                </a:solidFill>
                <a:latin typeface="Arial"/>
                <a:cs typeface="Arial"/>
              </a:rPr>
              <a:t>name </a:t>
            </a:r>
            <a:r>
              <a:rPr sz="1800" spc="-35" dirty="0">
                <a:solidFill>
                  <a:srgbClr val="9B1F26"/>
                </a:solidFill>
                <a:latin typeface="Arial"/>
                <a:cs typeface="Arial"/>
              </a:rPr>
              <a:t>attributes </a:t>
            </a:r>
            <a:r>
              <a:rPr sz="1800" spc="-75" dirty="0">
                <a:solidFill>
                  <a:srgbClr val="9B1F26"/>
                </a:solidFill>
                <a:latin typeface="Arial"/>
                <a:cs typeface="Arial"/>
              </a:rPr>
              <a:t>should  </a:t>
            </a:r>
            <a:r>
              <a:rPr sz="1800" spc="-40" dirty="0">
                <a:solidFill>
                  <a:srgbClr val="9B1F26"/>
                </a:solidFill>
                <a:latin typeface="Arial"/>
                <a:cs typeface="Arial"/>
              </a:rPr>
              <a:t>all </a:t>
            </a:r>
            <a:r>
              <a:rPr sz="1800" spc="-90" dirty="0">
                <a:solidFill>
                  <a:srgbClr val="9B1F26"/>
                </a:solidFill>
                <a:latin typeface="Arial"/>
                <a:cs typeface="Arial"/>
              </a:rPr>
              <a:t>be </a:t>
            </a:r>
            <a:r>
              <a:rPr sz="1800" spc="-25" dirty="0">
                <a:solidFill>
                  <a:srgbClr val="9B1F26"/>
                </a:solidFill>
                <a:latin typeface="Arial"/>
                <a:cs typeface="Arial"/>
              </a:rPr>
              <a:t>the</a:t>
            </a:r>
            <a:r>
              <a:rPr sz="1800" spc="-130" dirty="0">
                <a:solidFill>
                  <a:srgbClr val="9B1F26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9B1F26"/>
                </a:solidFill>
                <a:latin typeface="Arial"/>
                <a:cs typeface="Arial"/>
              </a:rPr>
              <a:t>same.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02098" y="3484905"/>
            <a:ext cx="503555" cy="934719"/>
          </a:xfrm>
          <a:custGeom>
            <a:avLst/>
            <a:gdLst/>
            <a:ahLst/>
            <a:cxnLst/>
            <a:rect l="l" t="t" r="r" b="b"/>
            <a:pathLst>
              <a:path w="503554" h="934720">
                <a:moveTo>
                  <a:pt x="503300" y="934694"/>
                </a:moveTo>
                <a:lnTo>
                  <a:pt x="0" y="0"/>
                </a:lnTo>
              </a:path>
            </a:pathLst>
          </a:custGeom>
          <a:ln w="1270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2000" y="3429000"/>
            <a:ext cx="69850" cy="85725"/>
          </a:xfrm>
          <a:custGeom>
            <a:avLst/>
            <a:gdLst/>
            <a:ahLst/>
            <a:cxnLst/>
            <a:rect l="l" t="t" r="r" b="b"/>
            <a:pathLst>
              <a:path w="69850" h="85725">
                <a:moveTo>
                  <a:pt x="0" y="0"/>
                </a:moveTo>
                <a:lnTo>
                  <a:pt x="2578" y="85153"/>
                </a:lnTo>
                <a:lnTo>
                  <a:pt x="69672" y="49034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3220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Checkboxes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93139" y="1463040"/>
            <a:ext cx="6152515" cy="3990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2770">
              <a:lnSpc>
                <a:spcPct val="100000"/>
              </a:lnSpc>
              <a:spcBef>
                <a:spcPts val="100"/>
              </a:spcBef>
            </a:pPr>
            <a:r>
              <a:rPr sz="2200" b="1" spc="-235" dirty="0">
                <a:solidFill>
                  <a:srgbClr val="3E3E3E"/>
                </a:solidFill>
                <a:latin typeface="Arial"/>
                <a:cs typeface="Arial"/>
              </a:rPr>
              <a:t>Checkboxes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are 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used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for 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getting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yes/no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or</a:t>
            </a:r>
            <a:r>
              <a:rPr sz="2200" spc="-2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on/off  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responses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from the</a:t>
            </a:r>
            <a:r>
              <a:rPr sz="2200" spc="-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user.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130" dirty="0">
                <a:solidFill>
                  <a:srgbClr val="3E3E3E"/>
                </a:solidFill>
                <a:latin typeface="Arial"/>
                <a:cs typeface="Arial"/>
              </a:rPr>
              <a:t>checkboxes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are added </a:t>
            </a:r>
            <a:r>
              <a:rPr sz="2000" spc="-85" dirty="0">
                <a:solidFill>
                  <a:srgbClr val="3E3E3E"/>
                </a:solidFill>
                <a:latin typeface="Arial"/>
                <a:cs typeface="Arial"/>
              </a:rPr>
              <a:t>via </a:t>
            </a:r>
            <a:r>
              <a:rPr sz="2000" b="1" spc="-7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b="1" spc="-110" dirty="0">
                <a:solidFill>
                  <a:srgbClr val="3E3E3E"/>
                </a:solidFill>
                <a:latin typeface="Arial"/>
                <a:cs typeface="Arial"/>
              </a:rPr>
              <a:t>&lt;input</a:t>
            </a:r>
            <a:r>
              <a:rPr sz="2000" b="1" spc="-2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b="1" spc="-150" dirty="0">
                <a:solidFill>
                  <a:srgbClr val="3E3E3E"/>
                </a:solidFill>
                <a:latin typeface="Arial"/>
                <a:cs typeface="Arial"/>
              </a:rPr>
              <a:t>type="checkbox”&gt;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endParaRPr sz="2000">
              <a:latin typeface="Arial"/>
              <a:cs typeface="Arial"/>
            </a:endParaRPr>
          </a:p>
          <a:p>
            <a:pPr marL="355600" marR="29209" indent="-342900">
              <a:lnSpc>
                <a:spcPct val="100000"/>
              </a:lnSpc>
              <a:spcBef>
                <a:spcPts val="1680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204" dirty="0">
                <a:solidFill>
                  <a:srgbClr val="3E3E3E"/>
                </a:solidFill>
                <a:latin typeface="Arial"/>
                <a:cs typeface="Arial"/>
              </a:rPr>
              <a:t>You </a:t>
            </a:r>
            <a:r>
              <a:rPr sz="2000" spc="-135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000" spc="-105" dirty="0">
                <a:solidFill>
                  <a:srgbClr val="3E3E3E"/>
                </a:solidFill>
                <a:latin typeface="Arial"/>
                <a:cs typeface="Arial"/>
              </a:rPr>
              <a:t>also </a:t>
            </a:r>
            <a:r>
              <a:rPr sz="2000" spc="-75" dirty="0">
                <a:solidFill>
                  <a:srgbClr val="3E3E3E"/>
                </a:solidFill>
                <a:latin typeface="Arial"/>
                <a:cs typeface="Arial"/>
              </a:rPr>
              <a:t>group </a:t>
            </a:r>
            <a:r>
              <a:rPr sz="2000" spc="-130" dirty="0">
                <a:solidFill>
                  <a:srgbClr val="3E3E3E"/>
                </a:solidFill>
                <a:latin typeface="Arial"/>
                <a:cs typeface="Arial"/>
              </a:rPr>
              <a:t>checkboxes 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together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by </a:t>
            </a:r>
            <a:r>
              <a:rPr sz="2000" spc="-95" dirty="0">
                <a:solidFill>
                  <a:srgbClr val="3E3E3E"/>
                </a:solidFill>
                <a:latin typeface="Arial"/>
                <a:cs typeface="Arial"/>
              </a:rPr>
              <a:t>having 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them  </a:t>
            </a:r>
            <a:r>
              <a:rPr sz="2000" spc="-110" dirty="0">
                <a:solidFill>
                  <a:srgbClr val="3E3E3E"/>
                </a:solidFill>
                <a:latin typeface="Arial"/>
                <a:cs typeface="Arial"/>
              </a:rPr>
              <a:t>share </a:t>
            </a:r>
            <a:r>
              <a:rPr sz="2000" spc="-2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spc="-145" dirty="0">
                <a:solidFill>
                  <a:srgbClr val="3E3E3E"/>
                </a:solidFill>
                <a:latin typeface="Arial"/>
                <a:cs typeface="Arial"/>
              </a:rPr>
              <a:t>same </a:t>
            </a:r>
            <a:r>
              <a:rPr sz="2000" spc="-100" dirty="0">
                <a:solidFill>
                  <a:srgbClr val="3E3E3E"/>
                </a:solidFill>
                <a:latin typeface="Arial"/>
                <a:cs typeface="Arial"/>
              </a:rPr>
              <a:t>name</a:t>
            </a:r>
            <a:r>
              <a:rPr sz="2000" spc="-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attribute</a:t>
            </a:r>
            <a:endParaRPr sz="2000">
              <a:latin typeface="Arial"/>
              <a:cs typeface="Arial"/>
            </a:endParaRPr>
          </a:p>
          <a:p>
            <a:pPr marL="355600" marR="330200" indent="-342900">
              <a:lnSpc>
                <a:spcPct val="100000"/>
              </a:lnSpc>
              <a:spcBef>
                <a:spcPts val="1680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195" dirty="0">
                <a:solidFill>
                  <a:srgbClr val="3E3E3E"/>
                </a:solidFill>
                <a:latin typeface="Arial"/>
                <a:cs typeface="Arial"/>
              </a:rPr>
              <a:t>Each </a:t>
            </a:r>
            <a:r>
              <a:rPr sz="2000" spc="-125" dirty="0">
                <a:solidFill>
                  <a:srgbClr val="3E3E3E"/>
                </a:solidFill>
                <a:latin typeface="Arial"/>
                <a:cs typeface="Arial"/>
              </a:rPr>
              <a:t>checked 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checkbox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will </a:t>
            </a:r>
            <a:r>
              <a:rPr sz="2000" spc="-125" dirty="0">
                <a:solidFill>
                  <a:srgbClr val="3E3E3E"/>
                </a:solidFill>
                <a:latin typeface="Arial"/>
                <a:cs typeface="Arial"/>
              </a:rPr>
              <a:t>have </a:t>
            </a:r>
            <a:r>
              <a:rPr sz="2000" spc="-30" dirty="0">
                <a:solidFill>
                  <a:srgbClr val="3E3E3E"/>
                </a:solidFill>
                <a:latin typeface="Arial"/>
                <a:cs typeface="Arial"/>
              </a:rPr>
              <a:t>its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value </a:t>
            </a:r>
            <a:r>
              <a:rPr sz="2000" spc="-80" dirty="0">
                <a:solidFill>
                  <a:srgbClr val="3E3E3E"/>
                </a:solidFill>
                <a:latin typeface="Arial"/>
                <a:cs typeface="Arial"/>
              </a:rPr>
              <a:t>sent </a:t>
            </a:r>
            <a:r>
              <a:rPr sz="20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0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  </a:t>
            </a:r>
            <a:r>
              <a:rPr sz="2000" spc="-85" dirty="0">
                <a:solidFill>
                  <a:srgbClr val="3E3E3E"/>
                </a:solidFill>
                <a:latin typeface="Arial"/>
                <a:cs typeface="Arial"/>
              </a:rPr>
              <a:t>server</a:t>
            </a:r>
            <a:endParaRPr sz="2000">
              <a:latin typeface="Arial"/>
              <a:cs typeface="Arial"/>
            </a:endParaRPr>
          </a:p>
          <a:p>
            <a:pPr marL="355600" marR="353060" indent="-342900">
              <a:lnSpc>
                <a:spcPct val="100000"/>
              </a:lnSpc>
              <a:spcBef>
                <a:spcPts val="1680"/>
              </a:spcBef>
              <a:buClr>
                <a:srgbClr val="B18714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135" dirty="0">
                <a:solidFill>
                  <a:srgbClr val="3E3E3E"/>
                </a:solidFill>
                <a:latin typeface="Arial"/>
                <a:cs typeface="Arial"/>
              </a:rPr>
              <a:t>Like </a:t>
            </a:r>
            <a:r>
              <a:rPr sz="2000" spc="10" dirty="0">
                <a:solidFill>
                  <a:srgbClr val="3E3E3E"/>
                </a:solidFill>
                <a:latin typeface="Arial"/>
                <a:cs typeface="Arial"/>
              </a:rPr>
              <a:t>with</a:t>
            </a:r>
            <a:r>
              <a:rPr sz="2000" spc="-4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3E3E3E"/>
                </a:solidFill>
                <a:latin typeface="Arial"/>
                <a:cs typeface="Arial"/>
              </a:rPr>
              <a:t>radio 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buttons,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spc="-125" dirty="0">
                <a:solidFill>
                  <a:srgbClr val="3E3E3E"/>
                </a:solidFill>
                <a:latin typeface="Arial"/>
                <a:cs typeface="Arial"/>
              </a:rPr>
              <a:t>checked </a:t>
            </a:r>
            <a:r>
              <a:rPr sz="2000" spc="-5" dirty="0">
                <a:solidFill>
                  <a:srgbClr val="3E3E3E"/>
                </a:solidFill>
                <a:latin typeface="Arial"/>
                <a:cs typeface="Arial"/>
              </a:rPr>
              <a:t>attribute </a:t>
            </a:r>
            <a:r>
              <a:rPr sz="2000" spc="-135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000" spc="-85" dirty="0">
                <a:solidFill>
                  <a:srgbClr val="3E3E3E"/>
                </a:solidFill>
                <a:latin typeface="Arial"/>
                <a:cs typeface="Arial"/>
              </a:rPr>
              <a:t>be  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used </a:t>
            </a:r>
            <a:r>
              <a:rPr sz="20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000" spc="-85" dirty="0">
                <a:solidFill>
                  <a:srgbClr val="3E3E3E"/>
                </a:solidFill>
                <a:latin typeface="Arial"/>
                <a:cs typeface="Arial"/>
              </a:rPr>
              <a:t>set </a:t>
            </a:r>
            <a:r>
              <a:rPr sz="2000" spc="-1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000" spc="-40" dirty="0">
                <a:solidFill>
                  <a:srgbClr val="3E3E3E"/>
                </a:solidFill>
                <a:latin typeface="Arial"/>
                <a:cs typeface="Arial"/>
              </a:rPr>
              <a:t>default </a:t>
            </a:r>
            <a:r>
              <a:rPr sz="2000" spc="-90" dirty="0">
                <a:solidFill>
                  <a:srgbClr val="3E3E3E"/>
                </a:solidFill>
                <a:latin typeface="Arial"/>
                <a:cs typeface="Arial"/>
              </a:rPr>
              <a:t>value </a:t>
            </a:r>
            <a:r>
              <a:rPr sz="200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000" spc="-4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000" spc="-155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000" spc="-114" dirty="0">
                <a:solidFill>
                  <a:srgbClr val="3E3E3E"/>
                </a:solidFill>
                <a:latin typeface="Arial"/>
                <a:cs typeface="Arial"/>
              </a:rPr>
              <a:t>checkbox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67640"/>
            <a:ext cx="32207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>
                <a:solidFill>
                  <a:srgbClr val="00506D"/>
                </a:solidFill>
              </a:rPr>
              <a:t>Checkboxes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39" y="1120140"/>
            <a:ext cx="6723380" cy="23418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5080" indent="-342900">
              <a:lnSpc>
                <a:spcPts val="2600"/>
              </a:lnSpc>
              <a:spcBef>
                <a:spcPts val="42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180" dirty="0">
                <a:solidFill>
                  <a:srgbClr val="3E3E3E"/>
                </a:solidFill>
                <a:latin typeface="Arial"/>
                <a:cs typeface="Arial"/>
              </a:rPr>
              <a:t>Checkboxes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let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user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select </a:t>
            </a:r>
            <a:r>
              <a:rPr sz="2400" spc="-380" dirty="0">
                <a:solidFill>
                  <a:srgbClr val="3E3E3E"/>
                </a:solidFill>
                <a:latin typeface="Arial"/>
                <a:cs typeface="Arial"/>
              </a:rPr>
              <a:t>ZERO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or </a:t>
            </a:r>
            <a:r>
              <a:rPr sz="2400" spc="-275" dirty="0">
                <a:solidFill>
                  <a:srgbClr val="3E3E3E"/>
                </a:solidFill>
                <a:latin typeface="Arial"/>
                <a:cs typeface="Arial"/>
              </a:rPr>
              <a:t>MORE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options 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limited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number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400" spc="-3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choices.</a:t>
            </a:r>
            <a:endParaRPr sz="2400">
              <a:latin typeface="Arial"/>
              <a:cs typeface="Arial"/>
            </a:endParaRPr>
          </a:p>
          <a:p>
            <a:pPr marL="213360" marR="1187450" indent="-201295">
              <a:lnSpc>
                <a:spcPct val="110400"/>
              </a:lnSpc>
              <a:spcBef>
                <a:spcPts val="20"/>
              </a:spcBef>
            </a:pPr>
            <a:r>
              <a:rPr sz="2400" b="1" spc="-270" dirty="0">
                <a:solidFill>
                  <a:srgbClr val="3E3E3E"/>
                </a:solidFill>
                <a:latin typeface="Georgia"/>
                <a:cs typeface="Georgia"/>
              </a:rPr>
              <a:t>&lt; </a:t>
            </a:r>
            <a:r>
              <a:rPr sz="2400" b="1" spc="-145" dirty="0">
                <a:solidFill>
                  <a:srgbClr val="3E3E3E"/>
                </a:solidFill>
                <a:latin typeface="Georgia"/>
                <a:cs typeface="Georgia"/>
              </a:rPr>
              <a:t>input </a:t>
            </a:r>
            <a:r>
              <a:rPr sz="2400" b="1" spc="-155" dirty="0">
                <a:solidFill>
                  <a:srgbClr val="3E3E3E"/>
                </a:solidFill>
                <a:latin typeface="Georgia"/>
                <a:cs typeface="Georgia"/>
              </a:rPr>
              <a:t>type="checkbox" </a:t>
            </a:r>
            <a:r>
              <a:rPr sz="2400" b="1" spc="-190" dirty="0">
                <a:solidFill>
                  <a:srgbClr val="3E3E3E"/>
                </a:solidFill>
                <a:latin typeface="Georgia"/>
                <a:cs typeface="Georgia"/>
              </a:rPr>
              <a:t>name="bike"&gt;  </a:t>
            </a:r>
            <a:r>
              <a:rPr sz="2400" b="1" spc="-235" dirty="0">
                <a:solidFill>
                  <a:srgbClr val="3E3E3E"/>
                </a:solidFill>
                <a:latin typeface="Georgia"/>
                <a:cs typeface="Georgia"/>
              </a:rPr>
              <a:t>I </a:t>
            </a:r>
            <a:r>
              <a:rPr sz="2400" b="1" spc="-170" dirty="0">
                <a:solidFill>
                  <a:srgbClr val="3E3E3E"/>
                </a:solidFill>
                <a:latin typeface="Georgia"/>
                <a:cs typeface="Georgia"/>
              </a:rPr>
              <a:t>have </a:t>
            </a:r>
            <a:r>
              <a:rPr sz="2400" b="1" spc="-150" dirty="0">
                <a:solidFill>
                  <a:srgbClr val="3E3E3E"/>
                </a:solidFill>
                <a:latin typeface="Georgia"/>
                <a:cs typeface="Georgia"/>
              </a:rPr>
              <a:t>a</a:t>
            </a:r>
            <a:r>
              <a:rPr sz="2400" b="1" spc="-24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400" b="1" spc="-160" dirty="0">
                <a:solidFill>
                  <a:srgbClr val="3E3E3E"/>
                </a:solidFill>
                <a:latin typeface="Georgia"/>
                <a:cs typeface="Georgia"/>
              </a:rPr>
              <a:t>bike&lt;br&gt;</a:t>
            </a:r>
            <a:endParaRPr sz="2400">
              <a:latin typeface="Georgia"/>
              <a:cs typeface="Georgia"/>
            </a:endParaRPr>
          </a:p>
          <a:p>
            <a:pPr marL="213360" marR="1347470" indent="-201295">
              <a:lnSpc>
                <a:spcPts val="3180"/>
              </a:lnSpc>
              <a:spcBef>
                <a:spcPts val="135"/>
              </a:spcBef>
            </a:pPr>
            <a:r>
              <a:rPr sz="2400" b="1" spc="-270" dirty="0">
                <a:solidFill>
                  <a:srgbClr val="3E3E3E"/>
                </a:solidFill>
                <a:latin typeface="Georgia"/>
                <a:cs typeface="Georgia"/>
              </a:rPr>
              <a:t>&lt; </a:t>
            </a:r>
            <a:r>
              <a:rPr sz="2400" b="1" spc="-145" dirty="0">
                <a:solidFill>
                  <a:srgbClr val="3E3E3E"/>
                </a:solidFill>
                <a:latin typeface="Georgia"/>
                <a:cs typeface="Georgia"/>
              </a:rPr>
              <a:t>input </a:t>
            </a:r>
            <a:r>
              <a:rPr sz="2400" b="1" spc="-155" dirty="0">
                <a:solidFill>
                  <a:srgbClr val="3E3E3E"/>
                </a:solidFill>
                <a:latin typeface="Georgia"/>
                <a:cs typeface="Georgia"/>
              </a:rPr>
              <a:t>type="checkbox" </a:t>
            </a:r>
            <a:r>
              <a:rPr sz="2400" b="1" spc="-200" dirty="0">
                <a:solidFill>
                  <a:srgbClr val="3E3E3E"/>
                </a:solidFill>
                <a:latin typeface="Georgia"/>
                <a:cs typeface="Georgia"/>
              </a:rPr>
              <a:t>name="car"&gt;  </a:t>
            </a:r>
            <a:r>
              <a:rPr sz="2400" b="1" spc="-235" dirty="0">
                <a:solidFill>
                  <a:srgbClr val="3E3E3E"/>
                </a:solidFill>
                <a:latin typeface="Georgia"/>
                <a:cs typeface="Georgia"/>
              </a:rPr>
              <a:t>I </a:t>
            </a:r>
            <a:r>
              <a:rPr sz="2400" b="1" spc="-170" dirty="0">
                <a:solidFill>
                  <a:srgbClr val="3E3E3E"/>
                </a:solidFill>
                <a:latin typeface="Georgia"/>
                <a:cs typeface="Georgia"/>
              </a:rPr>
              <a:t>have </a:t>
            </a:r>
            <a:r>
              <a:rPr sz="2400" b="1" spc="-150" dirty="0">
                <a:solidFill>
                  <a:srgbClr val="3E3E3E"/>
                </a:solidFill>
                <a:latin typeface="Georgia"/>
                <a:cs typeface="Georgia"/>
              </a:rPr>
              <a:t>a car</a:t>
            </a:r>
            <a:r>
              <a:rPr sz="2400" b="1" spc="-15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400" b="1" spc="-210" dirty="0">
                <a:solidFill>
                  <a:srgbClr val="3E3E3E"/>
                </a:solidFill>
                <a:latin typeface="Georgia"/>
                <a:cs typeface="Georgia"/>
              </a:rPr>
              <a:t>&lt;br&gt;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139" y="4998720"/>
            <a:ext cx="65709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600" spc="-65" dirty="0">
                <a:solidFill>
                  <a:srgbClr val="3E3E3E"/>
                </a:solidFill>
                <a:latin typeface="Arial"/>
                <a:cs typeface="Arial"/>
              </a:rPr>
              <a:t>Note: </a:t>
            </a:r>
            <a:r>
              <a:rPr sz="2600" spc="-19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600" spc="-140" dirty="0">
                <a:solidFill>
                  <a:srgbClr val="3E3E3E"/>
                </a:solidFill>
                <a:latin typeface="Arial"/>
                <a:cs typeface="Arial"/>
              </a:rPr>
              <a:t>name </a:t>
            </a:r>
            <a:r>
              <a:rPr sz="2600" spc="-40" dirty="0">
                <a:solidFill>
                  <a:srgbClr val="3E3E3E"/>
                </a:solidFill>
                <a:latin typeface="Arial"/>
                <a:cs typeface="Arial"/>
              </a:rPr>
              <a:t>attributes </a:t>
            </a:r>
            <a:r>
              <a:rPr sz="2600" spc="-125" dirty="0">
                <a:solidFill>
                  <a:srgbClr val="3E3E3E"/>
                </a:solidFill>
                <a:latin typeface="Arial"/>
                <a:cs typeface="Arial"/>
              </a:rPr>
              <a:t>are </a:t>
            </a:r>
            <a:r>
              <a:rPr sz="2600" spc="-35" dirty="0">
                <a:solidFill>
                  <a:srgbClr val="3E3E3E"/>
                </a:solidFill>
                <a:latin typeface="Arial"/>
                <a:cs typeface="Arial"/>
              </a:rPr>
              <a:t>different.</a:t>
            </a:r>
            <a:r>
              <a:rPr sz="2600" spc="-3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60" dirty="0">
                <a:solidFill>
                  <a:srgbClr val="3E3E3E"/>
                </a:solidFill>
                <a:latin typeface="Arial"/>
                <a:cs typeface="Arial"/>
              </a:rPr>
              <a:t>Why?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28800" y="3962400"/>
            <a:ext cx="3078543" cy="7905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60265" y="6629901"/>
            <a:ext cx="1298575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5"/>
              </a:lnSpc>
            </a:pPr>
            <a:r>
              <a:rPr sz="1200" spc="-390" dirty="0">
                <a:solidFill>
                  <a:srgbClr val="3E3E3E"/>
                </a:solidFill>
                <a:latin typeface="Georgia"/>
                <a:cs typeface="Georgia"/>
              </a:rPr>
              <a:t>WWeebb</a:t>
            </a:r>
            <a:r>
              <a:rPr sz="1200" spc="40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1200" spc="-315" dirty="0">
                <a:solidFill>
                  <a:srgbClr val="3E3E3E"/>
                </a:solidFill>
                <a:latin typeface="Georgia"/>
                <a:cs typeface="Georgia"/>
              </a:rPr>
              <a:t>DDeevveellooppmmeenntt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1698" y="472440"/>
            <a:ext cx="23882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>
                <a:solidFill>
                  <a:srgbClr val="00506D"/>
                </a:solidFill>
              </a:rPr>
              <a:t>S</a:t>
            </a:r>
            <a:r>
              <a:rPr spc="254" dirty="0">
                <a:solidFill>
                  <a:srgbClr val="00506D"/>
                </a:solidFill>
              </a:rPr>
              <a:t>e</a:t>
            </a:r>
            <a:r>
              <a:rPr spc="145" dirty="0">
                <a:solidFill>
                  <a:srgbClr val="00506D"/>
                </a:solidFill>
              </a:rPr>
              <a:t>l</a:t>
            </a:r>
            <a:r>
              <a:rPr spc="350" dirty="0">
                <a:solidFill>
                  <a:srgbClr val="00506D"/>
                </a:solidFill>
              </a:rPr>
              <a:t>e</a:t>
            </a:r>
            <a:r>
              <a:rPr spc="335" dirty="0">
                <a:solidFill>
                  <a:srgbClr val="00506D"/>
                </a:solidFill>
              </a:rPr>
              <a:t>c</a:t>
            </a:r>
            <a:r>
              <a:rPr spc="-204" dirty="0">
                <a:solidFill>
                  <a:srgbClr val="00506D"/>
                </a:solidFill>
              </a:rPr>
              <a:t>t</a:t>
            </a:r>
            <a:r>
              <a:rPr spc="-10" dirty="0">
                <a:solidFill>
                  <a:srgbClr val="00506D"/>
                </a:solidFill>
              </a:rPr>
              <a:t>i</a:t>
            </a:r>
            <a:r>
              <a:rPr spc="30" dirty="0">
                <a:solidFill>
                  <a:srgbClr val="00506D"/>
                </a:solidFill>
              </a:rPr>
              <a:t>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9831" y="1305559"/>
            <a:ext cx="7268845" cy="3745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265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120" dirty="0">
                <a:solidFill>
                  <a:srgbClr val="3E3E3E"/>
                </a:solidFill>
                <a:latin typeface="Arial"/>
                <a:cs typeface="Arial"/>
              </a:rPr>
              <a:t>Selection, </a:t>
            </a:r>
            <a:r>
              <a:rPr sz="2800" spc="-20" dirty="0">
                <a:solidFill>
                  <a:srgbClr val="3E3E3E"/>
                </a:solidFill>
                <a:latin typeface="Arial"/>
                <a:cs typeface="Arial"/>
              </a:rPr>
              <a:t>or </a:t>
            </a:r>
            <a:r>
              <a:rPr sz="2800" spc="-70" dirty="0">
                <a:solidFill>
                  <a:srgbClr val="3E3E3E"/>
                </a:solidFill>
                <a:latin typeface="Arial"/>
                <a:cs typeface="Arial"/>
              </a:rPr>
              <a:t>drop-down, </a:t>
            </a:r>
            <a:r>
              <a:rPr sz="2800" spc="-95" dirty="0">
                <a:solidFill>
                  <a:srgbClr val="3E3E3E"/>
                </a:solidFill>
                <a:latin typeface="Arial"/>
                <a:cs typeface="Arial"/>
              </a:rPr>
              <a:t>lists </a:t>
            </a:r>
            <a:r>
              <a:rPr sz="2800" spc="-70" dirty="0">
                <a:solidFill>
                  <a:srgbClr val="3E3E3E"/>
                </a:solidFill>
                <a:latin typeface="Arial"/>
                <a:cs typeface="Arial"/>
              </a:rPr>
              <a:t>typically </a:t>
            </a:r>
            <a:r>
              <a:rPr sz="2800" spc="-65" dirty="0">
                <a:solidFill>
                  <a:srgbClr val="3E3E3E"/>
                </a:solidFill>
                <a:latin typeface="Arial"/>
                <a:cs typeface="Arial"/>
              </a:rPr>
              <a:t>allow</a:t>
            </a:r>
            <a:r>
              <a:rPr sz="2800" spc="-5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the  </a:t>
            </a:r>
            <a:r>
              <a:rPr sz="2800" spc="-125" dirty="0">
                <a:solidFill>
                  <a:srgbClr val="3E3E3E"/>
                </a:solidFill>
                <a:latin typeface="Arial"/>
                <a:cs typeface="Arial"/>
              </a:rPr>
              <a:t>user</a:t>
            </a:r>
            <a:r>
              <a:rPr sz="28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25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8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3E3E3E"/>
                </a:solidFill>
                <a:latin typeface="Arial"/>
                <a:cs typeface="Arial"/>
              </a:rPr>
              <a:t>select</a:t>
            </a:r>
            <a:r>
              <a:rPr sz="28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i="1" spc="-110" dirty="0">
                <a:solidFill>
                  <a:srgbClr val="3E3E3E"/>
                </a:solidFill>
                <a:latin typeface="Trebuchet MS"/>
                <a:cs typeface="Trebuchet MS"/>
              </a:rPr>
              <a:t>one</a:t>
            </a:r>
            <a:r>
              <a:rPr sz="2800" i="1" spc="-215" dirty="0">
                <a:solidFill>
                  <a:srgbClr val="3E3E3E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3E3E3E"/>
                </a:solidFill>
                <a:latin typeface="Arial"/>
                <a:cs typeface="Arial"/>
              </a:rPr>
              <a:t>value</a:t>
            </a:r>
            <a:r>
              <a:rPr sz="28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E3E3E"/>
                </a:solidFill>
                <a:latin typeface="Arial"/>
                <a:cs typeface="Arial"/>
              </a:rPr>
              <a:t>from</a:t>
            </a:r>
            <a:r>
              <a:rPr sz="2800" spc="-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22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8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3E3E3E"/>
                </a:solidFill>
                <a:latin typeface="Arial"/>
                <a:cs typeface="Arial"/>
              </a:rPr>
              <a:t>list</a:t>
            </a:r>
            <a:r>
              <a:rPr sz="28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E3E3E"/>
                </a:solidFill>
                <a:latin typeface="Arial"/>
                <a:cs typeface="Arial"/>
              </a:rPr>
              <a:t>of</a:t>
            </a:r>
            <a:r>
              <a:rPr sz="28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3E3E3E"/>
                </a:solidFill>
                <a:latin typeface="Arial"/>
                <a:cs typeface="Arial"/>
              </a:rPr>
              <a:t>options.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600" b="1" spc="-145" dirty="0">
                <a:solidFill>
                  <a:srgbClr val="3E3E3E"/>
                </a:solidFill>
                <a:latin typeface="Georgia"/>
                <a:cs typeface="Georgia"/>
              </a:rPr>
              <a:t>&lt;select</a:t>
            </a:r>
            <a:r>
              <a:rPr sz="2600" b="1" spc="-114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600" b="1" spc="-204" dirty="0">
                <a:solidFill>
                  <a:srgbClr val="3E3E3E"/>
                </a:solidFill>
                <a:latin typeface="Georgia"/>
                <a:cs typeface="Georgia"/>
              </a:rPr>
              <a:t>name="cars"&gt;</a:t>
            </a:r>
            <a:endParaRPr sz="2600">
              <a:latin typeface="Georgia"/>
              <a:cs typeface="Georgia"/>
            </a:endParaRPr>
          </a:p>
          <a:p>
            <a:pPr marL="926465">
              <a:lnSpc>
                <a:spcPct val="100000"/>
              </a:lnSpc>
              <a:spcBef>
                <a:spcPts val="615"/>
              </a:spcBef>
            </a:pPr>
            <a:r>
              <a:rPr sz="2600" b="1" spc="-175" dirty="0">
                <a:solidFill>
                  <a:srgbClr val="3E3E3E"/>
                </a:solidFill>
                <a:latin typeface="Georgia"/>
                <a:cs typeface="Georgia"/>
              </a:rPr>
              <a:t>&lt;option</a:t>
            </a:r>
            <a:r>
              <a:rPr sz="2600" b="1" spc="-9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600" b="1" spc="-195" dirty="0">
                <a:solidFill>
                  <a:srgbClr val="3E3E3E"/>
                </a:solidFill>
                <a:latin typeface="Georgia"/>
                <a:cs typeface="Georgia"/>
              </a:rPr>
              <a:t>value="volvo"&gt;Volvo&lt;/option&gt;</a:t>
            </a:r>
            <a:endParaRPr sz="2600">
              <a:latin typeface="Georgia"/>
              <a:cs typeface="Georgia"/>
            </a:endParaRPr>
          </a:p>
          <a:p>
            <a:pPr marL="926465">
              <a:lnSpc>
                <a:spcPct val="100000"/>
              </a:lnSpc>
              <a:spcBef>
                <a:spcPts val="620"/>
              </a:spcBef>
            </a:pPr>
            <a:r>
              <a:rPr sz="2600" b="1" spc="-175" dirty="0">
                <a:solidFill>
                  <a:srgbClr val="3E3E3E"/>
                </a:solidFill>
                <a:latin typeface="Georgia"/>
                <a:cs typeface="Georgia"/>
              </a:rPr>
              <a:t>&lt;option</a:t>
            </a:r>
            <a:r>
              <a:rPr sz="2600" b="1" spc="-9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600" b="1" spc="-185" dirty="0">
                <a:solidFill>
                  <a:srgbClr val="3E3E3E"/>
                </a:solidFill>
                <a:latin typeface="Georgia"/>
                <a:cs typeface="Georgia"/>
              </a:rPr>
              <a:t>value="saab"&gt;Saab&lt;/option&gt;</a:t>
            </a:r>
            <a:endParaRPr sz="2600">
              <a:latin typeface="Georgia"/>
              <a:cs typeface="Georgia"/>
            </a:endParaRPr>
          </a:p>
          <a:p>
            <a:pPr marL="926465">
              <a:lnSpc>
                <a:spcPct val="100000"/>
              </a:lnSpc>
              <a:spcBef>
                <a:spcPts val="620"/>
              </a:spcBef>
            </a:pPr>
            <a:r>
              <a:rPr sz="2600" b="1" spc="-175" dirty="0">
                <a:solidFill>
                  <a:srgbClr val="3E3E3E"/>
                </a:solidFill>
                <a:latin typeface="Georgia"/>
                <a:cs typeface="Georgia"/>
              </a:rPr>
              <a:t>&lt;option</a:t>
            </a:r>
            <a:r>
              <a:rPr sz="2600" b="1" spc="-100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600" b="1" spc="-170" dirty="0">
                <a:solidFill>
                  <a:srgbClr val="3E3E3E"/>
                </a:solidFill>
                <a:latin typeface="Georgia"/>
                <a:cs typeface="Georgia"/>
              </a:rPr>
              <a:t>value="fiat"&gt;Fiat&lt;/option&gt;</a:t>
            </a:r>
            <a:endParaRPr sz="2600">
              <a:latin typeface="Georgia"/>
              <a:cs typeface="Georgia"/>
            </a:endParaRPr>
          </a:p>
          <a:p>
            <a:pPr marL="926465">
              <a:lnSpc>
                <a:spcPct val="100000"/>
              </a:lnSpc>
              <a:spcBef>
                <a:spcPts val="620"/>
              </a:spcBef>
            </a:pPr>
            <a:r>
              <a:rPr sz="2600" b="1" spc="-175" dirty="0">
                <a:solidFill>
                  <a:srgbClr val="3E3E3E"/>
                </a:solidFill>
                <a:latin typeface="Georgia"/>
                <a:cs typeface="Georgia"/>
              </a:rPr>
              <a:t>&lt;option</a:t>
            </a:r>
            <a:r>
              <a:rPr sz="2600" b="1" spc="-9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600" b="1" spc="-185" dirty="0">
                <a:solidFill>
                  <a:srgbClr val="3E3E3E"/>
                </a:solidFill>
                <a:latin typeface="Georgia"/>
                <a:cs typeface="Georgia"/>
              </a:rPr>
              <a:t>value="audi"&gt;Audi&lt;/option&gt;</a:t>
            </a:r>
            <a:endParaRPr sz="2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600" b="1" spc="-135" dirty="0">
                <a:solidFill>
                  <a:srgbClr val="3E3E3E"/>
                </a:solidFill>
                <a:latin typeface="Georgia"/>
                <a:cs typeface="Georgia"/>
              </a:rPr>
              <a:t>&lt;/select&gt;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82180" y="5062222"/>
            <a:ext cx="1861820" cy="17957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71540" y="6617201"/>
            <a:ext cx="1174750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00" spc="5" dirty="0">
                <a:solidFill>
                  <a:srgbClr val="009FDA"/>
                </a:solidFill>
                <a:latin typeface="Georgia"/>
                <a:cs typeface="Georgia"/>
              </a:rPr>
              <a:t>Fundamentals</a:t>
            </a:r>
            <a:r>
              <a:rPr sz="1200" spc="-70" dirty="0">
                <a:solidFill>
                  <a:srgbClr val="009FDA"/>
                </a:solidFill>
                <a:latin typeface="Georgia"/>
                <a:cs typeface="Georgia"/>
              </a:rPr>
              <a:t> </a:t>
            </a:r>
            <a:r>
              <a:rPr sz="1200" spc="-5" dirty="0">
                <a:solidFill>
                  <a:srgbClr val="3E3E3E"/>
                </a:solidFill>
                <a:latin typeface="Georgia"/>
                <a:cs typeface="Georgia"/>
              </a:rPr>
              <a:t>of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lang="en-US"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139" y="1661477"/>
            <a:ext cx="6171565" cy="158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b="1" spc="-150" dirty="0">
                <a:solidFill>
                  <a:srgbClr val="3E3E3E"/>
                </a:solidFill>
                <a:latin typeface="Arial"/>
                <a:cs typeface="Arial"/>
              </a:rPr>
              <a:t>value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attribute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&lt;option&gt;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r>
              <a:rPr sz="2200" spc="-4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used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 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specify</a:t>
            </a: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what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value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srgbClr val="3E3E3E"/>
                </a:solidFill>
                <a:latin typeface="Arial"/>
                <a:cs typeface="Arial"/>
              </a:rPr>
              <a:t>will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be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sent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back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server.</a:t>
            </a:r>
            <a:endParaRPr sz="2200">
              <a:latin typeface="Arial"/>
              <a:cs typeface="Arial"/>
            </a:endParaRPr>
          </a:p>
          <a:p>
            <a:pPr marL="12700" marR="418465">
              <a:lnSpc>
                <a:spcPct val="100000"/>
              </a:lnSpc>
              <a:spcBef>
                <a:spcPts val="1720"/>
              </a:spcBef>
            </a:pP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value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attribute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optional;</a:t>
            </a:r>
            <a:r>
              <a:rPr sz="22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35" dirty="0">
                <a:solidFill>
                  <a:srgbClr val="3E3E3E"/>
                </a:solidFill>
                <a:latin typeface="Arial"/>
                <a:cs typeface="Arial"/>
              </a:rPr>
              <a:t>if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65" dirty="0">
                <a:solidFill>
                  <a:srgbClr val="3E3E3E"/>
                </a:solidFill>
                <a:latin typeface="Arial"/>
                <a:cs typeface="Arial"/>
              </a:rPr>
              <a:t>it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not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specified, 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then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text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within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container</a:t>
            </a:r>
            <a:r>
              <a:rPr sz="2200" spc="-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sent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instead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3139" y="41550"/>
            <a:ext cx="5219700" cy="10534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pc="60" dirty="0"/>
              <a:t>Which </a:t>
            </a:r>
            <a:r>
              <a:rPr spc="35" dirty="0"/>
              <a:t>Value </a:t>
            </a:r>
            <a:r>
              <a:rPr spc="-30" dirty="0"/>
              <a:t>to</a:t>
            </a:r>
            <a:r>
              <a:rPr spc="-390" dirty="0"/>
              <a:t> </a:t>
            </a:r>
            <a:r>
              <a:rPr spc="160" dirty="0"/>
              <a:t>send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spc="40" dirty="0"/>
              <a:t>Select </a:t>
            </a:r>
            <a:r>
              <a:rPr sz="1500" spc="-25" dirty="0"/>
              <a:t>Lists</a:t>
            </a:r>
            <a:r>
              <a:rPr sz="1500" spc="-10" dirty="0"/>
              <a:t> </a:t>
            </a:r>
            <a:r>
              <a:rPr sz="1500" spc="35" dirty="0"/>
              <a:t>Cont.</a:t>
            </a:r>
            <a:endParaRPr sz="1500"/>
          </a:p>
        </p:txBody>
      </p:sp>
      <p:sp>
        <p:nvSpPr>
          <p:cNvPr id="8" name="object 8"/>
          <p:cNvSpPr/>
          <p:nvPr/>
        </p:nvSpPr>
        <p:spPr>
          <a:xfrm>
            <a:off x="1676400" y="2819400"/>
            <a:ext cx="6642100" cy="3573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67640"/>
            <a:ext cx="27203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00506D"/>
                </a:solidFill>
              </a:rPr>
              <a:t>Text </a:t>
            </a:r>
            <a:r>
              <a:rPr spc="110" dirty="0">
                <a:solidFill>
                  <a:srgbClr val="00506D"/>
                </a:solidFill>
              </a:rPr>
              <a:t>Areas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2407" y="1139887"/>
            <a:ext cx="7301230" cy="419798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5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800" spc="-20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800" spc="-240" dirty="0">
                <a:solidFill>
                  <a:srgbClr val="3E3E3E"/>
                </a:solidFill>
                <a:latin typeface="Arial"/>
                <a:cs typeface="Arial"/>
              </a:rPr>
              <a:t>HTML </a:t>
            </a:r>
            <a:r>
              <a:rPr sz="2800" spc="-10" dirty="0">
                <a:solidFill>
                  <a:srgbClr val="3E3E3E"/>
                </a:solidFill>
                <a:latin typeface="Arial"/>
                <a:cs typeface="Arial"/>
              </a:rPr>
              <a:t>for </a:t>
            </a:r>
            <a:r>
              <a:rPr sz="2800" spc="-22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text </a:t>
            </a:r>
            <a:r>
              <a:rPr sz="2800" spc="-150" dirty="0">
                <a:solidFill>
                  <a:srgbClr val="3E3E3E"/>
                </a:solidFill>
                <a:latin typeface="Arial"/>
                <a:cs typeface="Arial"/>
              </a:rPr>
              <a:t>area </a:t>
            </a:r>
            <a:r>
              <a:rPr sz="2800" spc="15" dirty="0">
                <a:solidFill>
                  <a:srgbClr val="3E3E3E"/>
                </a:solidFill>
                <a:latin typeface="Arial"/>
                <a:cs typeface="Arial"/>
              </a:rPr>
              <a:t>with </a:t>
            </a:r>
            <a:r>
              <a:rPr sz="2800" spc="-55" dirty="0">
                <a:solidFill>
                  <a:srgbClr val="3E3E3E"/>
                </a:solidFill>
                <a:latin typeface="Arial"/>
                <a:cs typeface="Arial"/>
              </a:rPr>
              <a:t>default</a:t>
            </a:r>
            <a:r>
              <a:rPr sz="2800" spc="-3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3E3E3E"/>
                </a:solidFill>
                <a:latin typeface="Arial"/>
                <a:cs typeface="Arial"/>
              </a:rPr>
              <a:t>text: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600" b="1" spc="-225" dirty="0">
                <a:solidFill>
                  <a:srgbClr val="3E3E3E"/>
                </a:solidFill>
                <a:latin typeface="Georgia"/>
                <a:cs typeface="Georgia"/>
              </a:rPr>
              <a:t>Comments:&lt;br&gt;</a:t>
            </a:r>
            <a:endParaRPr sz="2600">
              <a:latin typeface="Georgia"/>
              <a:cs typeface="Georgia"/>
            </a:endParaRPr>
          </a:p>
          <a:p>
            <a:pPr marL="12700" marR="415925">
              <a:lnSpc>
                <a:spcPct val="90100"/>
              </a:lnSpc>
              <a:spcBef>
                <a:spcPts val="630"/>
              </a:spcBef>
            </a:pPr>
            <a:r>
              <a:rPr sz="2600" b="1" spc="-165" dirty="0">
                <a:solidFill>
                  <a:srgbClr val="3E3E3E"/>
                </a:solidFill>
                <a:latin typeface="Georgia"/>
                <a:cs typeface="Georgia"/>
              </a:rPr>
              <a:t>&lt;textarea </a:t>
            </a:r>
            <a:r>
              <a:rPr sz="2600" b="1" spc="-210" dirty="0">
                <a:solidFill>
                  <a:srgbClr val="3E3E3E"/>
                </a:solidFill>
                <a:latin typeface="Georgia"/>
                <a:cs typeface="Georgia"/>
              </a:rPr>
              <a:t>name="comments" </a:t>
            </a:r>
            <a:r>
              <a:rPr sz="2600" b="1" spc="-175" dirty="0">
                <a:solidFill>
                  <a:srgbClr val="3E3E3E"/>
                </a:solidFill>
                <a:latin typeface="Georgia"/>
                <a:cs typeface="Georgia"/>
              </a:rPr>
              <a:t>placeholder="If  </a:t>
            </a:r>
            <a:r>
              <a:rPr sz="2600" b="1" spc="-185" dirty="0">
                <a:solidFill>
                  <a:srgbClr val="3E3E3E"/>
                </a:solidFill>
                <a:latin typeface="Georgia"/>
                <a:cs typeface="Georgia"/>
              </a:rPr>
              <a:t>you have any </a:t>
            </a:r>
            <a:r>
              <a:rPr sz="2600" b="1" spc="-204" dirty="0">
                <a:solidFill>
                  <a:srgbClr val="3E3E3E"/>
                </a:solidFill>
                <a:latin typeface="Georgia"/>
                <a:cs typeface="Georgia"/>
              </a:rPr>
              <a:t>comments, </a:t>
            </a:r>
            <a:r>
              <a:rPr sz="2600" b="1" spc="-130" dirty="0">
                <a:solidFill>
                  <a:srgbClr val="3E3E3E"/>
                </a:solidFill>
                <a:latin typeface="Georgia"/>
                <a:cs typeface="Georgia"/>
              </a:rPr>
              <a:t>please </a:t>
            </a:r>
            <a:r>
              <a:rPr sz="2600" b="1" spc="-150" dirty="0">
                <a:solidFill>
                  <a:srgbClr val="3E3E3E"/>
                </a:solidFill>
                <a:latin typeface="Georgia"/>
                <a:cs typeface="Georgia"/>
              </a:rPr>
              <a:t>enter </a:t>
            </a:r>
            <a:r>
              <a:rPr sz="2600" b="1" spc="-185" dirty="0">
                <a:solidFill>
                  <a:srgbClr val="3E3E3E"/>
                </a:solidFill>
                <a:latin typeface="Georgia"/>
                <a:cs typeface="Georgia"/>
              </a:rPr>
              <a:t>them  </a:t>
            </a:r>
            <a:r>
              <a:rPr sz="2600" b="1" spc="-229" dirty="0">
                <a:solidFill>
                  <a:srgbClr val="3E3E3E"/>
                </a:solidFill>
                <a:latin typeface="Georgia"/>
                <a:cs typeface="Georgia"/>
              </a:rPr>
              <a:t>here."&gt;</a:t>
            </a:r>
            <a:endParaRPr sz="2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600" b="1" spc="-155" dirty="0">
                <a:solidFill>
                  <a:srgbClr val="3E3E3E"/>
                </a:solidFill>
                <a:latin typeface="Georgia"/>
                <a:cs typeface="Georgia"/>
              </a:rPr>
              <a:t>&lt;/textarea&gt;</a:t>
            </a:r>
            <a:endParaRPr sz="26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50">
              <a:latin typeface="Times New Roman"/>
              <a:cs typeface="Times New Roman"/>
            </a:endParaRPr>
          </a:p>
          <a:p>
            <a:pPr marL="12700" marR="5080">
              <a:lnSpc>
                <a:spcPts val="2820"/>
              </a:lnSpc>
              <a:tabLst>
                <a:tab pos="6196965" algn="l"/>
              </a:tabLst>
            </a:pPr>
            <a:r>
              <a:rPr sz="2600" spc="-65" dirty="0">
                <a:solidFill>
                  <a:srgbClr val="3E3E3E"/>
                </a:solidFill>
                <a:latin typeface="Arial"/>
                <a:cs typeface="Arial"/>
              </a:rPr>
              <a:t>Note: </a:t>
            </a:r>
            <a:r>
              <a:rPr sz="2600" spc="-175" dirty="0">
                <a:solidFill>
                  <a:srgbClr val="3E3E3E"/>
                </a:solidFill>
                <a:latin typeface="Arial"/>
                <a:cs typeface="Arial"/>
              </a:rPr>
              <a:t>This 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input </a:t>
            </a:r>
            <a:r>
              <a:rPr sz="2600" spc="5" dirty="0">
                <a:solidFill>
                  <a:srgbClr val="3E3E3E"/>
                </a:solidFill>
                <a:latin typeface="Arial"/>
                <a:cs typeface="Arial"/>
              </a:rPr>
              <a:t>will </a:t>
            </a:r>
            <a:r>
              <a:rPr sz="2600" spc="-70" dirty="0">
                <a:solidFill>
                  <a:srgbClr val="3E3E3E"/>
                </a:solidFill>
                <a:latin typeface="Arial"/>
                <a:cs typeface="Arial"/>
              </a:rPr>
              <a:t>require</a:t>
            </a:r>
            <a:r>
              <a:rPr sz="2600" spc="-3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30" dirty="0">
                <a:solidFill>
                  <a:srgbClr val="3E3E3E"/>
                </a:solidFill>
                <a:latin typeface="Arial"/>
                <a:cs typeface="Arial"/>
              </a:rPr>
              <a:t>special</a:t>
            </a:r>
            <a:r>
              <a:rPr sz="26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95" dirty="0">
                <a:solidFill>
                  <a:srgbClr val="3E3E3E"/>
                </a:solidFill>
                <a:latin typeface="Arial"/>
                <a:cs typeface="Arial"/>
              </a:rPr>
              <a:t>handling.	</a:t>
            </a:r>
            <a:r>
              <a:rPr sz="2600" spc="-45" dirty="0">
                <a:solidFill>
                  <a:srgbClr val="3E3E3E"/>
                </a:solidFill>
                <a:latin typeface="Arial"/>
                <a:cs typeface="Arial"/>
              </a:rPr>
              <a:t>More</a:t>
            </a:r>
            <a:r>
              <a:rPr sz="2600" spc="-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srgbClr val="3E3E3E"/>
                </a:solidFill>
                <a:latin typeface="Arial"/>
                <a:cs typeface="Arial"/>
              </a:rPr>
              <a:t>to  </a:t>
            </a:r>
            <a:r>
              <a:rPr sz="2600" spc="-135" dirty="0">
                <a:solidFill>
                  <a:srgbClr val="3E3E3E"/>
                </a:solidFill>
                <a:latin typeface="Arial"/>
                <a:cs typeface="Arial"/>
              </a:rPr>
              <a:t>come </a:t>
            </a:r>
            <a:r>
              <a:rPr sz="2600" spc="-65" dirty="0">
                <a:solidFill>
                  <a:srgbClr val="3E3E3E"/>
                </a:solidFill>
                <a:latin typeface="Arial"/>
                <a:cs typeface="Arial"/>
              </a:rPr>
              <a:t>about </a:t>
            </a:r>
            <a:r>
              <a:rPr sz="2600" spc="-5" dirty="0">
                <a:solidFill>
                  <a:srgbClr val="3E3E3E"/>
                </a:solidFill>
                <a:latin typeface="Arial"/>
                <a:cs typeface="Arial"/>
              </a:rPr>
              <a:t>that</a:t>
            </a:r>
            <a:r>
              <a:rPr sz="2600" spc="-2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70" dirty="0">
                <a:solidFill>
                  <a:srgbClr val="3E3E3E"/>
                </a:solidFill>
                <a:latin typeface="Arial"/>
                <a:cs typeface="Arial"/>
              </a:rPr>
              <a:t>later…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6600" y="3048000"/>
            <a:ext cx="5333987" cy="1595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701040"/>
            <a:ext cx="38900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>
                <a:solidFill>
                  <a:srgbClr val="00506D"/>
                </a:solidFill>
              </a:rPr>
              <a:t>type=</a:t>
            </a:r>
            <a:r>
              <a:rPr spc="-45" dirty="0">
                <a:solidFill>
                  <a:srgbClr val="00506D"/>
                </a:solidFill>
              </a:rPr>
              <a:t> </a:t>
            </a:r>
            <a:r>
              <a:rPr spc="10" dirty="0">
                <a:solidFill>
                  <a:srgbClr val="00506D"/>
                </a:solidFill>
              </a:rPr>
              <a:t>"submit"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7340" y="1670405"/>
            <a:ext cx="807402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18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60" dirty="0">
                <a:solidFill>
                  <a:srgbClr val="3E3E3E"/>
                </a:solidFill>
                <a:latin typeface="Arial"/>
                <a:cs typeface="Arial"/>
              </a:rPr>
              <a:t>submit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button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used 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send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form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data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somewhere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for  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processing.</a:t>
            </a:r>
            <a:r>
              <a:rPr sz="24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8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is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sent</a:t>
            </a:r>
            <a:r>
              <a:rPr sz="24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3E3E3E"/>
                </a:solidFill>
                <a:latin typeface="Arial"/>
                <a:cs typeface="Arial"/>
              </a:rPr>
              <a:t>page</a:t>
            </a:r>
            <a:r>
              <a:rPr sz="24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3E3E3E"/>
                </a:solidFill>
                <a:latin typeface="Arial"/>
                <a:cs typeface="Arial"/>
              </a:rPr>
              <a:t>specified</a:t>
            </a:r>
            <a:r>
              <a:rPr sz="24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in</a:t>
            </a:r>
            <a:r>
              <a:rPr sz="24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form's 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action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attribute.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8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file</a:t>
            </a:r>
            <a:r>
              <a:rPr sz="24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defined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in</a:t>
            </a:r>
            <a:r>
              <a:rPr sz="24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action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attribute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0" dirty="0">
                <a:solidFill>
                  <a:srgbClr val="3E3E3E"/>
                </a:solidFill>
                <a:latin typeface="Arial"/>
                <a:cs typeface="Arial"/>
              </a:rPr>
              <a:t>usually  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does </a:t>
            </a:r>
            <a:r>
              <a:rPr sz="2400" spc="-90" dirty="0">
                <a:solidFill>
                  <a:srgbClr val="3E3E3E"/>
                </a:solidFill>
                <a:latin typeface="Arial"/>
                <a:cs typeface="Arial"/>
              </a:rPr>
              <a:t>something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with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100" dirty="0">
                <a:solidFill>
                  <a:srgbClr val="3E3E3E"/>
                </a:solidFill>
                <a:latin typeface="Arial"/>
                <a:cs typeface="Arial"/>
              </a:rPr>
              <a:t>received</a:t>
            </a:r>
            <a:r>
              <a:rPr sz="2400" spc="-43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input: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imes New Roman"/>
              <a:cs typeface="Times New Roman"/>
            </a:endParaRPr>
          </a:p>
          <a:p>
            <a:pPr marL="231140">
              <a:lnSpc>
                <a:spcPct val="100000"/>
              </a:lnSpc>
            </a:pPr>
            <a:r>
              <a:rPr sz="2600" b="1" spc="-204" dirty="0">
                <a:solidFill>
                  <a:srgbClr val="3E3E3E"/>
                </a:solidFill>
                <a:latin typeface="Georgia"/>
                <a:cs typeface="Georgia"/>
              </a:rPr>
              <a:t>Username: </a:t>
            </a:r>
            <a:r>
              <a:rPr sz="2600" b="1" spc="-180" dirty="0">
                <a:solidFill>
                  <a:srgbClr val="3E3E3E"/>
                </a:solidFill>
                <a:latin typeface="Georgia"/>
                <a:cs typeface="Georgia"/>
              </a:rPr>
              <a:t>&lt;input </a:t>
            </a:r>
            <a:r>
              <a:rPr sz="2600" b="1" spc="-160" dirty="0">
                <a:solidFill>
                  <a:srgbClr val="3E3E3E"/>
                </a:solidFill>
                <a:latin typeface="Georgia"/>
                <a:cs typeface="Georgia"/>
              </a:rPr>
              <a:t>type="text"</a:t>
            </a:r>
            <a:r>
              <a:rPr sz="2600" b="1" spc="90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600" b="1" spc="-204" dirty="0">
                <a:solidFill>
                  <a:srgbClr val="3E3E3E"/>
                </a:solidFill>
                <a:latin typeface="Georgia"/>
                <a:cs typeface="Georgia"/>
              </a:rPr>
              <a:t>name="user"&gt;</a:t>
            </a:r>
            <a:endParaRPr sz="2600">
              <a:latin typeface="Georgia"/>
              <a:cs typeface="Georgia"/>
            </a:endParaRPr>
          </a:p>
          <a:p>
            <a:pPr marL="231140">
              <a:lnSpc>
                <a:spcPct val="100000"/>
              </a:lnSpc>
            </a:pPr>
            <a:r>
              <a:rPr sz="2600" b="1" spc="-180" dirty="0">
                <a:solidFill>
                  <a:srgbClr val="3E3E3E"/>
                </a:solidFill>
                <a:latin typeface="Georgia"/>
                <a:cs typeface="Georgia"/>
              </a:rPr>
              <a:t>&lt;input </a:t>
            </a:r>
            <a:r>
              <a:rPr sz="2600" b="1" spc="-170" dirty="0">
                <a:solidFill>
                  <a:srgbClr val="3E3E3E"/>
                </a:solidFill>
                <a:latin typeface="Georgia"/>
                <a:cs typeface="Georgia"/>
              </a:rPr>
              <a:t>type="submit"</a:t>
            </a:r>
            <a:r>
              <a:rPr sz="2600" b="1" spc="-5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600" b="1" spc="-200" dirty="0">
                <a:solidFill>
                  <a:srgbClr val="3E3E3E"/>
                </a:solidFill>
                <a:latin typeface="Georgia"/>
                <a:cs typeface="Georgia"/>
              </a:rPr>
              <a:t>value="Submit"&gt;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340" y="4870805"/>
            <a:ext cx="5753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How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204" dirty="0">
                <a:solidFill>
                  <a:srgbClr val="3E3E3E"/>
                </a:solidFill>
                <a:latin typeface="Arial"/>
                <a:cs typeface="Arial"/>
              </a:rPr>
              <a:t>HTML 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code 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above </a:t>
            </a:r>
            <a:r>
              <a:rPr sz="2400" spc="-105" dirty="0">
                <a:solidFill>
                  <a:srgbClr val="3E3E3E"/>
                </a:solidFill>
                <a:latin typeface="Arial"/>
                <a:cs typeface="Arial"/>
              </a:rPr>
              <a:t>looks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400" spc="-3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browser: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18260" y="5704840"/>
            <a:ext cx="4433824" cy="5141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39000" y="4513579"/>
            <a:ext cx="1699260" cy="1475740"/>
          </a:xfrm>
          <a:custGeom>
            <a:avLst/>
            <a:gdLst/>
            <a:ahLst/>
            <a:cxnLst/>
            <a:rect l="l" t="t" r="r" b="b"/>
            <a:pathLst>
              <a:path w="1699259" h="1475739">
                <a:moveTo>
                  <a:pt x="0" y="0"/>
                </a:moveTo>
                <a:lnTo>
                  <a:pt x="1699259" y="0"/>
                </a:lnTo>
                <a:lnTo>
                  <a:pt x="1699259" y="1475740"/>
                </a:lnTo>
                <a:lnTo>
                  <a:pt x="0" y="1475740"/>
                </a:lnTo>
                <a:lnTo>
                  <a:pt x="0" y="0"/>
                </a:lnTo>
                <a:close/>
              </a:path>
            </a:pathLst>
          </a:custGeom>
          <a:ln w="10160">
            <a:solidFill>
              <a:srgbClr val="9B1F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44080" y="4530623"/>
            <a:ext cx="159512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 marR="198755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1800" spc="-80" dirty="0">
                <a:solidFill>
                  <a:srgbClr val="3E3E3E"/>
                </a:solidFill>
                <a:latin typeface="Arial"/>
                <a:cs typeface="Arial"/>
              </a:rPr>
              <a:t>value 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attribute  </a:t>
            </a:r>
            <a:r>
              <a:rPr sz="1800" spc="-85" dirty="0">
                <a:solidFill>
                  <a:srgbClr val="3E3E3E"/>
                </a:solidFill>
                <a:latin typeface="Arial"/>
                <a:cs typeface="Arial"/>
              </a:rPr>
              <a:t>specifies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the 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text 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1800" spc="-20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3E3E3E"/>
                </a:solidFill>
                <a:latin typeface="Arial"/>
                <a:cs typeface="Arial"/>
              </a:rPr>
              <a:t>display  </a:t>
            </a:r>
            <a:r>
              <a:rPr sz="1800" spc="-60" dirty="0">
                <a:solidFill>
                  <a:srgbClr val="3E3E3E"/>
                </a:solidFill>
                <a:latin typeface="Arial"/>
                <a:cs typeface="Arial"/>
              </a:rPr>
              <a:t>on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18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button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73715" y="451015"/>
            <a:ext cx="34150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>
                <a:solidFill>
                  <a:srgbClr val="00506D"/>
                </a:solidFill>
              </a:rPr>
              <a:t>type=</a:t>
            </a:r>
            <a:r>
              <a:rPr spc="-25" dirty="0">
                <a:solidFill>
                  <a:srgbClr val="00506D"/>
                </a:solidFill>
              </a:rPr>
              <a:t> </a:t>
            </a:r>
            <a:r>
              <a:rPr spc="60" dirty="0">
                <a:solidFill>
                  <a:srgbClr val="00506D"/>
                </a:solidFill>
              </a:rPr>
              <a:t>"reset"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82182" y="1991359"/>
            <a:ext cx="54806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2800" b="1" spc="-165" dirty="0">
                <a:solidFill>
                  <a:srgbClr val="3E3E3E"/>
                </a:solidFill>
                <a:latin typeface="Arial"/>
                <a:cs typeface="Arial"/>
              </a:rPr>
              <a:t>type= </a:t>
            </a:r>
            <a:r>
              <a:rPr sz="2800" b="1" spc="-155" dirty="0">
                <a:solidFill>
                  <a:srgbClr val="3E3E3E"/>
                </a:solidFill>
                <a:latin typeface="Arial"/>
                <a:cs typeface="Arial"/>
              </a:rPr>
              <a:t>"reset" </a:t>
            </a:r>
            <a:r>
              <a:rPr sz="2800" b="1" spc="-195" dirty="0">
                <a:solidFill>
                  <a:srgbClr val="3E3E3E"/>
                </a:solidFill>
                <a:latin typeface="Arial"/>
                <a:cs typeface="Arial"/>
              </a:rPr>
              <a:t>value=</a:t>
            </a:r>
            <a:r>
              <a:rPr sz="2800" b="1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b="1" spc="-210" dirty="0">
                <a:solidFill>
                  <a:srgbClr val="3E3E3E"/>
                </a:solidFill>
                <a:latin typeface="Arial"/>
                <a:cs typeface="Arial"/>
              </a:rPr>
              <a:t>"Reset"&gt;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6812" y="644842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0" dirty="0">
                <a:solidFill>
                  <a:srgbClr val="C0C0C0"/>
                </a:solidFill>
                <a:latin typeface="Arial"/>
                <a:cs typeface="Arial"/>
              </a:rPr>
              <a:t>38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22140" y="3228339"/>
            <a:ext cx="3530600" cy="1645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00200" y="3086100"/>
            <a:ext cx="2557780" cy="924560"/>
          </a:xfrm>
          <a:prstGeom prst="rect">
            <a:avLst/>
          </a:prstGeom>
          <a:solidFill>
            <a:srgbClr val="F3F3E7"/>
          </a:solidFill>
          <a:ln w="10159">
            <a:solidFill>
              <a:srgbClr val="9B1F26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0805" marR="480059">
              <a:lnSpc>
                <a:spcPct val="100000"/>
              </a:lnSpc>
              <a:spcBef>
                <a:spcPts val="240"/>
              </a:spcBef>
            </a:pPr>
            <a:r>
              <a:rPr sz="1800" spc="-13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1800" spc="-80" dirty="0">
                <a:solidFill>
                  <a:srgbClr val="3E3E3E"/>
                </a:solidFill>
                <a:latin typeface="Arial"/>
                <a:cs typeface="Arial"/>
              </a:rPr>
              <a:t>value </a:t>
            </a:r>
            <a:r>
              <a:rPr sz="1800" spc="-15" dirty="0">
                <a:solidFill>
                  <a:srgbClr val="3E3E3E"/>
                </a:solidFill>
                <a:latin typeface="Arial"/>
                <a:cs typeface="Arial"/>
              </a:rPr>
              <a:t>attribute  </a:t>
            </a:r>
            <a:r>
              <a:rPr sz="1800" spc="-85" dirty="0">
                <a:solidFill>
                  <a:srgbClr val="3E3E3E"/>
                </a:solidFill>
                <a:latin typeface="Arial"/>
                <a:cs typeface="Arial"/>
              </a:rPr>
              <a:t>specifies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text </a:t>
            </a:r>
            <a:r>
              <a:rPr sz="1800" spc="10" dirty="0">
                <a:solidFill>
                  <a:srgbClr val="3E3E3E"/>
                </a:solidFill>
                <a:latin typeface="Arial"/>
                <a:cs typeface="Arial"/>
              </a:rPr>
              <a:t>to  </a:t>
            </a:r>
            <a:r>
              <a:rPr sz="1800" spc="-85" dirty="0">
                <a:solidFill>
                  <a:srgbClr val="3E3E3E"/>
                </a:solidFill>
                <a:latin typeface="Arial"/>
                <a:cs typeface="Arial"/>
              </a:rPr>
              <a:t>display </a:t>
            </a:r>
            <a:r>
              <a:rPr sz="1800" spc="-60" dirty="0">
                <a:solidFill>
                  <a:srgbClr val="3E3E3E"/>
                </a:solidFill>
                <a:latin typeface="Arial"/>
                <a:cs typeface="Arial"/>
              </a:rPr>
              <a:t>on </a:t>
            </a:r>
            <a:r>
              <a:rPr sz="18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18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E3E3E"/>
                </a:solidFill>
                <a:latin typeface="Arial"/>
                <a:cs typeface="Arial"/>
              </a:rPr>
              <a:t>button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45186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Accessible</a:t>
            </a:r>
            <a:r>
              <a:rPr spc="-50" dirty="0"/>
              <a:t> </a:t>
            </a:r>
            <a:r>
              <a:rPr spc="-75" dirty="0"/>
              <a:t>Forms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0724" y="1386840"/>
            <a:ext cx="6126480" cy="125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50" dirty="0">
                <a:solidFill>
                  <a:srgbClr val="3E3E3E"/>
                </a:solidFill>
                <a:latin typeface="Arial"/>
                <a:cs typeface="Arial"/>
              </a:rPr>
              <a:t>Recall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&lt;fieldset&gt;,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&lt;legend&gt;,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&lt;label&gt;</a:t>
            </a:r>
            <a:r>
              <a:rPr sz="2200" spc="-3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elements.</a:t>
            </a:r>
            <a:endParaRPr sz="2200">
              <a:latin typeface="Arial"/>
              <a:cs typeface="Arial"/>
            </a:endParaRPr>
          </a:p>
          <a:p>
            <a:pPr marL="12700" marR="493395">
              <a:lnSpc>
                <a:spcPct val="100000"/>
              </a:lnSpc>
              <a:spcBef>
                <a:spcPts val="1720"/>
              </a:spcBef>
            </a:pPr>
            <a:r>
              <a:rPr sz="2200" spc="-210" dirty="0">
                <a:solidFill>
                  <a:srgbClr val="3E3E3E"/>
                </a:solidFill>
                <a:latin typeface="Arial"/>
                <a:cs typeface="Arial"/>
              </a:rPr>
              <a:t>Each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&lt;label&gt;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element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should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associated 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with</a:t>
            </a:r>
            <a:r>
              <a:rPr sz="2200" spc="-2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single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input</a:t>
            </a: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element.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" y="2895600"/>
            <a:ext cx="5334000" cy="2936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45186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Accessible</a:t>
            </a:r>
            <a:r>
              <a:rPr spc="-50" dirty="0"/>
              <a:t> </a:t>
            </a:r>
            <a:r>
              <a:rPr spc="-75" dirty="0"/>
              <a:t>Forms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535940" y="1386840"/>
            <a:ext cx="7948930" cy="383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50" dirty="0">
                <a:solidFill>
                  <a:srgbClr val="3E3E3E"/>
                </a:solidFill>
                <a:latin typeface="Arial"/>
                <a:cs typeface="Arial"/>
              </a:rPr>
              <a:t>Recall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&lt;fieldset&gt;,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&lt;legend&gt;,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&lt;label&gt;</a:t>
            </a:r>
            <a:r>
              <a:rPr sz="2200" spc="-3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elements.</a:t>
            </a:r>
            <a:endParaRPr sz="2200">
              <a:latin typeface="Arial"/>
              <a:cs typeface="Arial"/>
            </a:endParaRPr>
          </a:p>
          <a:p>
            <a:pPr marL="12700" marR="424180">
              <a:lnSpc>
                <a:spcPct val="100000"/>
              </a:lnSpc>
              <a:spcBef>
                <a:spcPts val="1720"/>
              </a:spcBef>
            </a:pPr>
            <a:r>
              <a:rPr sz="2200" spc="-210" dirty="0">
                <a:solidFill>
                  <a:srgbClr val="3E3E3E"/>
                </a:solidFill>
                <a:latin typeface="Arial"/>
                <a:cs typeface="Arial"/>
              </a:rPr>
              <a:t>Each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&lt;label&gt;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element 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also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associated </a:t>
            </a:r>
            <a:r>
              <a:rPr sz="2200" spc="10" dirty="0">
                <a:solidFill>
                  <a:srgbClr val="3E3E3E"/>
                </a:solidFill>
                <a:latin typeface="Arial"/>
                <a:cs typeface="Arial"/>
              </a:rPr>
              <a:t>with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single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input 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by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wrapping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65" dirty="0">
                <a:solidFill>
                  <a:srgbClr val="3E3E3E"/>
                </a:solidFill>
                <a:latin typeface="Arial"/>
                <a:cs typeface="Arial"/>
              </a:rPr>
              <a:t>it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around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(but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watch</a:t>
            </a:r>
            <a:r>
              <a:rPr sz="2200" spc="-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for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nesting 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rules).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-95" dirty="0">
                <a:solidFill>
                  <a:srgbClr val="3E3E3E"/>
                </a:solidFill>
                <a:latin typeface="Arial"/>
                <a:cs typeface="Arial"/>
              </a:rPr>
              <a:t>&lt;p&gt;Client</a:t>
            </a:r>
            <a:r>
              <a:rPr sz="1900" spc="-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900" spc="-125" dirty="0">
                <a:solidFill>
                  <a:srgbClr val="3E3E3E"/>
                </a:solidFill>
                <a:latin typeface="Arial"/>
                <a:cs typeface="Arial"/>
              </a:rPr>
              <a:t>Type:</a:t>
            </a:r>
            <a:endParaRPr sz="190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  <a:spcBef>
                <a:spcPts val="1060"/>
              </a:spcBef>
            </a:pPr>
            <a:r>
              <a:rPr sz="1900" spc="-90" dirty="0">
                <a:solidFill>
                  <a:srgbClr val="3E3E3E"/>
                </a:solidFill>
                <a:latin typeface="Arial"/>
                <a:cs typeface="Arial"/>
              </a:rPr>
              <a:t>&lt;label&gt; </a:t>
            </a:r>
            <a:r>
              <a:rPr sz="1900" spc="-40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1900" spc="-35" dirty="0">
                <a:solidFill>
                  <a:srgbClr val="3E3E3E"/>
                </a:solidFill>
                <a:latin typeface="Arial"/>
                <a:cs typeface="Arial"/>
              </a:rPr>
              <a:t>type="radio" </a:t>
            </a:r>
            <a:r>
              <a:rPr sz="1900" spc="-50" dirty="0">
                <a:solidFill>
                  <a:srgbClr val="3E3E3E"/>
                </a:solidFill>
                <a:latin typeface="Arial"/>
                <a:cs typeface="Arial"/>
              </a:rPr>
              <a:t>name="type"</a:t>
            </a:r>
            <a:r>
              <a:rPr sz="1900" spc="-2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3E3E3E"/>
                </a:solidFill>
                <a:latin typeface="Arial"/>
                <a:cs typeface="Arial"/>
              </a:rPr>
              <a:t>value="School"&gt;School&lt;/label&gt;</a:t>
            </a:r>
            <a:endParaRPr sz="190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  <a:spcBef>
                <a:spcPts val="1060"/>
              </a:spcBef>
            </a:pPr>
            <a:r>
              <a:rPr sz="1900" spc="-70" dirty="0">
                <a:solidFill>
                  <a:srgbClr val="3E3E3E"/>
                </a:solidFill>
                <a:latin typeface="Arial"/>
                <a:cs typeface="Arial"/>
              </a:rPr>
              <a:t>&lt;label&gt;&lt;input </a:t>
            </a:r>
            <a:r>
              <a:rPr sz="1900" spc="-35" dirty="0">
                <a:solidFill>
                  <a:srgbClr val="3E3E3E"/>
                </a:solidFill>
                <a:latin typeface="Arial"/>
                <a:cs typeface="Arial"/>
              </a:rPr>
              <a:t>type="radio" </a:t>
            </a:r>
            <a:r>
              <a:rPr sz="1900" spc="-50" dirty="0">
                <a:solidFill>
                  <a:srgbClr val="3E3E3E"/>
                </a:solidFill>
                <a:latin typeface="Arial"/>
                <a:cs typeface="Arial"/>
              </a:rPr>
              <a:t>name="type"</a:t>
            </a:r>
            <a:r>
              <a:rPr sz="19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3E3E3E"/>
                </a:solidFill>
                <a:latin typeface="Arial"/>
                <a:cs typeface="Arial"/>
              </a:rPr>
              <a:t>value="College"&gt;College&lt;/label&gt;</a:t>
            </a:r>
            <a:endParaRPr sz="190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  <a:spcBef>
                <a:spcPts val="1040"/>
              </a:spcBef>
            </a:pPr>
            <a:r>
              <a:rPr sz="1900" spc="-70" dirty="0">
                <a:solidFill>
                  <a:srgbClr val="3E3E3E"/>
                </a:solidFill>
                <a:latin typeface="Arial"/>
                <a:cs typeface="Arial"/>
              </a:rPr>
              <a:t>&lt;label&gt;&lt;input </a:t>
            </a:r>
            <a:r>
              <a:rPr sz="1900" spc="-35" dirty="0">
                <a:solidFill>
                  <a:srgbClr val="3E3E3E"/>
                </a:solidFill>
                <a:latin typeface="Arial"/>
                <a:cs typeface="Arial"/>
              </a:rPr>
              <a:t>type="radio" </a:t>
            </a:r>
            <a:r>
              <a:rPr sz="1900" spc="-50" dirty="0">
                <a:solidFill>
                  <a:srgbClr val="3E3E3E"/>
                </a:solidFill>
                <a:latin typeface="Arial"/>
                <a:cs typeface="Arial"/>
              </a:rPr>
              <a:t>name="type"</a:t>
            </a:r>
            <a:r>
              <a:rPr sz="1900" spc="-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900" spc="-65" dirty="0">
                <a:solidFill>
                  <a:srgbClr val="3E3E3E"/>
                </a:solidFill>
                <a:latin typeface="Arial"/>
                <a:cs typeface="Arial"/>
              </a:rPr>
              <a:t>value="University"&gt;University&lt;/label&gt;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900" spc="-50" dirty="0">
                <a:solidFill>
                  <a:srgbClr val="3E3E3E"/>
                </a:solidFill>
                <a:latin typeface="Arial"/>
                <a:cs typeface="Arial"/>
              </a:rPr>
              <a:t>&lt;/p&gt;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Accessibility</a:t>
            </a:r>
            <a:r>
              <a:rPr spc="-10" dirty="0"/>
              <a:t> </a:t>
            </a:r>
            <a:r>
              <a:rPr spc="155" dirty="0"/>
              <a:t>guideline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155700"/>
            <a:ext cx="677100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200" dirty="0">
                <a:solidFill>
                  <a:srgbClr val="3E3E3E"/>
                </a:solidFill>
                <a:latin typeface="Arial"/>
                <a:cs typeface="Arial"/>
              </a:rPr>
              <a:t>Use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3E3E3E"/>
                </a:solidFill>
                <a:latin typeface="Arial"/>
                <a:cs typeface="Arial"/>
              </a:rPr>
              <a:t>labels</a:t>
            </a:r>
            <a:r>
              <a:rPr sz="24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associate</a:t>
            </a:r>
            <a:r>
              <a:rPr sz="24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text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with</a:t>
            </a:r>
            <a:r>
              <a:rPr sz="24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form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input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controls  </a:t>
            </a:r>
            <a:r>
              <a:rPr sz="2400" spc="-170" dirty="0">
                <a:solidFill>
                  <a:srgbClr val="3E3E3E"/>
                </a:solidFill>
                <a:latin typeface="Arial"/>
                <a:cs typeface="Arial"/>
              </a:rPr>
              <a:t>so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user </a:t>
            </a:r>
            <a:r>
              <a:rPr sz="2400" spc="-160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400" spc="-85" dirty="0">
                <a:solidFill>
                  <a:srgbClr val="3E3E3E"/>
                </a:solidFill>
                <a:latin typeface="Arial"/>
                <a:cs typeface="Arial"/>
              </a:rPr>
              <a:t>click </a:t>
            </a:r>
            <a:r>
              <a:rPr sz="2400" spc="-80" dirty="0">
                <a:solidFill>
                  <a:srgbClr val="3E3E3E"/>
                </a:solidFill>
                <a:latin typeface="Arial"/>
                <a:cs typeface="Arial"/>
              </a:rPr>
              <a:t>on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label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text 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select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 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control </a:t>
            </a:r>
            <a:r>
              <a:rPr sz="2400" spc="-5" dirty="0">
                <a:solidFill>
                  <a:srgbClr val="3E3E3E"/>
                </a:solidFill>
                <a:latin typeface="Arial"/>
                <a:cs typeface="Arial"/>
              </a:rPr>
              <a:t>that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label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associated </a:t>
            </a:r>
            <a:r>
              <a:rPr sz="2400" dirty="0">
                <a:solidFill>
                  <a:srgbClr val="3E3E3E"/>
                </a:solidFill>
                <a:latin typeface="Arial"/>
                <a:cs typeface="Arial"/>
              </a:rPr>
              <a:t>with. </a:t>
            </a:r>
            <a:r>
              <a:rPr sz="2400" spc="-160" dirty="0">
                <a:solidFill>
                  <a:srgbClr val="3E3E3E"/>
                </a:solidFill>
                <a:latin typeface="Arial"/>
                <a:cs typeface="Arial"/>
              </a:rPr>
              <a:t>This 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also  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helps 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assistive</a:t>
            </a:r>
            <a:r>
              <a:rPr sz="2400" spc="-16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devices.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3141979"/>
            <a:ext cx="4671059" cy="289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700" y="301840"/>
            <a:ext cx="3692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>
                <a:solidFill>
                  <a:srgbClr val="00506D"/>
                </a:solidFill>
              </a:rPr>
              <a:t>Label</a:t>
            </a:r>
            <a:r>
              <a:rPr spc="-35" dirty="0">
                <a:solidFill>
                  <a:srgbClr val="00506D"/>
                </a:solidFill>
              </a:rPr>
              <a:t> </a:t>
            </a:r>
            <a:r>
              <a:rPr spc="114" dirty="0">
                <a:solidFill>
                  <a:srgbClr val="00506D"/>
                </a:solidFill>
              </a:rPr>
              <a:t>element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01701" y="1130300"/>
            <a:ext cx="6729730" cy="422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55" dirty="0">
                <a:solidFill>
                  <a:srgbClr val="3E3E3E"/>
                </a:solidFill>
                <a:latin typeface="Georgia"/>
                <a:cs typeface="Georgia"/>
              </a:rPr>
              <a:t>&lt;label&gt;&lt;/label&gt;</a:t>
            </a:r>
            <a:endParaRPr sz="2600">
              <a:latin typeface="Georgia"/>
              <a:cs typeface="Georgia"/>
            </a:endParaRPr>
          </a:p>
          <a:p>
            <a:pPr marL="355600" indent="-342900">
              <a:lnSpc>
                <a:spcPct val="100000"/>
              </a:lnSpc>
              <a:spcBef>
                <a:spcPts val="25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600" spc="-160" dirty="0">
                <a:solidFill>
                  <a:srgbClr val="3E3E3E"/>
                </a:solidFill>
                <a:latin typeface="Arial"/>
                <a:cs typeface="Arial"/>
              </a:rPr>
              <a:t>Associates </a:t>
            </a:r>
            <a:r>
              <a:rPr sz="2600" spc="-204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600" spc="-25" dirty="0">
                <a:solidFill>
                  <a:srgbClr val="3E3E3E"/>
                </a:solidFill>
                <a:latin typeface="Arial"/>
                <a:cs typeface="Arial"/>
              </a:rPr>
              <a:t>text </a:t>
            </a:r>
            <a:r>
              <a:rPr sz="2600" spc="-85" dirty="0">
                <a:solidFill>
                  <a:srgbClr val="3E3E3E"/>
                </a:solidFill>
                <a:latin typeface="Arial"/>
                <a:cs typeface="Arial"/>
              </a:rPr>
              <a:t>label </a:t>
            </a:r>
            <a:r>
              <a:rPr sz="2600" spc="15" dirty="0">
                <a:solidFill>
                  <a:srgbClr val="3E3E3E"/>
                </a:solidFill>
                <a:latin typeface="Arial"/>
                <a:cs typeface="Arial"/>
              </a:rPr>
              <a:t>with </a:t>
            </a:r>
            <a:r>
              <a:rPr sz="2600" spc="-204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600" spc="-30" dirty="0">
                <a:solidFill>
                  <a:srgbClr val="3E3E3E"/>
                </a:solidFill>
                <a:latin typeface="Arial"/>
                <a:cs typeface="Arial"/>
              </a:rPr>
              <a:t>form</a:t>
            </a:r>
            <a:r>
              <a:rPr sz="2600" spc="-3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45" dirty="0">
                <a:solidFill>
                  <a:srgbClr val="3E3E3E"/>
                </a:solidFill>
                <a:latin typeface="Arial"/>
                <a:cs typeface="Arial"/>
              </a:rPr>
              <a:t>control</a:t>
            </a:r>
            <a:endParaRPr sz="2600">
              <a:latin typeface="Arial"/>
              <a:cs typeface="Arial"/>
            </a:endParaRPr>
          </a:p>
          <a:p>
            <a:pPr marL="163830" indent="-151130">
              <a:lnSpc>
                <a:spcPts val="3090"/>
              </a:lnSpc>
              <a:spcBef>
                <a:spcPts val="860"/>
              </a:spcBef>
              <a:buClr>
                <a:srgbClr val="B18714"/>
              </a:buClr>
              <a:buFont typeface="Wingdings"/>
              <a:buChar char=""/>
              <a:tabLst>
                <a:tab pos="164465" algn="l"/>
              </a:tabLst>
            </a:pPr>
            <a:r>
              <a:rPr sz="2600" spc="-185" dirty="0">
                <a:solidFill>
                  <a:srgbClr val="3E3E3E"/>
                </a:solidFill>
                <a:latin typeface="Arial"/>
                <a:cs typeface="Arial"/>
              </a:rPr>
              <a:t>Two </a:t>
            </a:r>
            <a:r>
              <a:rPr sz="2600" spc="-55" dirty="0">
                <a:solidFill>
                  <a:srgbClr val="3E3E3E"/>
                </a:solidFill>
                <a:latin typeface="Arial"/>
                <a:cs typeface="Arial"/>
              </a:rPr>
              <a:t>Different</a:t>
            </a:r>
            <a:r>
              <a:rPr sz="26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20" dirty="0">
                <a:solidFill>
                  <a:srgbClr val="3E3E3E"/>
                </a:solidFill>
                <a:latin typeface="Arial"/>
                <a:cs typeface="Arial"/>
              </a:rPr>
              <a:t>Formats: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ts val="730"/>
              </a:lnSpc>
            </a:pPr>
            <a:r>
              <a:rPr sz="700" dirty="0">
                <a:solidFill>
                  <a:srgbClr val="B18714"/>
                </a:solidFill>
                <a:latin typeface="Wingdings"/>
                <a:cs typeface="Wingdings"/>
              </a:rPr>
              <a:t></a:t>
            </a:r>
            <a:endParaRPr sz="700">
              <a:latin typeface="Wingdings"/>
              <a:cs typeface="Wingdings"/>
            </a:endParaRPr>
          </a:p>
          <a:p>
            <a:pPr marL="12700">
              <a:lnSpc>
                <a:spcPts val="1960"/>
              </a:lnSpc>
            </a:pPr>
            <a:r>
              <a:rPr sz="2000" b="1" spc="-130" dirty="0">
                <a:solidFill>
                  <a:srgbClr val="3E3E3E"/>
                </a:solidFill>
                <a:latin typeface="Georgia"/>
                <a:cs typeface="Georgia"/>
              </a:rPr>
              <a:t>&lt;label&gt;</a:t>
            </a:r>
            <a:endParaRPr sz="2000">
              <a:latin typeface="Georgia"/>
              <a:cs typeface="Georgia"/>
            </a:endParaRPr>
          </a:p>
          <a:p>
            <a:pPr marL="123825">
              <a:lnSpc>
                <a:spcPts val="1680"/>
              </a:lnSpc>
            </a:pPr>
            <a:r>
              <a:rPr sz="2000" b="1" spc="-140" dirty="0">
                <a:solidFill>
                  <a:srgbClr val="3E3E3E"/>
                </a:solidFill>
                <a:latin typeface="Georgia"/>
                <a:cs typeface="Georgia"/>
              </a:rPr>
              <a:t>&lt;input </a:t>
            </a:r>
            <a:r>
              <a:rPr sz="2000" b="1" spc="-135" dirty="0">
                <a:solidFill>
                  <a:srgbClr val="3E3E3E"/>
                </a:solidFill>
                <a:latin typeface="Georgia"/>
                <a:cs typeface="Georgia"/>
              </a:rPr>
              <a:t>type="radio" </a:t>
            </a:r>
            <a:r>
              <a:rPr sz="2000" b="1" spc="-175" dirty="0">
                <a:solidFill>
                  <a:srgbClr val="3E3E3E"/>
                </a:solidFill>
                <a:latin typeface="Georgia"/>
                <a:cs typeface="Georgia"/>
              </a:rPr>
              <a:t>name= </a:t>
            </a:r>
            <a:r>
              <a:rPr sz="2000" b="1" spc="-135" dirty="0">
                <a:solidFill>
                  <a:srgbClr val="3E3E3E"/>
                </a:solidFill>
                <a:latin typeface="Georgia"/>
                <a:cs typeface="Georgia"/>
              </a:rPr>
              <a:t>"crust" </a:t>
            </a:r>
            <a:r>
              <a:rPr sz="2000" b="1" spc="-130" dirty="0">
                <a:solidFill>
                  <a:srgbClr val="3E3E3E"/>
                </a:solidFill>
                <a:latin typeface="Georgia"/>
                <a:cs typeface="Georgia"/>
              </a:rPr>
              <a:t>value= </a:t>
            </a:r>
            <a:r>
              <a:rPr sz="2000" b="1" spc="-170" dirty="0">
                <a:solidFill>
                  <a:srgbClr val="3E3E3E"/>
                </a:solidFill>
                <a:latin typeface="Georgia"/>
                <a:cs typeface="Georgia"/>
              </a:rPr>
              <a:t>"hand"&gt;</a:t>
            </a:r>
            <a:r>
              <a:rPr sz="2000" b="1" spc="-1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000" b="1" spc="-204" dirty="0">
                <a:solidFill>
                  <a:srgbClr val="3E3E3E"/>
                </a:solidFill>
                <a:latin typeface="Georgia"/>
                <a:cs typeface="Georgia"/>
              </a:rPr>
              <a:t>Hand</a:t>
            </a:r>
            <a:endParaRPr sz="2000">
              <a:latin typeface="Georgia"/>
              <a:cs typeface="Georgia"/>
            </a:endParaRPr>
          </a:p>
          <a:p>
            <a:pPr marL="927100">
              <a:lnSpc>
                <a:spcPts val="1680"/>
              </a:lnSpc>
            </a:pPr>
            <a:r>
              <a:rPr sz="2000" b="1" spc="-140" dirty="0">
                <a:solidFill>
                  <a:srgbClr val="3E3E3E"/>
                </a:solidFill>
                <a:latin typeface="Georgia"/>
                <a:cs typeface="Georgia"/>
              </a:rPr>
              <a:t>Tossed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ts val="2039"/>
              </a:lnSpc>
            </a:pPr>
            <a:r>
              <a:rPr sz="2000" b="1" spc="-105" dirty="0">
                <a:solidFill>
                  <a:srgbClr val="3E3E3E"/>
                </a:solidFill>
                <a:latin typeface="Georgia"/>
                <a:cs typeface="Georgia"/>
              </a:rPr>
              <a:t>&lt;/label&gt;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Times New Roman"/>
              <a:cs typeface="Times New Roman"/>
            </a:endParaRPr>
          </a:p>
          <a:p>
            <a:pPr marL="756285">
              <a:lnSpc>
                <a:spcPct val="100000"/>
              </a:lnSpc>
            </a:pPr>
            <a:r>
              <a:rPr sz="2600" spc="-135" dirty="0">
                <a:solidFill>
                  <a:srgbClr val="3E3E3E"/>
                </a:solidFill>
                <a:latin typeface="Arial"/>
                <a:cs typeface="Arial"/>
              </a:rPr>
              <a:t>Or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039"/>
              </a:lnSpc>
            </a:pPr>
            <a:r>
              <a:rPr sz="2000" b="1" spc="-114" dirty="0">
                <a:solidFill>
                  <a:srgbClr val="3E3E3E"/>
                </a:solidFill>
                <a:latin typeface="Georgia"/>
                <a:cs typeface="Georgia"/>
              </a:rPr>
              <a:t>&lt;label </a:t>
            </a:r>
            <a:r>
              <a:rPr sz="2000" b="1" spc="-145" dirty="0">
                <a:solidFill>
                  <a:srgbClr val="C00000"/>
                </a:solidFill>
                <a:latin typeface="Georgia"/>
                <a:cs typeface="Georgia"/>
              </a:rPr>
              <a:t>for="email" </a:t>
            </a:r>
            <a:r>
              <a:rPr sz="2000" b="1" spc="-175" dirty="0">
                <a:solidFill>
                  <a:srgbClr val="3E3E3E"/>
                </a:solidFill>
                <a:latin typeface="Georgia"/>
                <a:cs typeface="Georgia"/>
              </a:rPr>
              <a:t>&gt;Email:</a:t>
            </a:r>
            <a:r>
              <a:rPr sz="2000" b="1" spc="2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000" b="1" spc="-105" dirty="0">
                <a:solidFill>
                  <a:srgbClr val="3E3E3E"/>
                </a:solidFill>
                <a:latin typeface="Georgia"/>
                <a:cs typeface="Georgia"/>
              </a:rPr>
              <a:t>&lt;/label&gt;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ts val="2039"/>
              </a:lnSpc>
            </a:pPr>
            <a:r>
              <a:rPr sz="2000" b="1" spc="-140" dirty="0">
                <a:solidFill>
                  <a:srgbClr val="3E3E3E"/>
                </a:solidFill>
                <a:latin typeface="Georgia"/>
                <a:cs typeface="Georgia"/>
              </a:rPr>
              <a:t>&lt;input </a:t>
            </a:r>
            <a:r>
              <a:rPr sz="2000" b="1" spc="-120" dirty="0">
                <a:solidFill>
                  <a:srgbClr val="3E3E3E"/>
                </a:solidFill>
                <a:latin typeface="Georgia"/>
                <a:cs typeface="Georgia"/>
              </a:rPr>
              <a:t>type="text" </a:t>
            </a:r>
            <a:r>
              <a:rPr sz="2000" b="1" spc="-170" dirty="0">
                <a:solidFill>
                  <a:srgbClr val="3E3E3E"/>
                </a:solidFill>
                <a:latin typeface="Georgia"/>
                <a:cs typeface="Georgia"/>
              </a:rPr>
              <a:t>name="CustEmail" </a:t>
            </a:r>
            <a:r>
              <a:rPr sz="2000" b="1" spc="-150" dirty="0">
                <a:solidFill>
                  <a:srgbClr val="C00000"/>
                </a:solidFill>
                <a:latin typeface="Georgia"/>
                <a:cs typeface="Georgia"/>
              </a:rPr>
              <a:t>id=</a:t>
            </a:r>
            <a:r>
              <a:rPr sz="2000" b="1" spc="125" dirty="0">
                <a:solidFill>
                  <a:srgbClr val="C00000"/>
                </a:solidFill>
                <a:latin typeface="Georgia"/>
                <a:cs typeface="Georgia"/>
              </a:rPr>
              <a:t> </a:t>
            </a:r>
            <a:r>
              <a:rPr sz="2000" b="1" spc="-155" dirty="0">
                <a:solidFill>
                  <a:srgbClr val="C00000"/>
                </a:solidFill>
                <a:latin typeface="Georgia"/>
                <a:cs typeface="Georgia"/>
              </a:rPr>
              <a:t>"email</a:t>
            </a:r>
            <a:r>
              <a:rPr sz="2000" b="1" spc="-155" dirty="0">
                <a:solidFill>
                  <a:srgbClr val="3E3E3E"/>
                </a:solidFill>
                <a:latin typeface="Georgia"/>
                <a:cs typeface="Georgia"/>
              </a:rPr>
              <a:t>"&gt;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05875" y="642937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0" dirty="0">
                <a:solidFill>
                  <a:srgbClr val="C0C0C0"/>
                </a:solidFill>
                <a:latin typeface="Arial"/>
                <a:cs typeface="Arial"/>
              </a:rPr>
              <a:t>42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452844"/>
            <a:ext cx="7780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>
                <a:solidFill>
                  <a:srgbClr val="3D748B"/>
                </a:solidFill>
              </a:rPr>
              <a:t>Fieldset </a:t>
            </a:r>
            <a:r>
              <a:rPr spc="85" dirty="0">
                <a:solidFill>
                  <a:srgbClr val="3D748B"/>
                </a:solidFill>
              </a:rPr>
              <a:t>and </a:t>
            </a:r>
            <a:r>
              <a:rPr spc="165" dirty="0">
                <a:solidFill>
                  <a:srgbClr val="3D748B"/>
                </a:solidFill>
              </a:rPr>
              <a:t>Legend</a:t>
            </a:r>
            <a:r>
              <a:rPr spc="-120" dirty="0">
                <a:solidFill>
                  <a:srgbClr val="3D748B"/>
                </a:solidFill>
              </a:rPr>
              <a:t> </a:t>
            </a:r>
            <a:r>
              <a:rPr spc="50" dirty="0">
                <a:solidFill>
                  <a:srgbClr val="3D748B"/>
                </a:solidFill>
              </a:rPr>
              <a:t>Elements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79840" y="6419215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C4C4C"/>
                </a:solidFill>
                <a:latin typeface="Times New Roman"/>
                <a:cs typeface="Times New Roman"/>
              </a:rPr>
              <a:t>43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1313179"/>
            <a:ext cx="6727190" cy="508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600" spc="-19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600" spc="-114" dirty="0">
                <a:solidFill>
                  <a:srgbClr val="3E3E3E"/>
                </a:solidFill>
                <a:latin typeface="Arial"/>
                <a:cs typeface="Arial"/>
              </a:rPr>
              <a:t>Fieldset</a:t>
            </a:r>
            <a:r>
              <a:rPr sz="2600" spc="-10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600" spc="-114" dirty="0">
                <a:solidFill>
                  <a:srgbClr val="3E3E3E"/>
                </a:solidFill>
                <a:latin typeface="Arial"/>
                <a:cs typeface="Arial"/>
              </a:rPr>
              <a:t>Element</a:t>
            </a:r>
            <a:endParaRPr sz="2600">
              <a:latin typeface="Arial"/>
              <a:cs typeface="Arial"/>
            </a:endParaRPr>
          </a:p>
          <a:p>
            <a:pPr marL="756920" lvl="1" indent="-287020">
              <a:lnSpc>
                <a:spcPct val="100000"/>
              </a:lnSpc>
              <a:buChar char="–"/>
              <a:tabLst>
                <a:tab pos="756285" algn="l"/>
                <a:tab pos="756920" algn="l"/>
              </a:tabLst>
            </a:pP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Container</a:t>
            </a:r>
            <a:r>
              <a:rPr sz="2200" spc="-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tag</a:t>
            </a:r>
            <a:endParaRPr sz="2200">
              <a:latin typeface="Arial"/>
              <a:cs typeface="Arial"/>
            </a:endParaRPr>
          </a:p>
          <a:p>
            <a:pPr marL="756920" marR="3185160" lvl="1" indent="-287020" algn="just">
              <a:lnSpc>
                <a:spcPts val="2120"/>
              </a:lnSpc>
              <a:spcBef>
                <a:spcPts val="505"/>
              </a:spcBef>
              <a:buChar char="–"/>
              <a:tabLst>
                <a:tab pos="756920" algn="l"/>
              </a:tabLst>
            </a:pP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Creates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visual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group</a:t>
            </a:r>
            <a:r>
              <a:rPr sz="2200" spc="-18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 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form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elements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on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200" spc="-3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web  </a:t>
            </a:r>
            <a:r>
              <a:rPr sz="2200" spc="-145" dirty="0">
                <a:solidFill>
                  <a:srgbClr val="3E3E3E"/>
                </a:solidFill>
                <a:latin typeface="Arial"/>
                <a:cs typeface="Arial"/>
              </a:rPr>
              <a:t>page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ts val="3115"/>
              </a:lnSpc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600" spc="-19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600" spc="-180" dirty="0">
                <a:solidFill>
                  <a:srgbClr val="3E3E3E"/>
                </a:solidFill>
                <a:latin typeface="Arial"/>
                <a:cs typeface="Arial"/>
              </a:rPr>
              <a:t>Legend</a:t>
            </a:r>
            <a:r>
              <a:rPr sz="2600" spc="-114" dirty="0">
                <a:solidFill>
                  <a:srgbClr val="3E3E3E"/>
                </a:solidFill>
                <a:latin typeface="Arial"/>
                <a:cs typeface="Arial"/>
              </a:rPr>
              <a:t> Element</a:t>
            </a:r>
            <a:endParaRPr sz="2600">
              <a:latin typeface="Arial"/>
              <a:cs typeface="Arial"/>
            </a:endParaRPr>
          </a:p>
          <a:p>
            <a:pPr marL="756920" lvl="1" indent="-287020">
              <a:lnSpc>
                <a:spcPct val="100000"/>
              </a:lnSpc>
              <a:spcBef>
                <a:spcPts val="2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Container</a:t>
            </a:r>
            <a:r>
              <a:rPr sz="2200" spc="-1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tag</a:t>
            </a:r>
            <a:endParaRPr sz="2200">
              <a:latin typeface="Arial"/>
              <a:cs typeface="Arial"/>
            </a:endParaRPr>
          </a:p>
          <a:p>
            <a:pPr marL="756920" marR="3018790" lvl="1" indent="-287020">
              <a:lnSpc>
                <a:spcPct val="79600"/>
              </a:lnSpc>
              <a:spcBef>
                <a:spcPts val="53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Creates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text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label</a:t>
            </a:r>
            <a:r>
              <a:rPr sz="2200" spc="-25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3E3E3E"/>
                </a:solidFill>
                <a:latin typeface="Arial"/>
                <a:cs typeface="Arial"/>
              </a:rPr>
              <a:t>within 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fieldset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Times New Roman"/>
              <a:cs typeface="Times New Roman"/>
            </a:endParaRPr>
          </a:p>
          <a:p>
            <a:pPr marL="226695">
              <a:lnSpc>
                <a:spcPts val="2160"/>
              </a:lnSpc>
            </a:pPr>
            <a:r>
              <a:rPr sz="2000" b="1" spc="-140" dirty="0">
                <a:solidFill>
                  <a:srgbClr val="3E3E3E"/>
                </a:solidFill>
                <a:latin typeface="Georgia"/>
                <a:cs typeface="Georgia"/>
              </a:rPr>
              <a:t>&lt;fieldset&gt;&lt;legend&gt;Customer</a:t>
            </a:r>
            <a:r>
              <a:rPr sz="2000" b="1" spc="-70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000" b="1" spc="-135" dirty="0">
                <a:solidFill>
                  <a:srgbClr val="3E3E3E"/>
                </a:solidFill>
                <a:latin typeface="Georgia"/>
                <a:cs typeface="Georgia"/>
              </a:rPr>
              <a:t>Information&lt;/legend&gt;</a:t>
            </a:r>
            <a:endParaRPr sz="2000">
              <a:latin typeface="Georgia"/>
              <a:cs typeface="Georgia"/>
            </a:endParaRPr>
          </a:p>
          <a:p>
            <a:pPr marL="394335">
              <a:lnSpc>
                <a:spcPts val="1920"/>
              </a:lnSpc>
            </a:pPr>
            <a:r>
              <a:rPr sz="2000" b="1" spc="-160" dirty="0">
                <a:solidFill>
                  <a:srgbClr val="3E3E3E"/>
                </a:solidFill>
                <a:latin typeface="Georgia"/>
                <a:cs typeface="Georgia"/>
              </a:rPr>
              <a:t>&lt;label&gt;Name:</a:t>
            </a:r>
            <a:endParaRPr sz="2000">
              <a:latin typeface="Georgia"/>
              <a:cs typeface="Georgia"/>
            </a:endParaRPr>
          </a:p>
          <a:p>
            <a:pPr marL="338455">
              <a:lnSpc>
                <a:spcPts val="1920"/>
              </a:lnSpc>
            </a:pPr>
            <a:r>
              <a:rPr sz="2000" b="1" spc="-140" dirty="0">
                <a:solidFill>
                  <a:srgbClr val="3E3E3E"/>
                </a:solidFill>
                <a:latin typeface="Georgia"/>
                <a:cs typeface="Georgia"/>
              </a:rPr>
              <a:t>&lt;input </a:t>
            </a:r>
            <a:r>
              <a:rPr sz="2000" b="1" spc="-120" dirty="0">
                <a:solidFill>
                  <a:srgbClr val="3E3E3E"/>
                </a:solidFill>
                <a:latin typeface="Georgia"/>
                <a:cs typeface="Georgia"/>
              </a:rPr>
              <a:t>type="text" </a:t>
            </a:r>
            <a:r>
              <a:rPr sz="2000" b="1" spc="-185" dirty="0">
                <a:solidFill>
                  <a:srgbClr val="3E3E3E"/>
                </a:solidFill>
                <a:latin typeface="Georgia"/>
                <a:cs typeface="Georgia"/>
              </a:rPr>
              <a:t>name=“name"</a:t>
            </a:r>
            <a:r>
              <a:rPr sz="2000" b="1" spc="9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000" b="1" spc="-155" dirty="0">
                <a:solidFill>
                  <a:srgbClr val="3E3E3E"/>
                </a:solidFill>
                <a:latin typeface="Georgia"/>
                <a:cs typeface="Georgia"/>
              </a:rPr>
              <a:t>id="Name"&gt;&lt;/label&gt;</a:t>
            </a:r>
            <a:endParaRPr sz="2000">
              <a:latin typeface="Georgia"/>
              <a:cs typeface="Georgia"/>
            </a:endParaRPr>
          </a:p>
          <a:p>
            <a:pPr marL="338455">
              <a:lnSpc>
                <a:spcPts val="1920"/>
              </a:lnSpc>
            </a:pPr>
            <a:r>
              <a:rPr sz="2000" b="1" spc="-175" dirty="0">
                <a:solidFill>
                  <a:srgbClr val="3E3E3E"/>
                </a:solidFill>
                <a:latin typeface="Georgia"/>
                <a:cs typeface="Georgia"/>
              </a:rPr>
              <a:t>&lt;br&gt;&lt;br&gt;</a:t>
            </a:r>
            <a:endParaRPr sz="2000">
              <a:latin typeface="Georgia"/>
              <a:cs typeface="Georgia"/>
            </a:endParaRPr>
          </a:p>
          <a:p>
            <a:pPr marL="394335">
              <a:lnSpc>
                <a:spcPts val="1920"/>
              </a:lnSpc>
            </a:pPr>
            <a:r>
              <a:rPr sz="2000" b="1" spc="-150" dirty="0">
                <a:solidFill>
                  <a:srgbClr val="3E3E3E"/>
                </a:solidFill>
                <a:latin typeface="Georgia"/>
                <a:cs typeface="Georgia"/>
              </a:rPr>
              <a:t>&lt;label&gt;Email:</a:t>
            </a:r>
            <a:endParaRPr sz="2000">
              <a:latin typeface="Georgia"/>
              <a:cs typeface="Georgia"/>
            </a:endParaRPr>
          </a:p>
          <a:p>
            <a:pPr marL="338455">
              <a:lnSpc>
                <a:spcPts val="1920"/>
              </a:lnSpc>
            </a:pPr>
            <a:r>
              <a:rPr sz="2000" b="1" spc="-140" dirty="0">
                <a:solidFill>
                  <a:srgbClr val="3E3E3E"/>
                </a:solidFill>
                <a:latin typeface="Georgia"/>
                <a:cs typeface="Georgia"/>
              </a:rPr>
              <a:t>&lt;input </a:t>
            </a:r>
            <a:r>
              <a:rPr sz="2000" b="1" spc="-120" dirty="0">
                <a:solidFill>
                  <a:srgbClr val="3E3E3E"/>
                </a:solidFill>
                <a:latin typeface="Georgia"/>
                <a:cs typeface="Georgia"/>
              </a:rPr>
              <a:t>type="text" </a:t>
            </a:r>
            <a:r>
              <a:rPr sz="2000" b="1" spc="-175" dirty="0">
                <a:solidFill>
                  <a:srgbClr val="3E3E3E"/>
                </a:solidFill>
                <a:latin typeface="Georgia"/>
                <a:cs typeface="Georgia"/>
              </a:rPr>
              <a:t>name="Email"</a:t>
            </a:r>
            <a:r>
              <a:rPr sz="2000" b="1" spc="7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2000" b="1" spc="-145" dirty="0">
                <a:solidFill>
                  <a:srgbClr val="3E3E3E"/>
                </a:solidFill>
                <a:latin typeface="Georgia"/>
                <a:cs typeface="Georgia"/>
              </a:rPr>
              <a:t>id="Email"&gt;&lt;/label&gt;</a:t>
            </a:r>
            <a:endParaRPr sz="2000">
              <a:latin typeface="Georgia"/>
              <a:cs typeface="Georgia"/>
            </a:endParaRPr>
          </a:p>
          <a:p>
            <a:pPr marL="282575">
              <a:lnSpc>
                <a:spcPts val="2160"/>
              </a:lnSpc>
            </a:pPr>
            <a:r>
              <a:rPr sz="2000" b="1" spc="-105" dirty="0">
                <a:solidFill>
                  <a:srgbClr val="3E3E3E"/>
                </a:solidFill>
                <a:latin typeface="Georgia"/>
                <a:cs typeface="Georgia"/>
              </a:rPr>
              <a:t>&lt;/fieldset&gt;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95800" y="3159760"/>
            <a:ext cx="4218940" cy="1320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67640"/>
            <a:ext cx="55956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Putting </a:t>
            </a:r>
            <a:r>
              <a:rPr spc="-265" dirty="0"/>
              <a:t>It </a:t>
            </a:r>
            <a:r>
              <a:rPr spc="55" dirty="0"/>
              <a:t>All</a:t>
            </a:r>
            <a:r>
              <a:rPr spc="-605" dirty="0"/>
              <a:t> </a:t>
            </a:r>
            <a:r>
              <a:rPr spc="80" dirty="0"/>
              <a:t>Together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2140" y="1074420"/>
            <a:ext cx="587248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3200" spc="-225" dirty="0">
                <a:solidFill>
                  <a:srgbClr val="3E3E3E"/>
                </a:solidFill>
                <a:latin typeface="Arial"/>
                <a:cs typeface="Arial"/>
              </a:rPr>
              <a:t>One </a:t>
            </a:r>
            <a:r>
              <a:rPr sz="3200" spc="-35" dirty="0">
                <a:solidFill>
                  <a:srgbClr val="3E3E3E"/>
                </a:solidFill>
                <a:latin typeface="Arial"/>
                <a:cs typeface="Arial"/>
              </a:rPr>
              <a:t>form </a:t>
            </a:r>
            <a:r>
              <a:rPr sz="3200" spc="-85" dirty="0">
                <a:solidFill>
                  <a:srgbClr val="3E3E3E"/>
                </a:solidFill>
                <a:latin typeface="Arial"/>
                <a:cs typeface="Arial"/>
              </a:rPr>
              <a:t>element </a:t>
            </a:r>
            <a:r>
              <a:rPr sz="3200" spc="-105" dirty="0">
                <a:solidFill>
                  <a:srgbClr val="3E3E3E"/>
                </a:solidFill>
                <a:latin typeface="Arial"/>
                <a:cs typeface="Arial"/>
              </a:rPr>
              <a:t>containing</a:t>
            </a:r>
            <a:r>
              <a:rPr sz="3200" spc="-3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3200" spc="-35" dirty="0">
                <a:solidFill>
                  <a:srgbClr val="3E3E3E"/>
                </a:solidFill>
                <a:latin typeface="Arial"/>
                <a:cs typeface="Arial"/>
              </a:rPr>
              <a:t>the  </a:t>
            </a:r>
            <a:r>
              <a:rPr sz="3200" spc="-125" dirty="0">
                <a:solidFill>
                  <a:srgbClr val="3E3E3E"/>
                </a:solidFill>
                <a:latin typeface="Arial"/>
                <a:cs typeface="Arial"/>
              </a:rPr>
              <a:t>desired</a:t>
            </a:r>
            <a:r>
              <a:rPr sz="3200" spc="-19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3200" spc="-85" dirty="0">
                <a:solidFill>
                  <a:srgbClr val="3E3E3E"/>
                </a:solidFill>
                <a:latin typeface="Arial"/>
                <a:cs typeface="Arial"/>
              </a:rPr>
              <a:t>controls: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2362201"/>
            <a:ext cx="8407438" cy="4114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Button</a:t>
            </a:r>
            <a:r>
              <a:rPr spc="-5" dirty="0"/>
              <a:t> </a:t>
            </a:r>
            <a:r>
              <a:rPr spc="60" dirty="0"/>
              <a:t>Controls</a:t>
            </a:r>
          </a:p>
        </p:txBody>
      </p:sp>
      <p:sp>
        <p:nvSpPr>
          <p:cNvPr id="7" name="object 7"/>
          <p:cNvSpPr/>
          <p:nvPr/>
        </p:nvSpPr>
        <p:spPr>
          <a:xfrm>
            <a:off x="152097" y="1117561"/>
            <a:ext cx="516255" cy="724535"/>
          </a:xfrm>
          <a:custGeom>
            <a:avLst/>
            <a:gdLst/>
            <a:ahLst/>
            <a:cxnLst/>
            <a:rect l="l" t="t" r="r" b="b"/>
            <a:pathLst>
              <a:path w="516255" h="724535">
                <a:moveTo>
                  <a:pt x="241757" y="0"/>
                </a:moveTo>
                <a:lnTo>
                  <a:pt x="0" y="0"/>
                </a:lnTo>
                <a:lnTo>
                  <a:pt x="178409" y="296811"/>
                </a:lnTo>
                <a:lnTo>
                  <a:pt x="516102" y="724115"/>
                </a:lnTo>
              </a:path>
            </a:pathLst>
          </a:custGeom>
          <a:ln w="25400">
            <a:solidFill>
              <a:srgbClr val="971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6084" y="1754339"/>
            <a:ext cx="82550" cy="87630"/>
          </a:xfrm>
          <a:custGeom>
            <a:avLst/>
            <a:gdLst/>
            <a:ahLst/>
            <a:cxnLst/>
            <a:rect l="l" t="t" r="r" b="b"/>
            <a:pathLst>
              <a:path w="82550" h="87630">
                <a:moveTo>
                  <a:pt x="69748" y="0"/>
                </a:moveTo>
                <a:lnTo>
                  <a:pt x="82118" y="87350"/>
                </a:lnTo>
                <a:lnTo>
                  <a:pt x="0" y="55118"/>
                </a:lnTo>
              </a:path>
            </a:pathLst>
          </a:custGeom>
          <a:ln w="25400">
            <a:solidFill>
              <a:srgbClr val="971B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44500" y="822960"/>
          <a:ext cx="8153400" cy="5502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  <a:gridCol w="914400"/>
                <a:gridCol w="1400810"/>
                <a:gridCol w="5457190"/>
              </a:tblGrid>
              <a:tr h="611505">
                <a:tc gridSpan="2"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1800" spc="-7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Preferred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3035" marB="0">
                    <a:lnL w="28575">
                      <a:solidFill>
                        <a:srgbClr val="971B23"/>
                      </a:solidFill>
                      <a:prstDash val="solid"/>
                    </a:lnL>
                    <a:lnR w="28575">
                      <a:solidFill>
                        <a:srgbClr val="971B23"/>
                      </a:solidFill>
                      <a:prstDash val="solid"/>
                    </a:lnR>
                    <a:lnT w="28575">
                      <a:solidFill>
                        <a:srgbClr val="971B23"/>
                      </a:solidFill>
                      <a:prstDash val="solid"/>
                    </a:lnT>
                    <a:lnB w="28575">
                      <a:solidFill>
                        <a:srgbClr val="971B23"/>
                      </a:solidFill>
                      <a:prstDash val="solid"/>
                    </a:lnB>
                    <a:solidFill>
                      <a:srgbClr val="CE293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71B23"/>
                      </a:solidFill>
                      <a:prstDash val="solid"/>
                    </a:lnL>
                    <a:solidFill>
                      <a:srgbClr val="F3F3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4005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971B23"/>
                      </a:solidFill>
                      <a:prstDash val="solid"/>
                    </a:lnT>
                    <a:solidFill>
                      <a:srgbClr val="F3F3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4139">
                        <a:lnSpc>
                          <a:spcPts val="1920"/>
                        </a:lnSpc>
                      </a:pPr>
                      <a:r>
                        <a:rPr sz="1800" b="1" spc="-16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F3F3E7"/>
                      </a:solidFill>
                      <a:prstDash val="solid"/>
                    </a:lnR>
                    <a:lnT w="28575">
                      <a:solidFill>
                        <a:srgbClr val="971B23"/>
                      </a:solidFill>
                      <a:prstDash val="solid"/>
                    </a:lnT>
                    <a:lnB w="381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920"/>
                        </a:lnSpc>
                      </a:pPr>
                      <a:r>
                        <a:rPr sz="1800" b="1" spc="-13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381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</a:tr>
              <a:tr h="7004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8575">
                      <a:solidFill>
                        <a:srgbClr val="971B23"/>
                      </a:solidFill>
                      <a:prstDash val="solid"/>
                    </a:lnT>
                    <a:solidFill>
                      <a:srgbClr val="F3F3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4139">
                        <a:lnSpc>
                          <a:spcPts val="1880"/>
                        </a:lnSpc>
                      </a:pPr>
                      <a:r>
                        <a:rPr sz="1600" b="1" spc="-9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&lt;input</a:t>
                      </a:r>
                      <a:r>
                        <a:rPr sz="1600" b="1" spc="-10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type="submit"&gt;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381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 marR="181610" algn="just">
                        <a:lnSpc>
                          <a:spcPts val="1600"/>
                        </a:lnSpc>
                        <a:spcBef>
                          <a:spcPts val="280"/>
                        </a:spcBef>
                      </a:pPr>
                      <a:r>
                        <a:rPr sz="16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6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 </a:t>
                      </a:r>
                      <a:r>
                        <a:rPr sz="1600" spc="-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that </a:t>
                      </a:r>
                      <a:r>
                        <a:rPr sz="16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submits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form </a:t>
                      </a:r>
                      <a:r>
                        <a:rPr sz="16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data </a:t>
                      </a:r>
                      <a:r>
                        <a:rPr sz="1600" spc="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1600" spc="-3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server. </a:t>
                      </a:r>
                      <a:r>
                        <a:rPr sz="1600" spc="-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May  </a:t>
                      </a:r>
                      <a:r>
                        <a:rPr sz="1600" spc="-10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have </a:t>
                      </a:r>
                      <a:r>
                        <a:rPr sz="16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600" spc="-8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value </a:t>
                      </a:r>
                      <a:r>
                        <a:rPr sz="16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1600" spc="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" "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attribute </a:t>
                      </a:r>
                      <a:r>
                        <a:rPr sz="1600" spc="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to </a:t>
                      </a:r>
                      <a:r>
                        <a:rPr sz="1600" spc="-3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control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text </a:t>
                      </a:r>
                      <a:r>
                        <a:rPr sz="1600" spc="-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that 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displays </a:t>
                      </a:r>
                      <a:r>
                        <a:rPr sz="16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on 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381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  <a:tr h="701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8575">
                      <a:solidFill>
                        <a:srgbClr val="971B23"/>
                      </a:solidFill>
                      <a:prstDash val="solid"/>
                    </a:lnT>
                    <a:solidFill>
                      <a:srgbClr val="F3F3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4139">
                        <a:lnSpc>
                          <a:spcPts val="1880"/>
                        </a:lnSpc>
                      </a:pPr>
                      <a:r>
                        <a:rPr sz="1600" b="1" spc="-9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&lt;input</a:t>
                      </a:r>
                      <a:r>
                        <a:rPr sz="1600" b="1" spc="-11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9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type="reset"&gt;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 marR="250190" algn="just">
                        <a:lnSpc>
                          <a:spcPts val="1600"/>
                        </a:lnSpc>
                        <a:spcBef>
                          <a:spcPts val="280"/>
                        </a:spcBef>
                      </a:pPr>
                      <a:r>
                        <a:rPr sz="16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6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 </a:t>
                      </a:r>
                      <a:r>
                        <a:rPr sz="1600" spc="-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that 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clears </a:t>
                      </a:r>
                      <a:r>
                        <a:rPr sz="1600" spc="-9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any </a:t>
                      </a:r>
                      <a:r>
                        <a:rPr sz="1600" spc="-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8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user’s </a:t>
                      </a:r>
                      <a:r>
                        <a:rPr sz="1600" spc="-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already </a:t>
                      </a:r>
                      <a:r>
                        <a:rPr sz="1600" spc="-5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entered  </a:t>
                      </a:r>
                      <a:r>
                        <a:rPr sz="16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form </a:t>
                      </a:r>
                      <a:r>
                        <a:rPr sz="16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data. </a:t>
                      </a:r>
                      <a:r>
                        <a:rPr sz="1600" spc="-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May </a:t>
                      </a:r>
                      <a:r>
                        <a:rPr sz="1600" spc="-10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have </a:t>
                      </a:r>
                      <a:r>
                        <a:rPr sz="16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600" spc="-8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value </a:t>
                      </a:r>
                      <a:r>
                        <a:rPr sz="16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= </a:t>
                      </a:r>
                      <a:r>
                        <a:rPr sz="1600" spc="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" "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attribute </a:t>
                      </a:r>
                      <a:r>
                        <a:rPr sz="1600" spc="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to </a:t>
                      </a:r>
                      <a:r>
                        <a:rPr sz="1600" spc="-3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control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text  </a:t>
                      </a:r>
                      <a:r>
                        <a:rPr sz="1600" spc="-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that 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displays </a:t>
                      </a:r>
                      <a:r>
                        <a:rPr sz="16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on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600" spc="-18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  <a:tr h="5803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8575">
                      <a:solidFill>
                        <a:srgbClr val="971B23"/>
                      </a:solidFill>
                      <a:prstDash val="solid"/>
                    </a:lnT>
                    <a:solidFill>
                      <a:srgbClr val="F3F3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4139">
                        <a:lnSpc>
                          <a:spcPts val="1880"/>
                        </a:lnSpc>
                      </a:pPr>
                      <a:r>
                        <a:rPr sz="1600" b="1" spc="-9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&lt;input</a:t>
                      </a:r>
                      <a:r>
                        <a:rPr sz="1600" b="1" spc="-11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8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type="button"&gt;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 marR="128270">
                        <a:lnSpc>
                          <a:spcPts val="1600"/>
                        </a:lnSpc>
                        <a:spcBef>
                          <a:spcPts val="280"/>
                        </a:spcBef>
                      </a:pPr>
                      <a:r>
                        <a:rPr sz="16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6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600" spc="-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custom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button. </a:t>
                      </a:r>
                      <a:r>
                        <a:rPr sz="16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This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 </a:t>
                      </a:r>
                      <a:r>
                        <a:rPr sz="1600" spc="-9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may </a:t>
                      </a:r>
                      <a:r>
                        <a:rPr sz="1600" spc="-4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require </a:t>
                      </a:r>
                      <a:r>
                        <a:rPr sz="1600" spc="-9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Javascript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  </a:t>
                      </a:r>
                      <a:r>
                        <a:rPr sz="1600" spc="4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it </a:t>
                      </a:r>
                      <a:r>
                        <a:rPr sz="1600" spc="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to </a:t>
                      </a:r>
                      <a:r>
                        <a:rPr sz="16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actually </a:t>
                      </a:r>
                      <a:r>
                        <a:rPr sz="16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perform</a:t>
                      </a:r>
                      <a:r>
                        <a:rPr sz="1600" spc="-3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9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any </a:t>
                      </a:r>
                      <a:r>
                        <a:rPr sz="1600" spc="-4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action.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  <a:tr h="619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8575">
                      <a:solidFill>
                        <a:srgbClr val="971B23"/>
                      </a:solidFill>
                      <a:prstDash val="solid"/>
                    </a:lnT>
                    <a:solidFill>
                      <a:srgbClr val="F3F3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4139">
                        <a:lnSpc>
                          <a:spcPts val="1880"/>
                        </a:lnSpc>
                      </a:pPr>
                      <a:r>
                        <a:rPr sz="1600" b="1" spc="-9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&lt;input</a:t>
                      </a:r>
                      <a:r>
                        <a:rPr sz="1600" b="1" spc="-10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 type="image"&gt;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 marR="598170">
                        <a:lnSpc>
                          <a:spcPts val="1600"/>
                        </a:lnSpc>
                        <a:spcBef>
                          <a:spcPts val="280"/>
                        </a:spcBef>
                      </a:pPr>
                      <a:r>
                        <a:rPr sz="16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6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600" spc="-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custom </a:t>
                      </a:r>
                      <a:r>
                        <a:rPr sz="1600" spc="-4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submit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 </a:t>
                      </a:r>
                      <a:r>
                        <a:rPr sz="1600" spc="-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that </a:t>
                      </a:r>
                      <a:r>
                        <a:rPr sz="1600" spc="-1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uses </a:t>
                      </a:r>
                      <a:r>
                        <a:rPr sz="1600" spc="-9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an 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image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6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its  </a:t>
                      </a:r>
                      <a:r>
                        <a:rPr sz="1600" spc="-8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display.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  <a:tr h="19958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28575">
                      <a:solidFill>
                        <a:srgbClr val="971B23"/>
                      </a:solidFill>
                      <a:prstDash val="solid"/>
                    </a:lnT>
                    <a:solidFill>
                      <a:srgbClr val="F3F3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4139">
                        <a:lnSpc>
                          <a:spcPts val="1880"/>
                        </a:lnSpc>
                      </a:pPr>
                      <a:r>
                        <a:rPr sz="1600" b="1" spc="-9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&lt;button&gt;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1639"/>
                        </a:lnSpc>
                      </a:pPr>
                      <a:r>
                        <a:rPr sz="16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6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600" spc="-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custom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button. </a:t>
                      </a:r>
                      <a:r>
                        <a:rPr sz="1600" spc="-1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&lt;button&gt; </a:t>
                      </a:r>
                      <a:r>
                        <a:rPr sz="1600" spc="-4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element differs</a:t>
                      </a:r>
                      <a:r>
                        <a:rPr sz="1600" spc="-2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from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03505" marR="133985">
                        <a:lnSpc>
                          <a:spcPct val="82800"/>
                        </a:lnSpc>
                        <a:spcBef>
                          <a:spcPts val="90"/>
                        </a:spcBef>
                      </a:pP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&lt;input </a:t>
                      </a:r>
                      <a:r>
                        <a:rPr sz="18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type="button"&gt; </a:t>
                      </a:r>
                      <a:r>
                        <a:rPr sz="16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600" spc="-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that </a:t>
                      </a:r>
                      <a:r>
                        <a:rPr sz="1600" spc="-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you </a:t>
                      </a:r>
                      <a:r>
                        <a:rPr sz="16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can </a:t>
                      </a:r>
                      <a:r>
                        <a:rPr sz="1600" spc="-5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completely</a:t>
                      </a:r>
                      <a:r>
                        <a:rPr sz="1600" spc="-3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8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customize  </a:t>
                      </a:r>
                      <a:r>
                        <a:rPr sz="1600" spc="-3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what </a:t>
                      </a:r>
                      <a:r>
                        <a:rPr sz="1600" spc="-9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appears </a:t>
                      </a:r>
                      <a:r>
                        <a:rPr sz="16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button; 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using </a:t>
                      </a:r>
                      <a:r>
                        <a:rPr sz="1600" spc="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it, </a:t>
                      </a:r>
                      <a:r>
                        <a:rPr sz="1600" spc="-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you </a:t>
                      </a:r>
                      <a:r>
                        <a:rPr sz="1600" spc="-9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can,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600" spc="-7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instance,  </a:t>
                      </a:r>
                      <a:r>
                        <a:rPr sz="16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include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both </a:t>
                      </a:r>
                      <a:r>
                        <a:rPr sz="1600" spc="-10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images </a:t>
                      </a:r>
                      <a:r>
                        <a:rPr sz="1600" spc="-8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text,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or </a:t>
                      </a:r>
                      <a:r>
                        <a:rPr sz="1600" spc="-8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skip </a:t>
                      </a:r>
                      <a:r>
                        <a:rPr sz="1600" spc="-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server-side 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processing  </a:t>
                      </a:r>
                      <a:r>
                        <a:rPr sz="16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entirely </a:t>
                      </a:r>
                      <a:r>
                        <a:rPr sz="16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by 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using</a:t>
                      </a:r>
                      <a:r>
                        <a:rPr sz="1600" spc="-17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hyperlinks.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103505" marR="612775">
                        <a:lnSpc>
                          <a:spcPts val="1600"/>
                        </a:lnSpc>
                        <a:spcBef>
                          <a:spcPts val="1400"/>
                        </a:spcBef>
                      </a:pPr>
                      <a:r>
                        <a:rPr sz="1600" spc="-17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You </a:t>
                      </a:r>
                      <a:r>
                        <a:rPr sz="16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can </a:t>
                      </a:r>
                      <a:r>
                        <a:rPr sz="160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turn </a:t>
                      </a:r>
                      <a:r>
                        <a:rPr sz="16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 into </a:t>
                      </a:r>
                      <a:r>
                        <a:rPr sz="16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600" spc="-4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submit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button </a:t>
                      </a:r>
                      <a:r>
                        <a:rPr sz="16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sz="1600" spc="-3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using </a:t>
                      </a:r>
                      <a:r>
                        <a:rPr sz="16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 </a:t>
                      </a:r>
                      <a:r>
                        <a:rPr sz="16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type="submit"</a:t>
                      </a:r>
                      <a:r>
                        <a:rPr sz="1600" spc="-9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attribute.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39649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Button</a:t>
            </a:r>
            <a:r>
              <a:rPr spc="-5" dirty="0"/>
              <a:t> </a:t>
            </a:r>
            <a:r>
              <a:rPr spc="60" dirty="0"/>
              <a:t>Controls</a:t>
            </a:r>
          </a:p>
        </p:txBody>
      </p:sp>
      <p:sp>
        <p:nvSpPr>
          <p:cNvPr id="3" name="object 3"/>
          <p:cNvSpPr/>
          <p:nvPr/>
        </p:nvSpPr>
        <p:spPr>
          <a:xfrm>
            <a:off x="914400" y="1143000"/>
            <a:ext cx="6858000" cy="4777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53054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Specialized</a:t>
            </a:r>
            <a:r>
              <a:rPr spc="-5" dirty="0"/>
              <a:t> </a:t>
            </a:r>
            <a:r>
              <a:rPr spc="60" dirty="0"/>
              <a:t>Controls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1708" y="1153159"/>
            <a:ext cx="7957184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solidFill>
                  <a:srgbClr val="3E3E3E"/>
                </a:solidFill>
                <a:latin typeface="Arial"/>
                <a:cs typeface="Arial"/>
              </a:rPr>
              <a:t>&lt;input</a:t>
            </a:r>
            <a:r>
              <a:rPr sz="2800" b="1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b="1" spc="-170" dirty="0">
                <a:solidFill>
                  <a:srgbClr val="3E3E3E"/>
                </a:solidFill>
                <a:latin typeface="Arial"/>
                <a:cs typeface="Arial"/>
              </a:rPr>
              <a:t>type="hidden"&gt;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800"/>
              </a:spcBef>
            </a:pPr>
            <a:r>
              <a:rPr sz="2400" spc="-200" dirty="0">
                <a:solidFill>
                  <a:srgbClr val="3E3E3E"/>
                </a:solidFill>
                <a:latin typeface="Arial"/>
                <a:cs typeface="Arial"/>
              </a:rPr>
              <a:t>Use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hidden 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type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attribute for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sending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string 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values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along  </a:t>
            </a:r>
            <a:r>
              <a:rPr sz="2400" spc="15" dirty="0">
                <a:solidFill>
                  <a:srgbClr val="3E3E3E"/>
                </a:solidFill>
                <a:latin typeface="Arial"/>
                <a:cs typeface="Arial"/>
              </a:rPr>
              <a:t>with</a:t>
            </a:r>
            <a:r>
              <a:rPr sz="24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other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3E3E3E"/>
                </a:solidFill>
                <a:latin typeface="Arial"/>
                <a:cs typeface="Arial"/>
              </a:rPr>
              <a:t>data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that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user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doesn’t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80" dirty="0">
                <a:solidFill>
                  <a:srgbClr val="3E3E3E"/>
                </a:solidFill>
                <a:latin typeface="Arial"/>
                <a:cs typeface="Arial"/>
              </a:rPr>
              <a:t>see</a:t>
            </a:r>
            <a:r>
              <a:rPr sz="24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or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input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–</a:t>
            </a:r>
            <a:r>
              <a:rPr sz="2400" spc="-10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3E3E3E"/>
                </a:solidFill>
                <a:latin typeface="Arial"/>
                <a:cs typeface="Arial"/>
              </a:rPr>
              <a:t>product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65" dirty="0">
                <a:solidFill>
                  <a:srgbClr val="3E3E3E"/>
                </a:solidFill>
                <a:latin typeface="Arial"/>
                <a:cs typeface="Arial"/>
              </a:rPr>
              <a:t>ID  </a:t>
            </a:r>
            <a:r>
              <a:rPr sz="2400" spc="-15" dirty="0">
                <a:solidFill>
                  <a:srgbClr val="3E3E3E"/>
                </a:solidFill>
                <a:latin typeface="Arial"/>
                <a:cs typeface="Arial"/>
              </a:rPr>
              <a:t>for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39"/>
              </a:spcBef>
            </a:pPr>
            <a:r>
              <a:rPr sz="1800" b="1" spc="-130" dirty="0">
                <a:solidFill>
                  <a:srgbClr val="3E3E3E"/>
                </a:solidFill>
                <a:latin typeface="Georgia"/>
                <a:cs typeface="Georgia"/>
              </a:rPr>
              <a:t>&lt;input </a:t>
            </a:r>
            <a:r>
              <a:rPr sz="1800" b="1" spc="-125" dirty="0">
                <a:solidFill>
                  <a:srgbClr val="3E3E3E"/>
                </a:solidFill>
                <a:latin typeface="Georgia"/>
                <a:cs typeface="Georgia"/>
              </a:rPr>
              <a:t>type="hidden" </a:t>
            </a:r>
            <a:r>
              <a:rPr sz="1800" b="1" spc="-135" dirty="0">
                <a:solidFill>
                  <a:srgbClr val="3E3E3E"/>
                </a:solidFill>
                <a:latin typeface="Georgia"/>
                <a:cs typeface="Georgia"/>
              </a:rPr>
              <a:t>name="productid"</a:t>
            </a:r>
            <a:r>
              <a:rPr sz="1800" b="1" spc="45" dirty="0">
                <a:solidFill>
                  <a:srgbClr val="3E3E3E"/>
                </a:solidFill>
                <a:latin typeface="Georgia"/>
                <a:cs typeface="Georgia"/>
              </a:rPr>
              <a:t> </a:t>
            </a:r>
            <a:r>
              <a:rPr sz="1800" b="1" spc="-130" dirty="0">
                <a:solidFill>
                  <a:srgbClr val="3E3E3E"/>
                </a:solidFill>
                <a:latin typeface="Georgia"/>
                <a:cs typeface="Georgia"/>
              </a:rPr>
              <a:t>value="C1003"&gt;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708" y="4287520"/>
            <a:ext cx="28549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0" dirty="0">
                <a:solidFill>
                  <a:srgbClr val="3E3E3E"/>
                </a:solidFill>
                <a:latin typeface="Arial"/>
                <a:cs typeface="Arial"/>
              </a:rPr>
              <a:t>&lt;input</a:t>
            </a:r>
            <a:r>
              <a:rPr sz="2800" b="1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800" b="1" spc="-145" dirty="0">
                <a:solidFill>
                  <a:srgbClr val="3E3E3E"/>
                </a:solidFill>
                <a:latin typeface="Arial"/>
                <a:cs typeface="Arial"/>
              </a:rPr>
              <a:t>type="file"&gt;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1800" y="4800600"/>
            <a:ext cx="8229600" cy="1376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50025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Number </a:t>
            </a:r>
            <a:r>
              <a:rPr spc="85" dirty="0"/>
              <a:t>and</a:t>
            </a:r>
            <a:r>
              <a:rPr spc="-25" dirty="0"/>
              <a:t> </a:t>
            </a:r>
            <a:r>
              <a:rPr spc="85" dirty="0"/>
              <a:t>Range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93139" y="1536700"/>
            <a:ext cx="7305675" cy="2446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6375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Typically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input 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values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need 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400" b="1" spc="-130" dirty="0">
                <a:solidFill>
                  <a:srgbClr val="3E3E3E"/>
                </a:solidFill>
                <a:latin typeface="Arial"/>
                <a:cs typeface="Arial"/>
              </a:rPr>
              <a:t>validated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.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Although  </a:t>
            </a:r>
            <a:r>
              <a:rPr sz="2400" spc="-100" dirty="0">
                <a:solidFill>
                  <a:srgbClr val="3E3E3E"/>
                </a:solidFill>
                <a:latin typeface="Arial"/>
                <a:cs typeface="Arial"/>
              </a:rPr>
              <a:t>server 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side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validation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400" spc="-65" dirty="0">
                <a:solidFill>
                  <a:srgbClr val="3E3E3E"/>
                </a:solidFill>
                <a:latin typeface="Arial"/>
                <a:cs typeface="Arial"/>
              </a:rPr>
              <a:t>required, </a:t>
            </a:r>
            <a:r>
              <a:rPr sz="2400" spc="-45" dirty="0">
                <a:solidFill>
                  <a:srgbClr val="3E3E3E"/>
                </a:solidFill>
                <a:latin typeface="Arial"/>
                <a:cs typeface="Arial"/>
              </a:rPr>
              <a:t>optional </a:t>
            </a:r>
            <a:r>
              <a:rPr sz="2400" spc="-40" dirty="0">
                <a:solidFill>
                  <a:srgbClr val="3E3E3E"/>
                </a:solidFill>
                <a:latin typeface="Arial"/>
                <a:cs typeface="Arial"/>
              </a:rPr>
              <a:t>client</a:t>
            </a:r>
            <a:r>
              <a:rPr sz="2400" spc="-4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14" dirty="0">
                <a:solidFill>
                  <a:srgbClr val="3E3E3E"/>
                </a:solidFill>
                <a:latin typeface="Arial"/>
                <a:cs typeface="Arial"/>
              </a:rPr>
              <a:t>side </a:t>
            </a:r>
            <a:r>
              <a:rPr sz="2400" spc="-70" dirty="0">
                <a:solidFill>
                  <a:srgbClr val="3E3E3E"/>
                </a:solidFill>
                <a:latin typeface="Arial"/>
                <a:cs typeface="Arial"/>
              </a:rPr>
              <a:t>pre-  </a:t>
            </a:r>
            <a:r>
              <a:rPr sz="2400" spc="-60" dirty="0">
                <a:solidFill>
                  <a:srgbClr val="3E3E3E"/>
                </a:solidFill>
                <a:latin typeface="Arial"/>
                <a:cs typeface="Arial"/>
              </a:rPr>
              <a:t>validation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is good</a:t>
            </a:r>
            <a:r>
              <a:rPr sz="2400" spc="-2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3E3E3E"/>
                </a:solidFill>
                <a:latin typeface="Arial"/>
                <a:cs typeface="Arial"/>
              </a:rPr>
              <a:t>practice.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780"/>
              </a:spcBef>
              <a:tabLst>
                <a:tab pos="6155055" algn="l"/>
              </a:tabLst>
            </a:pPr>
            <a:r>
              <a:rPr sz="2400" spc="-180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number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400" spc="-135" dirty="0">
                <a:solidFill>
                  <a:srgbClr val="3E3E3E"/>
                </a:solidFill>
                <a:latin typeface="Arial"/>
                <a:cs typeface="Arial"/>
              </a:rPr>
              <a:t>range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controls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Added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3E3E3E"/>
                </a:solidFill>
                <a:latin typeface="Arial"/>
                <a:cs typeface="Arial"/>
              </a:rPr>
              <a:t>in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HTML5	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provide  </a:t>
            </a:r>
            <a:r>
              <a:rPr sz="2400" spc="-19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400" spc="-130" dirty="0">
                <a:solidFill>
                  <a:srgbClr val="3E3E3E"/>
                </a:solidFill>
                <a:latin typeface="Arial"/>
                <a:cs typeface="Arial"/>
              </a:rPr>
              <a:t>way </a:t>
            </a:r>
            <a:r>
              <a:rPr sz="24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input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numeric </a:t>
            </a:r>
            <a:r>
              <a:rPr sz="2400" spc="-140" dirty="0">
                <a:solidFill>
                  <a:srgbClr val="3E3E3E"/>
                </a:solidFill>
                <a:latin typeface="Arial"/>
                <a:cs typeface="Arial"/>
              </a:rPr>
              <a:t>values </a:t>
            </a:r>
            <a:r>
              <a:rPr sz="2400" spc="-10" dirty="0">
                <a:solidFill>
                  <a:srgbClr val="3E3E3E"/>
                </a:solidFill>
                <a:latin typeface="Arial"/>
                <a:cs typeface="Arial"/>
              </a:rPr>
              <a:t>that </a:t>
            </a:r>
            <a:r>
              <a:rPr sz="2400" b="1" spc="-145" dirty="0">
                <a:solidFill>
                  <a:srgbClr val="3E3E3E"/>
                </a:solidFill>
                <a:latin typeface="Arial"/>
                <a:cs typeface="Arial"/>
              </a:rPr>
              <a:t>eliminates </a:t>
            </a:r>
            <a:r>
              <a:rPr sz="2400" b="1" spc="-9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400" b="1" spc="-160" dirty="0">
                <a:solidFill>
                  <a:srgbClr val="3E3E3E"/>
                </a:solidFill>
                <a:latin typeface="Arial"/>
                <a:cs typeface="Arial"/>
              </a:rPr>
              <a:t>need</a:t>
            </a:r>
            <a:r>
              <a:rPr sz="2400" b="1" spc="-4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114" dirty="0">
                <a:solidFill>
                  <a:srgbClr val="3E3E3E"/>
                </a:solidFill>
                <a:latin typeface="Arial"/>
                <a:cs typeface="Arial"/>
              </a:rPr>
              <a:t>for  </a:t>
            </a:r>
            <a:r>
              <a:rPr sz="2400" b="1" spc="-225" dirty="0">
                <a:solidFill>
                  <a:srgbClr val="3E3E3E"/>
                </a:solidFill>
                <a:latin typeface="Arial"/>
                <a:cs typeface="Arial"/>
              </a:rPr>
              <a:t>JavaScript </a:t>
            </a:r>
            <a:r>
              <a:rPr sz="2400" b="1" spc="-170" dirty="0">
                <a:solidFill>
                  <a:srgbClr val="3E3E3E"/>
                </a:solidFill>
                <a:latin typeface="Arial"/>
                <a:cs typeface="Arial"/>
              </a:rPr>
              <a:t>numeric</a:t>
            </a:r>
            <a:r>
              <a:rPr sz="2400" b="1" spc="-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b="1" spc="-110" dirty="0">
                <a:solidFill>
                  <a:srgbClr val="3E3E3E"/>
                </a:solidFill>
                <a:latin typeface="Arial"/>
                <a:cs typeface="Arial"/>
              </a:rPr>
              <a:t>validation!!!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50025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Number </a:t>
            </a:r>
            <a:r>
              <a:rPr spc="85" dirty="0"/>
              <a:t>and</a:t>
            </a:r>
            <a:r>
              <a:rPr spc="-25" dirty="0"/>
              <a:t> </a:t>
            </a:r>
            <a:r>
              <a:rPr spc="85" dirty="0"/>
              <a:t>Range</a:t>
            </a:r>
          </a:p>
        </p:txBody>
      </p:sp>
      <p:sp>
        <p:nvSpPr>
          <p:cNvPr id="3" name="object 3"/>
          <p:cNvSpPr/>
          <p:nvPr/>
        </p:nvSpPr>
        <p:spPr>
          <a:xfrm>
            <a:off x="152400" y="1981200"/>
            <a:ext cx="8610600" cy="3208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1485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25" dirty="0"/>
              <a:t>Co</a:t>
            </a:r>
            <a:r>
              <a:rPr spc="80" dirty="0"/>
              <a:t>lo</a:t>
            </a:r>
            <a:r>
              <a:rPr spc="30" dirty="0"/>
              <a:t>r</a:t>
            </a:r>
          </a:p>
        </p:txBody>
      </p:sp>
      <p:sp>
        <p:nvSpPr>
          <p:cNvPr id="3" name="object 3"/>
          <p:cNvSpPr/>
          <p:nvPr/>
        </p:nvSpPr>
        <p:spPr>
          <a:xfrm>
            <a:off x="228600" y="1447800"/>
            <a:ext cx="8473440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6052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Date </a:t>
            </a:r>
            <a:r>
              <a:rPr spc="85" dirty="0"/>
              <a:t>and </a:t>
            </a:r>
            <a:r>
              <a:rPr spc="20" dirty="0"/>
              <a:t>Time</a:t>
            </a:r>
            <a:r>
              <a:rPr spc="-204" dirty="0"/>
              <a:t> </a:t>
            </a:r>
            <a:r>
              <a:rPr spc="60" dirty="0"/>
              <a:t>Controls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93139" y="1539240"/>
            <a:ext cx="6179820" cy="3818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780">
              <a:lnSpc>
                <a:spcPct val="100000"/>
              </a:lnSpc>
              <a:spcBef>
                <a:spcPts val="100"/>
              </a:spcBef>
            </a:pP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Dates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times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often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need </a:t>
            </a:r>
            <a:r>
              <a:rPr sz="2200" spc="-55" dirty="0">
                <a:solidFill>
                  <a:srgbClr val="3E3E3E"/>
                </a:solidFill>
                <a:latin typeface="Arial"/>
                <a:cs typeface="Arial"/>
              </a:rPr>
              <a:t>validation</a:t>
            </a:r>
            <a:r>
              <a:rPr sz="2200" spc="-4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when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gathering  </a:t>
            </a:r>
            <a:r>
              <a:rPr sz="2200" spc="-45" dirty="0">
                <a:solidFill>
                  <a:srgbClr val="3E3E3E"/>
                </a:solidFill>
                <a:latin typeface="Arial"/>
                <a:cs typeface="Arial"/>
              </a:rPr>
              <a:t>this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information</a:t>
            </a:r>
            <a:r>
              <a:rPr sz="2200" spc="-1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from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regular</a:t>
            </a:r>
            <a:r>
              <a:rPr sz="2200" spc="-14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text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srgbClr val="3E3E3E"/>
                </a:solidFill>
                <a:latin typeface="Arial"/>
                <a:cs typeface="Arial"/>
              </a:rPr>
              <a:t>input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3E3E3E"/>
                </a:solidFill>
                <a:latin typeface="Arial"/>
                <a:cs typeface="Arial"/>
              </a:rPr>
              <a:t>control.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720"/>
              </a:spcBef>
            </a:pP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From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user’s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perspective,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entering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dates 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tricky  </a:t>
            </a:r>
            <a:r>
              <a:rPr sz="2200" spc="-204" dirty="0">
                <a:solidFill>
                  <a:srgbClr val="3E3E3E"/>
                </a:solidFill>
                <a:latin typeface="Arial"/>
                <a:cs typeface="Arial"/>
              </a:rPr>
              <a:t>as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well: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you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probably 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have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wondered 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at 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some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point 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in 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time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when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entering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date </a:t>
            </a:r>
            <a:r>
              <a:rPr sz="2200" spc="-10" dirty="0">
                <a:solidFill>
                  <a:srgbClr val="3E3E3E"/>
                </a:solidFill>
                <a:latin typeface="Arial"/>
                <a:cs typeface="Arial"/>
              </a:rPr>
              <a:t>into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web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form, what  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format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enter </a:t>
            </a:r>
            <a:r>
              <a:rPr sz="2200" spc="65" dirty="0">
                <a:solidFill>
                  <a:srgbClr val="3E3E3E"/>
                </a:solidFill>
                <a:latin typeface="Arial"/>
                <a:cs typeface="Arial"/>
              </a:rPr>
              <a:t>it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in, whether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day 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comes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before 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month, whether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month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should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entered </a:t>
            </a:r>
            <a:r>
              <a:rPr sz="2200" spc="-204" dirty="0">
                <a:solidFill>
                  <a:srgbClr val="3E3E3E"/>
                </a:solidFill>
                <a:latin typeface="Arial"/>
                <a:cs typeface="Arial"/>
              </a:rPr>
              <a:t>as  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an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abbreviation </a:t>
            </a:r>
            <a:r>
              <a:rPr sz="2200" spc="-20" dirty="0">
                <a:solidFill>
                  <a:srgbClr val="3E3E3E"/>
                </a:solidFill>
                <a:latin typeface="Arial"/>
                <a:cs typeface="Arial"/>
              </a:rPr>
              <a:t>or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number,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so</a:t>
            </a:r>
            <a:r>
              <a:rPr sz="2200" spc="-39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on.</a:t>
            </a:r>
            <a:endParaRPr sz="2200">
              <a:latin typeface="Arial"/>
              <a:cs typeface="Arial"/>
            </a:endParaRPr>
          </a:p>
          <a:p>
            <a:pPr marL="12700" marR="649605">
              <a:lnSpc>
                <a:spcPct val="100000"/>
              </a:lnSpc>
              <a:spcBef>
                <a:spcPts val="1739"/>
              </a:spcBef>
            </a:pP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It's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always</a:t>
            </a: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good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idea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let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05" dirty="0">
                <a:solidFill>
                  <a:srgbClr val="3E3E3E"/>
                </a:solidFill>
                <a:latin typeface="Arial"/>
                <a:cs typeface="Arial"/>
              </a:rPr>
              <a:t>user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know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what  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format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you</a:t>
            </a:r>
            <a:r>
              <a:rPr sz="2200" spc="-21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3E3E3E"/>
                </a:solidFill>
                <a:latin typeface="Arial"/>
                <a:cs typeface="Arial"/>
              </a:rPr>
              <a:t>expect.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72631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20" dirty="0"/>
              <a:t>HTML5 </a:t>
            </a:r>
            <a:r>
              <a:rPr sz="4000" spc="45" dirty="0"/>
              <a:t>Date </a:t>
            </a:r>
            <a:r>
              <a:rPr sz="4000" spc="80" dirty="0"/>
              <a:t>and </a:t>
            </a:r>
            <a:r>
              <a:rPr sz="4000" spc="25" dirty="0"/>
              <a:t>Time</a:t>
            </a:r>
            <a:r>
              <a:rPr sz="4000" spc="-40" dirty="0"/>
              <a:t> </a:t>
            </a:r>
            <a:r>
              <a:rPr sz="4000" spc="60" dirty="0"/>
              <a:t>Controls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28600" y="1295400"/>
            <a:ext cx="8389620" cy="5098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72631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20" dirty="0"/>
              <a:t>HTML5 </a:t>
            </a:r>
            <a:r>
              <a:rPr sz="4000" spc="45" dirty="0"/>
              <a:t>Date </a:t>
            </a:r>
            <a:r>
              <a:rPr sz="4000" spc="80" dirty="0"/>
              <a:t>and </a:t>
            </a:r>
            <a:r>
              <a:rPr sz="4000" spc="25" dirty="0"/>
              <a:t>Time</a:t>
            </a:r>
            <a:r>
              <a:rPr sz="4000" spc="-40" dirty="0"/>
              <a:t> </a:t>
            </a:r>
            <a:r>
              <a:rPr sz="4000" spc="60" dirty="0"/>
              <a:t>Controls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09600" y="1371600"/>
            <a:ext cx="7391400" cy="5093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3843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HTML</a:t>
            </a:r>
            <a:r>
              <a:rPr spc="-30" dirty="0"/>
              <a:t> </a:t>
            </a:r>
            <a:r>
              <a:rPr spc="60" dirty="0"/>
              <a:t>Controls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84250" y="1212850"/>
          <a:ext cx="7163434" cy="4625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675"/>
                <a:gridCol w="5953759"/>
              </a:tblGrid>
              <a:tr h="381000">
                <a:tc>
                  <a:txBody>
                    <a:bodyPr/>
                    <a:lstStyle/>
                    <a:p>
                      <a:pPr marL="97790">
                        <a:lnSpc>
                          <a:spcPts val="1960"/>
                        </a:lnSpc>
                      </a:pPr>
                      <a:r>
                        <a:rPr sz="2000" b="1" spc="-18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381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60"/>
                        </a:lnSpc>
                      </a:pPr>
                      <a:r>
                        <a:rPr sz="2000" b="1" spc="-13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381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</a:tr>
              <a:tr h="707390">
                <a:tc>
                  <a:txBody>
                    <a:bodyPr/>
                    <a:lstStyle/>
                    <a:p>
                      <a:pPr marL="97790">
                        <a:lnSpc>
                          <a:spcPts val="1920"/>
                        </a:lnSpc>
                      </a:pPr>
                      <a:r>
                        <a:rPr sz="1800" b="1" spc="-10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date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381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234950">
                        <a:lnSpc>
                          <a:spcPct val="741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general </a:t>
                      </a:r>
                      <a:r>
                        <a:rPr sz="18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date </a:t>
                      </a:r>
                      <a:r>
                        <a:rPr sz="18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input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control. </a:t>
                      </a:r>
                      <a:r>
                        <a:rPr sz="1800" spc="-13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format </a:t>
                      </a:r>
                      <a:r>
                        <a:rPr sz="18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8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date 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8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4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"yyyy-mm-dd".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381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  <a:tr h="707390">
                <a:tc>
                  <a:txBody>
                    <a:bodyPr/>
                    <a:lstStyle/>
                    <a:p>
                      <a:pPr marL="97155">
                        <a:lnSpc>
                          <a:spcPts val="1920"/>
                        </a:lnSpc>
                      </a:pPr>
                      <a:r>
                        <a:rPr sz="1800" b="1" spc="-7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time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763270">
                        <a:lnSpc>
                          <a:spcPct val="74100"/>
                        </a:lnSpc>
                        <a:spcBef>
                          <a:spcPts val="320"/>
                        </a:spcBef>
                      </a:pPr>
                      <a:r>
                        <a:rPr sz="1800" spc="-1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time input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control. </a:t>
                      </a:r>
                      <a:r>
                        <a:rPr sz="1800" spc="-13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format </a:t>
                      </a:r>
                      <a:r>
                        <a:rPr sz="18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 </a:t>
                      </a:r>
                      <a:r>
                        <a:rPr sz="18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sz="1800" spc="-27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is  </a:t>
                      </a:r>
                      <a:r>
                        <a:rPr sz="1800" spc="-9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"HH:MM:SS", </a:t>
                      </a:r>
                      <a:r>
                        <a:rPr sz="18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8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8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hours:minutes:seconds.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  <a:tr h="707390">
                <a:tc>
                  <a:txBody>
                    <a:bodyPr/>
                    <a:lstStyle/>
                    <a:p>
                      <a:pPr marL="97790">
                        <a:lnSpc>
                          <a:spcPts val="1920"/>
                        </a:lnSpc>
                      </a:pPr>
                      <a:r>
                        <a:rPr sz="1800" b="1" spc="-9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datetime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920"/>
                        </a:lnSpc>
                      </a:pPr>
                      <a:r>
                        <a:rPr sz="1800" spc="-1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control </a:t>
                      </a:r>
                      <a:r>
                        <a:rPr sz="18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8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which </a:t>
                      </a:r>
                      <a:r>
                        <a:rPr sz="18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user </a:t>
                      </a:r>
                      <a:r>
                        <a:rPr sz="18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can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enter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date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800" spc="-10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time.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  <a:tr h="707390">
                <a:tc>
                  <a:txBody>
                    <a:bodyPr/>
                    <a:lstStyle/>
                    <a:p>
                      <a:pPr marL="97790" marR="180340">
                        <a:lnSpc>
                          <a:spcPct val="741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800" b="1" spc="-3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800" b="1" spc="-2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800" b="1" spc="-3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800" b="1" spc="-5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tim</a:t>
                      </a:r>
                      <a:r>
                        <a:rPr sz="1800" b="1" spc="-1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1800" b="1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-  </a:t>
                      </a:r>
                      <a:r>
                        <a:rPr sz="1800" b="1" spc="-130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186055">
                        <a:lnSpc>
                          <a:spcPct val="74100"/>
                        </a:lnSpc>
                        <a:spcBef>
                          <a:spcPts val="315"/>
                        </a:spcBef>
                      </a:pPr>
                      <a:r>
                        <a:rPr sz="1800" spc="-1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control </a:t>
                      </a:r>
                      <a:r>
                        <a:rPr sz="18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8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which </a:t>
                      </a:r>
                      <a:r>
                        <a:rPr sz="18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user </a:t>
                      </a:r>
                      <a:r>
                        <a:rPr sz="18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can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enter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date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8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time  </a:t>
                      </a:r>
                      <a:r>
                        <a:rPr sz="180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without </a:t>
                      </a:r>
                      <a:r>
                        <a:rPr sz="1800" spc="-7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specifying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1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sz="1800" spc="-11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zone.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  <a:tr h="707390">
                <a:tc>
                  <a:txBody>
                    <a:bodyPr/>
                    <a:lstStyle/>
                    <a:p>
                      <a:pPr marL="97790">
                        <a:lnSpc>
                          <a:spcPts val="1920"/>
                        </a:lnSpc>
                      </a:pPr>
                      <a:r>
                        <a:rPr sz="1800" b="1" spc="-114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month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477520">
                        <a:lnSpc>
                          <a:spcPct val="74100"/>
                        </a:lnSpc>
                        <a:spcBef>
                          <a:spcPts val="315"/>
                        </a:spcBef>
                      </a:pPr>
                      <a:r>
                        <a:rPr sz="1800" spc="-1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control </a:t>
                      </a:r>
                      <a:r>
                        <a:rPr sz="18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8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which </a:t>
                      </a:r>
                      <a:r>
                        <a:rPr sz="18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user </a:t>
                      </a:r>
                      <a:r>
                        <a:rPr sz="18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can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enter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3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month </a:t>
                      </a:r>
                      <a:r>
                        <a:rPr sz="18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sz="1800" spc="-15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 </a:t>
                      </a:r>
                      <a:r>
                        <a:rPr sz="1800" spc="-114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year. </a:t>
                      </a:r>
                      <a:r>
                        <a:rPr sz="1800" spc="-13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format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8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"yyyy-mm".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  <a:tr h="707390">
                <a:tc>
                  <a:txBody>
                    <a:bodyPr/>
                    <a:lstStyle/>
                    <a:p>
                      <a:pPr marL="97790">
                        <a:lnSpc>
                          <a:spcPts val="1920"/>
                        </a:lnSpc>
                      </a:pPr>
                      <a:r>
                        <a:rPr sz="1800" b="1" spc="-114" dirty="0">
                          <a:solidFill>
                            <a:srgbClr val="F3F3E7"/>
                          </a:solidFill>
                          <a:latin typeface="Arial"/>
                          <a:cs typeface="Arial"/>
                        </a:rPr>
                        <a:t>week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009FDA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457200">
                        <a:lnSpc>
                          <a:spcPct val="74100"/>
                        </a:lnSpc>
                        <a:spcBef>
                          <a:spcPts val="315"/>
                        </a:spcBef>
                      </a:pPr>
                      <a:r>
                        <a:rPr sz="1800" spc="-1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Creates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control </a:t>
                      </a:r>
                      <a:r>
                        <a:rPr sz="18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8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which </a:t>
                      </a:r>
                      <a:r>
                        <a:rPr sz="1800" spc="-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user </a:t>
                      </a:r>
                      <a:r>
                        <a:rPr sz="1800" spc="-12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can </a:t>
                      </a:r>
                      <a:r>
                        <a:rPr sz="1800" spc="-8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specify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800" spc="-8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week </a:t>
                      </a:r>
                      <a:r>
                        <a:rPr sz="1800" spc="-2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in </a:t>
                      </a:r>
                      <a:r>
                        <a:rPr sz="1800" spc="-14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a  </a:t>
                      </a:r>
                      <a:r>
                        <a:rPr sz="1800" spc="-114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year. </a:t>
                      </a:r>
                      <a:r>
                        <a:rPr sz="1800" spc="-13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800" spc="-3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format </a:t>
                      </a:r>
                      <a:r>
                        <a:rPr sz="1800" spc="-90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is</a:t>
                      </a:r>
                      <a:r>
                        <a:rPr sz="1800" spc="-6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5" dirty="0">
                          <a:solidFill>
                            <a:srgbClr val="3E3E3E"/>
                          </a:solidFill>
                          <a:latin typeface="Arial"/>
                          <a:cs typeface="Arial"/>
                        </a:rPr>
                        <a:t>"yyyy-W##".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3F3E7"/>
                      </a:solidFill>
                      <a:prstDash val="solid"/>
                    </a:lnL>
                    <a:lnR w="12700">
                      <a:solidFill>
                        <a:srgbClr val="F3F3E7"/>
                      </a:solidFill>
                      <a:prstDash val="solid"/>
                    </a:lnR>
                    <a:lnT w="12700">
                      <a:solidFill>
                        <a:srgbClr val="F3F3E7"/>
                      </a:solidFill>
                      <a:prstDash val="solid"/>
                    </a:lnT>
                    <a:lnB w="12700">
                      <a:solidFill>
                        <a:srgbClr val="F3F3E7"/>
                      </a:solidFill>
                      <a:prstDash val="solid"/>
                    </a:lnB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67640"/>
            <a:ext cx="18281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H</a:t>
            </a:r>
            <a:r>
              <a:rPr spc="-204" dirty="0"/>
              <a:t>T</a:t>
            </a:r>
            <a:r>
              <a:rPr spc="-175" dirty="0"/>
              <a:t>ML5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595630" indent="-342900">
              <a:lnSpc>
                <a:spcPct val="100000"/>
              </a:lnSpc>
              <a:spcBef>
                <a:spcPts val="680"/>
              </a:spcBef>
              <a:buClr>
                <a:srgbClr val="B18714"/>
              </a:buClr>
              <a:buFont typeface="Wingdings"/>
              <a:buChar char=""/>
              <a:tabLst>
                <a:tab pos="594995" algn="l"/>
                <a:tab pos="595630" algn="l"/>
              </a:tabLst>
            </a:pPr>
            <a:r>
              <a:rPr spc="-204" dirty="0"/>
              <a:t>HTML </a:t>
            </a:r>
            <a:r>
              <a:rPr spc="-120" dirty="0"/>
              <a:t>5 </a:t>
            </a:r>
            <a:r>
              <a:rPr spc="10" dirty="0"/>
              <a:t>will </a:t>
            </a:r>
            <a:r>
              <a:rPr spc="-60" dirty="0"/>
              <a:t>support </a:t>
            </a:r>
            <a:r>
              <a:rPr spc="-125" dirty="0"/>
              <a:t>several </a:t>
            </a:r>
            <a:r>
              <a:rPr spc="-90" dirty="0"/>
              <a:t>new </a:t>
            </a:r>
            <a:r>
              <a:rPr spc="-20" dirty="0"/>
              <a:t>input </a:t>
            </a:r>
            <a:r>
              <a:rPr spc="-95" dirty="0"/>
              <a:t>types </a:t>
            </a:r>
            <a:r>
              <a:rPr spc="-150" dirty="0"/>
              <a:t>such</a:t>
            </a:r>
            <a:r>
              <a:rPr spc="-505" dirty="0"/>
              <a:t> </a:t>
            </a:r>
            <a:r>
              <a:rPr spc="-165" dirty="0"/>
              <a:t>as:</a:t>
            </a:r>
          </a:p>
          <a:p>
            <a:pPr marL="595630" marR="784225" indent="-342900">
              <a:lnSpc>
                <a:spcPct val="100000"/>
              </a:lnSpc>
              <a:spcBef>
                <a:spcPts val="580"/>
              </a:spcBef>
              <a:buClr>
                <a:srgbClr val="B18714"/>
              </a:buClr>
              <a:buFont typeface="Wingdings"/>
              <a:buChar char=""/>
              <a:tabLst>
                <a:tab pos="594995" algn="l"/>
                <a:tab pos="595630" algn="l"/>
                <a:tab pos="3486150" algn="l"/>
              </a:tabLst>
            </a:pPr>
            <a:r>
              <a:rPr spc="-140" dirty="0"/>
              <a:t>Color, </a:t>
            </a:r>
            <a:r>
              <a:rPr spc="-80" dirty="0"/>
              <a:t>date,</a:t>
            </a:r>
            <a:r>
              <a:rPr spc="-110" dirty="0"/>
              <a:t> </a:t>
            </a:r>
            <a:r>
              <a:rPr spc="-75" dirty="0"/>
              <a:t>email,</a:t>
            </a:r>
            <a:r>
              <a:rPr spc="-135" dirty="0"/>
              <a:t> </a:t>
            </a:r>
            <a:r>
              <a:rPr spc="-75" dirty="0"/>
              <a:t>etc.	</a:t>
            </a:r>
            <a:r>
              <a:rPr spc="-195" dirty="0"/>
              <a:t>Check </a:t>
            </a:r>
            <a:r>
              <a:rPr spc="-30" dirty="0"/>
              <a:t>the </a:t>
            </a:r>
            <a:r>
              <a:rPr spc="-45" dirty="0"/>
              <a:t>following </a:t>
            </a:r>
            <a:r>
              <a:rPr spc="-70" dirty="0"/>
              <a:t>site</a:t>
            </a:r>
            <a:r>
              <a:rPr spc="-330" dirty="0"/>
              <a:t> </a:t>
            </a:r>
            <a:r>
              <a:rPr spc="-15" dirty="0"/>
              <a:t>for  </a:t>
            </a:r>
            <a:r>
              <a:rPr spc="-80" dirty="0"/>
              <a:t>browser</a:t>
            </a:r>
            <a:r>
              <a:rPr spc="-150" dirty="0"/>
              <a:t> </a:t>
            </a:r>
            <a:r>
              <a:rPr spc="-50" dirty="0"/>
              <a:t>compatibilities:</a:t>
            </a:r>
          </a:p>
          <a:p>
            <a:pPr marL="252729">
              <a:lnSpc>
                <a:spcPct val="100000"/>
              </a:lnSpc>
              <a:spcBef>
                <a:spcPts val="560"/>
              </a:spcBef>
            </a:pPr>
            <a:r>
              <a:rPr sz="2300" u="heavy" spc="-45" dirty="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hlinkClick r:id="rId2"/>
              </a:rPr>
              <a:t>http://www.w3schools.com/html/html_form_input_types.asp</a:t>
            </a:r>
            <a:endParaRPr sz="23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67640"/>
            <a:ext cx="27882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80" dirty="0">
                <a:solidFill>
                  <a:srgbClr val="00506D"/>
                </a:solidFill>
              </a:rPr>
              <a:t>F</a:t>
            </a:r>
            <a:r>
              <a:rPr spc="145" dirty="0">
                <a:solidFill>
                  <a:srgbClr val="00506D"/>
                </a:solidFill>
              </a:rPr>
              <a:t>o</a:t>
            </a:r>
            <a:r>
              <a:rPr spc="35" dirty="0">
                <a:solidFill>
                  <a:srgbClr val="00506D"/>
                </a:solidFill>
              </a:rPr>
              <a:t>r</a:t>
            </a:r>
            <a:r>
              <a:rPr spc="-80" dirty="0">
                <a:solidFill>
                  <a:srgbClr val="00506D"/>
                </a:solidFill>
              </a:rPr>
              <a:t>m</a:t>
            </a:r>
            <a:r>
              <a:rPr spc="114" dirty="0">
                <a:solidFill>
                  <a:srgbClr val="00506D"/>
                </a:solidFill>
              </a:rPr>
              <a:t>a</a:t>
            </a:r>
            <a:r>
              <a:rPr spc="-150" dirty="0">
                <a:solidFill>
                  <a:srgbClr val="00506D"/>
                </a:solidFill>
              </a:rPr>
              <a:t>tt</a:t>
            </a:r>
            <a:r>
              <a:rPr spc="-125" dirty="0">
                <a:solidFill>
                  <a:srgbClr val="00506D"/>
                </a:solidFill>
              </a:rPr>
              <a:t>i</a:t>
            </a:r>
            <a:r>
              <a:rPr spc="-85" dirty="0">
                <a:solidFill>
                  <a:srgbClr val="00506D"/>
                </a:solidFill>
              </a:rPr>
              <a:t>n</a:t>
            </a:r>
            <a:r>
              <a:rPr spc="505" dirty="0">
                <a:solidFill>
                  <a:srgbClr val="00506D"/>
                </a:solidFill>
              </a:rPr>
              <a:t>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39" y="1155700"/>
            <a:ext cx="568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B18714"/>
              </a:buClr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100" dirty="0">
                <a:solidFill>
                  <a:srgbClr val="3E3E3E"/>
                </a:solidFill>
                <a:latin typeface="Arial"/>
                <a:cs typeface="Arial"/>
              </a:rPr>
              <a:t>Aligned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label, </a:t>
            </a:r>
            <a:r>
              <a:rPr sz="2400" spc="-25" dirty="0">
                <a:solidFill>
                  <a:srgbClr val="3E3E3E"/>
                </a:solidFill>
                <a:latin typeface="Arial"/>
                <a:cs typeface="Arial"/>
              </a:rPr>
              <a:t>text </a:t>
            </a:r>
            <a:r>
              <a:rPr sz="2400" spc="-110" dirty="0">
                <a:solidFill>
                  <a:srgbClr val="3E3E3E"/>
                </a:solidFill>
                <a:latin typeface="Arial"/>
                <a:cs typeface="Arial"/>
              </a:rPr>
              <a:t>box, </a:t>
            </a:r>
            <a:r>
              <a:rPr sz="2400" spc="-12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400" spc="-20" dirty="0">
                <a:solidFill>
                  <a:srgbClr val="3E3E3E"/>
                </a:solidFill>
                <a:latin typeface="Arial"/>
                <a:cs typeface="Arial"/>
              </a:rPr>
              <a:t>button</a:t>
            </a:r>
            <a:r>
              <a:rPr sz="2400" spc="-3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3E3E3E"/>
                </a:solidFill>
                <a:latin typeface="Arial"/>
                <a:cs typeface="Arial"/>
              </a:rPr>
              <a:t>controls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19200" y="2438400"/>
            <a:ext cx="5651487" cy="3721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78939" y="302577"/>
            <a:ext cx="57981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The </a:t>
            </a:r>
            <a:r>
              <a:rPr spc="-320" dirty="0"/>
              <a:t>HTML </a:t>
            </a:r>
            <a:r>
              <a:rPr spc="35" dirty="0"/>
              <a:t>for </a:t>
            </a:r>
            <a:r>
              <a:rPr spc="50" dirty="0"/>
              <a:t>the</a:t>
            </a:r>
            <a:r>
              <a:rPr spc="-400" dirty="0"/>
              <a:t> </a:t>
            </a:r>
            <a:r>
              <a:rPr spc="5" dirty="0"/>
              <a:t>form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5" name="object 5"/>
          <p:cNvSpPr txBox="1"/>
          <p:nvPr/>
        </p:nvSpPr>
        <p:spPr>
          <a:xfrm>
            <a:off x="383540" y="1029817"/>
            <a:ext cx="8087359" cy="551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solidFill>
                  <a:srgbClr val="3E3E3E"/>
                </a:solidFill>
                <a:latin typeface="Arial"/>
                <a:cs typeface="Arial"/>
              </a:rPr>
              <a:t>&lt;label </a:t>
            </a:r>
            <a:r>
              <a:rPr sz="1800" b="1" spc="-114" dirty="0">
                <a:solidFill>
                  <a:srgbClr val="3E3E3E"/>
                </a:solidFill>
                <a:latin typeface="Arial"/>
                <a:cs typeface="Arial"/>
              </a:rPr>
              <a:t>for="firstname"&gt;First</a:t>
            </a:r>
            <a:r>
              <a:rPr sz="1800" b="1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90" dirty="0">
                <a:solidFill>
                  <a:srgbClr val="3E3E3E"/>
                </a:solidFill>
                <a:latin typeface="Arial"/>
                <a:cs typeface="Arial"/>
              </a:rPr>
              <a:t>name:&lt;/label&gt;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5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1800" b="1" spc="-90" dirty="0">
                <a:solidFill>
                  <a:srgbClr val="3E3E3E"/>
                </a:solidFill>
                <a:latin typeface="Arial"/>
                <a:cs typeface="Arial"/>
              </a:rPr>
              <a:t>type="text" </a:t>
            </a:r>
            <a:r>
              <a:rPr sz="1800" b="1" spc="-114" dirty="0">
                <a:solidFill>
                  <a:srgbClr val="3E3E3E"/>
                </a:solidFill>
                <a:latin typeface="Arial"/>
                <a:cs typeface="Arial"/>
              </a:rPr>
              <a:t>name="firstname" </a:t>
            </a:r>
            <a:r>
              <a:rPr sz="1800" b="1" spc="-110" dirty="0">
                <a:solidFill>
                  <a:srgbClr val="3E3E3E"/>
                </a:solidFill>
                <a:latin typeface="Arial"/>
                <a:cs typeface="Arial"/>
              </a:rPr>
              <a:t>id="firstname"</a:t>
            </a:r>
            <a:r>
              <a:rPr sz="1800" b="1" spc="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3E3E3E"/>
                </a:solidFill>
                <a:latin typeface="Arial"/>
                <a:cs typeface="Arial"/>
              </a:rPr>
              <a:t>autofocus&gt;&lt;br&gt;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10" dirty="0">
                <a:solidFill>
                  <a:srgbClr val="3E3E3E"/>
                </a:solidFill>
                <a:latin typeface="Arial"/>
                <a:cs typeface="Arial"/>
              </a:rPr>
              <a:t>&lt;label </a:t>
            </a:r>
            <a:r>
              <a:rPr sz="1800" b="1" spc="-130" dirty="0">
                <a:solidFill>
                  <a:srgbClr val="3E3E3E"/>
                </a:solidFill>
                <a:latin typeface="Arial"/>
                <a:cs typeface="Arial"/>
              </a:rPr>
              <a:t>for="lastname"&gt;Last</a:t>
            </a:r>
            <a:r>
              <a:rPr sz="1800" b="1" spc="-2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90" dirty="0">
                <a:solidFill>
                  <a:srgbClr val="3E3E3E"/>
                </a:solidFill>
                <a:latin typeface="Arial"/>
                <a:cs typeface="Arial"/>
              </a:rPr>
              <a:t>name:&lt;/label&gt;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5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1800" b="1" spc="-90" dirty="0">
                <a:solidFill>
                  <a:srgbClr val="3E3E3E"/>
                </a:solidFill>
                <a:latin typeface="Arial"/>
                <a:cs typeface="Arial"/>
              </a:rPr>
              <a:t>type="text" </a:t>
            </a:r>
            <a:r>
              <a:rPr sz="1800" b="1" spc="-120" dirty="0">
                <a:solidFill>
                  <a:srgbClr val="3E3E3E"/>
                </a:solidFill>
                <a:latin typeface="Arial"/>
                <a:cs typeface="Arial"/>
              </a:rPr>
              <a:t>name="lastname"</a:t>
            </a:r>
            <a:r>
              <a:rPr sz="1800" b="1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3E3E3E"/>
                </a:solidFill>
                <a:latin typeface="Arial"/>
                <a:cs typeface="Arial"/>
              </a:rPr>
              <a:t>id="lastname"&gt;&lt;br&gt;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10" dirty="0">
                <a:solidFill>
                  <a:srgbClr val="3E3E3E"/>
                </a:solidFill>
                <a:latin typeface="Arial"/>
                <a:cs typeface="Arial"/>
              </a:rPr>
              <a:t>&lt;label</a:t>
            </a:r>
            <a:r>
              <a:rPr sz="1800" b="1" spc="-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30" dirty="0">
                <a:solidFill>
                  <a:srgbClr val="3E3E3E"/>
                </a:solidFill>
                <a:latin typeface="Arial"/>
                <a:cs typeface="Arial"/>
              </a:rPr>
              <a:t>for="address"&gt;Address:&lt;/label&gt;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5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1800" b="1" spc="-90" dirty="0">
                <a:solidFill>
                  <a:srgbClr val="3E3E3E"/>
                </a:solidFill>
                <a:latin typeface="Arial"/>
                <a:cs typeface="Arial"/>
              </a:rPr>
              <a:t>type="text" </a:t>
            </a:r>
            <a:r>
              <a:rPr sz="1800" b="1" spc="-145" dirty="0">
                <a:solidFill>
                  <a:srgbClr val="3E3E3E"/>
                </a:solidFill>
                <a:latin typeface="Arial"/>
                <a:cs typeface="Arial"/>
              </a:rPr>
              <a:t>name="address"</a:t>
            </a:r>
            <a:r>
              <a:rPr sz="1800" b="1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40" dirty="0">
                <a:solidFill>
                  <a:srgbClr val="3E3E3E"/>
                </a:solidFill>
                <a:latin typeface="Arial"/>
                <a:cs typeface="Arial"/>
              </a:rPr>
              <a:t>id="address"&gt;&lt;br&gt;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10" dirty="0">
                <a:solidFill>
                  <a:srgbClr val="3E3E3E"/>
                </a:solidFill>
                <a:latin typeface="Arial"/>
                <a:cs typeface="Arial"/>
              </a:rPr>
              <a:t>&lt;label</a:t>
            </a:r>
            <a:r>
              <a:rPr sz="1800" b="1" spc="-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3E3E3E"/>
                </a:solidFill>
                <a:latin typeface="Arial"/>
                <a:cs typeface="Arial"/>
              </a:rPr>
              <a:t>for="city"&gt;City:&lt;/label&gt;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5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1800" b="1" spc="-90" dirty="0">
                <a:solidFill>
                  <a:srgbClr val="3E3E3E"/>
                </a:solidFill>
                <a:latin typeface="Arial"/>
                <a:cs typeface="Arial"/>
              </a:rPr>
              <a:t>type="text" </a:t>
            </a:r>
            <a:r>
              <a:rPr sz="1800" b="1" spc="-114" dirty="0">
                <a:solidFill>
                  <a:srgbClr val="3E3E3E"/>
                </a:solidFill>
                <a:latin typeface="Arial"/>
                <a:cs typeface="Arial"/>
              </a:rPr>
              <a:t>name="city"</a:t>
            </a:r>
            <a:r>
              <a:rPr sz="1800" b="1" spc="-5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3E3E3E"/>
                </a:solidFill>
                <a:latin typeface="Arial"/>
                <a:cs typeface="Arial"/>
              </a:rPr>
              <a:t>id="city"&gt;&lt;br&gt;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10" dirty="0">
                <a:solidFill>
                  <a:srgbClr val="3E3E3E"/>
                </a:solidFill>
                <a:latin typeface="Arial"/>
                <a:cs typeface="Arial"/>
              </a:rPr>
              <a:t>&lt;label</a:t>
            </a:r>
            <a:r>
              <a:rPr sz="1800" b="1" spc="-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3E3E3E"/>
                </a:solidFill>
                <a:latin typeface="Arial"/>
                <a:cs typeface="Arial"/>
              </a:rPr>
              <a:t>for="state"&gt;State:&lt;/label&gt;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5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1800" b="1" spc="-90" dirty="0">
                <a:solidFill>
                  <a:srgbClr val="3E3E3E"/>
                </a:solidFill>
                <a:latin typeface="Arial"/>
                <a:cs typeface="Arial"/>
              </a:rPr>
              <a:t>type="text" </a:t>
            </a:r>
            <a:r>
              <a:rPr sz="1800" b="1" spc="-114" dirty="0">
                <a:solidFill>
                  <a:srgbClr val="3E3E3E"/>
                </a:solidFill>
                <a:latin typeface="Arial"/>
                <a:cs typeface="Arial"/>
              </a:rPr>
              <a:t>name="state"</a:t>
            </a:r>
            <a:r>
              <a:rPr sz="1800" b="1" spc="-4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3E3E3E"/>
                </a:solidFill>
                <a:latin typeface="Arial"/>
                <a:cs typeface="Arial"/>
              </a:rPr>
              <a:t>id="state"&gt;&lt;br&gt;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10" dirty="0">
                <a:solidFill>
                  <a:srgbClr val="3E3E3E"/>
                </a:solidFill>
                <a:latin typeface="Arial"/>
                <a:cs typeface="Arial"/>
              </a:rPr>
              <a:t>&lt;label </a:t>
            </a:r>
            <a:r>
              <a:rPr sz="1800" b="1" spc="-120" dirty="0">
                <a:solidFill>
                  <a:srgbClr val="3E3E3E"/>
                </a:solidFill>
                <a:latin typeface="Arial"/>
                <a:cs typeface="Arial"/>
              </a:rPr>
              <a:t>for="zip"&gt;Zip</a:t>
            </a:r>
            <a:r>
              <a:rPr sz="1800" b="1" spc="-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3E3E3E"/>
                </a:solidFill>
                <a:latin typeface="Arial"/>
                <a:cs typeface="Arial"/>
              </a:rPr>
              <a:t>code:&lt;/label&gt;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105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1800" b="1" spc="-90" dirty="0">
                <a:solidFill>
                  <a:srgbClr val="3E3E3E"/>
                </a:solidFill>
                <a:latin typeface="Arial"/>
                <a:cs typeface="Arial"/>
              </a:rPr>
              <a:t>type="text" </a:t>
            </a:r>
            <a:r>
              <a:rPr sz="1800" b="1" spc="-120" dirty="0">
                <a:solidFill>
                  <a:srgbClr val="3E3E3E"/>
                </a:solidFill>
                <a:latin typeface="Arial"/>
                <a:cs typeface="Arial"/>
              </a:rPr>
              <a:t>name="zip"</a:t>
            </a:r>
            <a:r>
              <a:rPr sz="1800" b="1" spc="-5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25" dirty="0">
                <a:solidFill>
                  <a:srgbClr val="3E3E3E"/>
                </a:solidFill>
                <a:latin typeface="Arial"/>
                <a:cs typeface="Arial"/>
              </a:rPr>
              <a:t>id="zip"&gt;&lt;br&gt;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05" dirty="0">
                <a:solidFill>
                  <a:srgbClr val="3E3E3E"/>
                </a:solidFill>
                <a:latin typeface="Arial"/>
                <a:cs typeface="Arial"/>
              </a:rPr>
              <a:t>&lt;input </a:t>
            </a:r>
            <a:r>
              <a:rPr sz="1800" b="1" spc="-110" dirty="0">
                <a:solidFill>
                  <a:srgbClr val="3E3E3E"/>
                </a:solidFill>
                <a:latin typeface="Arial"/>
                <a:cs typeface="Arial"/>
              </a:rPr>
              <a:t>type="submit" </a:t>
            </a:r>
            <a:r>
              <a:rPr sz="1800" b="1" spc="-120" dirty="0">
                <a:solidFill>
                  <a:srgbClr val="3E3E3E"/>
                </a:solidFill>
                <a:latin typeface="Arial"/>
                <a:cs typeface="Arial"/>
              </a:rPr>
              <a:t>name="register" </a:t>
            </a:r>
            <a:r>
              <a:rPr sz="1800" b="1" spc="-100" dirty="0">
                <a:solidFill>
                  <a:srgbClr val="3E3E3E"/>
                </a:solidFill>
                <a:latin typeface="Arial"/>
                <a:cs typeface="Arial"/>
              </a:rPr>
              <a:t>id="button"</a:t>
            </a:r>
            <a:r>
              <a:rPr sz="1800" b="1" spc="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3E3E3E"/>
                </a:solidFill>
                <a:latin typeface="Arial"/>
                <a:cs typeface="Arial"/>
              </a:rPr>
              <a:t>value="Register"&gt;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8074025" algn="l"/>
              </a:tabLst>
            </a:pPr>
            <a:r>
              <a:rPr sz="1800" b="1" spc="-105" dirty="0">
                <a:solidFill>
                  <a:srgbClr val="3E3E3E"/>
                </a:solidFill>
                <a:latin typeface="Arial"/>
                <a:cs typeface="Arial"/>
              </a:rPr>
              <a:t>&lt;</a:t>
            </a:r>
            <a:r>
              <a:rPr sz="1800" b="1" u="sng" spc="-10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Arial"/>
                <a:cs typeface="Arial"/>
              </a:rPr>
              <a:t>input type="reset" </a:t>
            </a:r>
            <a:r>
              <a:rPr sz="1800" b="1" u="sng" spc="-114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Arial"/>
                <a:cs typeface="Arial"/>
              </a:rPr>
              <a:t>name="reset" </a:t>
            </a:r>
            <a:r>
              <a:rPr sz="1800" b="1" u="sng" spc="-110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Arial"/>
                <a:cs typeface="Arial"/>
              </a:rPr>
              <a:t>id="reset"</a:t>
            </a:r>
            <a:r>
              <a:rPr sz="1800" b="1" u="sng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35" dirty="0">
                <a:solidFill>
                  <a:srgbClr val="3E3E3E"/>
                </a:solidFill>
                <a:uFill>
                  <a:solidFill>
                    <a:srgbClr val="3E3E3E"/>
                  </a:solidFill>
                </a:uFill>
                <a:latin typeface="Arial"/>
                <a:cs typeface="Arial"/>
              </a:rPr>
              <a:t>value="Reset"&gt;	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2140" y="396240"/>
            <a:ext cx="5596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70" dirty="0"/>
              <a:t>The CSS </a:t>
            </a:r>
            <a:r>
              <a:rPr sz="4000" spc="35" dirty="0"/>
              <a:t>for </a:t>
            </a:r>
            <a:r>
              <a:rPr sz="4000" spc="45" dirty="0"/>
              <a:t>the</a:t>
            </a:r>
            <a:r>
              <a:rPr sz="4000" spc="-120" dirty="0"/>
              <a:t> </a:t>
            </a:r>
            <a:r>
              <a:rPr sz="4000" spc="30" dirty="0"/>
              <a:t>controls</a:t>
            </a:r>
            <a:endParaRPr sz="400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7" name="object 7"/>
          <p:cNvSpPr txBox="1"/>
          <p:nvPr/>
        </p:nvSpPr>
        <p:spPr>
          <a:xfrm>
            <a:off x="993139" y="1069340"/>
            <a:ext cx="3912870" cy="414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95" dirty="0">
                <a:solidFill>
                  <a:srgbClr val="3E3E3E"/>
                </a:solidFill>
                <a:latin typeface="Arial"/>
                <a:cs typeface="Arial"/>
              </a:rPr>
              <a:t>label</a:t>
            </a:r>
            <a:r>
              <a:rPr sz="3000" spc="-17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3000" spc="-60" dirty="0">
                <a:solidFill>
                  <a:srgbClr val="3E3E3E"/>
                </a:solidFill>
                <a:latin typeface="Arial"/>
                <a:cs typeface="Arial"/>
              </a:rPr>
              <a:t>{</a:t>
            </a:r>
            <a:endParaRPr sz="3000">
              <a:latin typeface="Arial"/>
              <a:cs typeface="Arial"/>
            </a:endParaRPr>
          </a:p>
          <a:p>
            <a:pPr marL="355600" marR="1683385">
              <a:lnSpc>
                <a:spcPct val="100000"/>
              </a:lnSpc>
            </a:pPr>
            <a:r>
              <a:rPr sz="3000" spc="-20" dirty="0">
                <a:solidFill>
                  <a:srgbClr val="3E3E3E"/>
                </a:solidFill>
                <a:latin typeface="Arial"/>
                <a:cs typeface="Arial"/>
              </a:rPr>
              <a:t>float: </a:t>
            </a:r>
            <a:r>
              <a:rPr sz="3000" spc="5" dirty="0">
                <a:solidFill>
                  <a:srgbClr val="3E3E3E"/>
                </a:solidFill>
                <a:latin typeface="Arial"/>
                <a:cs typeface="Arial"/>
              </a:rPr>
              <a:t>left;  </a:t>
            </a:r>
            <a:r>
              <a:rPr sz="3000" spc="-15" dirty="0">
                <a:solidFill>
                  <a:srgbClr val="3E3E3E"/>
                </a:solidFill>
                <a:latin typeface="Arial"/>
                <a:cs typeface="Arial"/>
              </a:rPr>
              <a:t>width:</a:t>
            </a:r>
            <a:r>
              <a:rPr sz="3000" spc="-229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3000" spc="-114" dirty="0">
                <a:solidFill>
                  <a:srgbClr val="3E3E3E"/>
                </a:solidFill>
                <a:latin typeface="Arial"/>
                <a:cs typeface="Arial"/>
              </a:rPr>
              <a:t>5em;</a:t>
            </a:r>
            <a:endParaRPr sz="3000">
              <a:latin typeface="Arial"/>
              <a:cs typeface="Arial"/>
            </a:endParaRPr>
          </a:p>
          <a:p>
            <a:pPr marL="12700" marR="965200" indent="342900">
              <a:lnSpc>
                <a:spcPct val="100000"/>
              </a:lnSpc>
            </a:pPr>
            <a:r>
              <a:rPr sz="3000" spc="-75" dirty="0">
                <a:solidFill>
                  <a:srgbClr val="3E3E3E"/>
                </a:solidFill>
                <a:latin typeface="Arial"/>
                <a:cs typeface="Arial"/>
              </a:rPr>
              <a:t>text-align:</a:t>
            </a:r>
            <a:r>
              <a:rPr sz="3000" spc="-229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3000" spc="-35" dirty="0">
                <a:solidFill>
                  <a:srgbClr val="3E3E3E"/>
                </a:solidFill>
                <a:latin typeface="Arial"/>
                <a:cs typeface="Arial"/>
              </a:rPr>
              <a:t>right;}  </a:t>
            </a:r>
            <a:r>
              <a:rPr sz="3000" spc="-20" dirty="0">
                <a:solidFill>
                  <a:srgbClr val="3E3E3E"/>
                </a:solidFill>
                <a:latin typeface="Arial"/>
                <a:cs typeface="Arial"/>
              </a:rPr>
              <a:t>input</a:t>
            </a:r>
            <a:r>
              <a:rPr sz="3000" spc="-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3000" spc="-60" dirty="0">
                <a:solidFill>
                  <a:srgbClr val="3E3E3E"/>
                </a:solidFill>
                <a:latin typeface="Arial"/>
                <a:cs typeface="Arial"/>
              </a:rPr>
              <a:t>{</a:t>
            </a:r>
            <a:endParaRPr sz="300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</a:pPr>
            <a:r>
              <a:rPr sz="3000" spc="-60" dirty="0">
                <a:solidFill>
                  <a:srgbClr val="3E3E3E"/>
                </a:solidFill>
                <a:latin typeface="Arial"/>
                <a:cs typeface="Arial"/>
              </a:rPr>
              <a:t>margin-left: </a:t>
            </a:r>
            <a:r>
              <a:rPr sz="3000" spc="-114" dirty="0">
                <a:solidFill>
                  <a:srgbClr val="3E3E3E"/>
                </a:solidFill>
                <a:latin typeface="Arial"/>
                <a:cs typeface="Arial"/>
              </a:rPr>
              <a:t>1em;  </a:t>
            </a:r>
            <a:r>
              <a:rPr sz="3000" spc="-65" dirty="0">
                <a:solidFill>
                  <a:srgbClr val="3E3E3E"/>
                </a:solidFill>
                <a:latin typeface="Arial"/>
                <a:cs typeface="Arial"/>
              </a:rPr>
              <a:t>margin-bottom:</a:t>
            </a:r>
            <a:r>
              <a:rPr sz="3000" spc="-2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3000" spc="-105" dirty="0">
                <a:solidFill>
                  <a:srgbClr val="3E3E3E"/>
                </a:solidFill>
                <a:latin typeface="Arial"/>
                <a:cs typeface="Arial"/>
              </a:rPr>
              <a:t>.5em;}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000" spc="-40" dirty="0">
                <a:solidFill>
                  <a:srgbClr val="3E3E3E"/>
                </a:solidFill>
                <a:latin typeface="Arial"/>
                <a:cs typeface="Arial"/>
              </a:rPr>
              <a:t>#button</a:t>
            </a:r>
            <a:r>
              <a:rPr sz="3000" spc="-17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3000" spc="-60" dirty="0">
                <a:solidFill>
                  <a:srgbClr val="3E3E3E"/>
                </a:solidFill>
                <a:latin typeface="Arial"/>
                <a:cs typeface="Arial"/>
              </a:rPr>
              <a:t>{</a:t>
            </a:r>
            <a:endParaRPr sz="3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3000" spc="-60" dirty="0">
                <a:solidFill>
                  <a:srgbClr val="3E3E3E"/>
                </a:solidFill>
                <a:latin typeface="Arial"/>
                <a:cs typeface="Arial"/>
              </a:rPr>
              <a:t>margin-left:</a:t>
            </a:r>
            <a:r>
              <a:rPr sz="3000" spc="-18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3000" spc="-110" dirty="0">
                <a:solidFill>
                  <a:srgbClr val="3E3E3E"/>
                </a:solidFill>
                <a:latin typeface="Arial"/>
                <a:cs typeface="Arial"/>
              </a:rPr>
              <a:t>7em;}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3430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M</a:t>
            </a:r>
            <a:r>
              <a:rPr spc="-10" dirty="0"/>
              <a:t>i</a:t>
            </a:r>
            <a:r>
              <a:rPr spc="295" dirty="0"/>
              <a:t>c</a:t>
            </a:r>
            <a:r>
              <a:rPr spc="-145" dirty="0"/>
              <a:t>r</a:t>
            </a:r>
            <a:r>
              <a:rPr spc="145" dirty="0"/>
              <a:t>o</a:t>
            </a:r>
            <a:r>
              <a:rPr spc="-75" dirty="0"/>
              <a:t>f</a:t>
            </a:r>
            <a:r>
              <a:rPr spc="145" dirty="0"/>
              <a:t>o</a:t>
            </a:r>
            <a:r>
              <a:rPr spc="35" dirty="0"/>
              <a:t>r</a:t>
            </a:r>
            <a:r>
              <a:rPr spc="-80" dirty="0"/>
              <a:t>m</a:t>
            </a:r>
            <a:r>
              <a:rPr spc="114" dirty="0"/>
              <a:t>a</a:t>
            </a:r>
            <a:r>
              <a:rPr spc="-50" dirty="0"/>
              <a:t>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3139" y="1195413"/>
            <a:ext cx="6150610" cy="2812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195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b="1" spc="-135" dirty="0">
                <a:solidFill>
                  <a:srgbClr val="3E3E3E"/>
                </a:solidFill>
                <a:latin typeface="Arial"/>
                <a:cs typeface="Arial"/>
              </a:rPr>
              <a:t>microformat </a:t>
            </a:r>
            <a:r>
              <a:rPr sz="2200" spc="-114" dirty="0">
                <a:solidFill>
                  <a:srgbClr val="3E3E3E"/>
                </a:solidFill>
                <a:latin typeface="Arial"/>
                <a:cs typeface="Arial"/>
              </a:rPr>
              <a:t>is </a:t>
            </a:r>
            <a:r>
              <a:rPr sz="2200" spc="-170" dirty="0">
                <a:solidFill>
                  <a:srgbClr val="3E3E3E"/>
                </a:solidFill>
                <a:latin typeface="Arial"/>
                <a:cs typeface="Arial"/>
              </a:rPr>
              <a:t>a 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small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pattern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200" spc="-185" dirty="0">
                <a:solidFill>
                  <a:srgbClr val="3E3E3E"/>
                </a:solidFill>
                <a:latin typeface="Arial"/>
                <a:cs typeface="Arial"/>
              </a:rPr>
              <a:t>HTML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markup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attributes </a:t>
            </a:r>
            <a:r>
              <a:rPr sz="2200" spc="20" dirty="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sz="2200" spc="-46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represent </a:t>
            </a:r>
            <a:r>
              <a:rPr sz="2200" spc="-90" dirty="0">
                <a:solidFill>
                  <a:srgbClr val="3E3E3E"/>
                </a:solidFill>
                <a:latin typeface="Arial"/>
                <a:cs typeface="Arial"/>
              </a:rPr>
              <a:t>common </a:t>
            </a:r>
            <a:r>
              <a:rPr sz="2200" spc="-110" dirty="0">
                <a:solidFill>
                  <a:srgbClr val="3E3E3E"/>
                </a:solidFill>
                <a:latin typeface="Arial"/>
                <a:cs typeface="Arial"/>
              </a:rPr>
              <a:t>blocks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of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information  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such </a:t>
            </a:r>
            <a:r>
              <a:rPr sz="2200" spc="-204" dirty="0">
                <a:solidFill>
                  <a:srgbClr val="3E3E3E"/>
                </a:solidFill>
                <a:latin typeface="Arial"/>
                <a:cs typeface="Arial"/>
              </a:rPr>
              <a:t>as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people, </a:t>
            </a:r>
            <a:r>
              <a:rPr sz="2200" spc="-95" dirty="0">
                <a:solidFill>
                  <a:srgbClr val="3E3E3E"/>
                </a:solidFill>
                <a:latin typeface="Arial"/>
                <a:cs typeface="Arial"/>
              </a:rPr>
              <a:t>events,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</a:t>
            </a:r>
            <a:r>
              <a:rPr sz="2200" spc="-125" dirty="0">
                <a:solidFill>
                  <a:srgbClr val="3E3E3E"/>
                </a:solidFill>
                <a:latin typeface="Arial"/>
                <a:cs typeface="Arial"/>
              </a:rPr>
              <a:t>news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stories </a:t>
            </a:r>
            <a:r>
              <a:rPr sz="2200" spc="-155" dirty="0">
                <a:solidFill>
                  <a:srgbClr val="3E3E3E"/>
                </a:solidFill>
                <a:latin typeface="Arial"/>
                <a:cs typeface="Arial"/>
              </a:rPr>
              <a:t>so </a:t>
            </a:r>
            <a:r>
              <a:rPr sz="2200" spc="-5" dirty="0">
                <a:solidFill>
                  <a:srgbClr val="3E3E3E"/>
                </a:solidFill>
                <a:latin typeface="Arial"/>
                <a:cs typeface="Arial"/>
              </a:rPr>
              <a:t>that </a:t>
            </a:r>
            <a:r>
              <a:rPr sz="2200" spc="-25" dirty="0">
                <a:solidFill>
                  <a:srgbClr val="3E3E3E"/>
                </a:solidFill>
                <a:latin typeface="Arial"/>
                <a:cs typeface="Arial"/>
              </a:rPr>
              <a:t>the 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information </a:t>
            </a:r>
            <a:r>
              <a:rPr sz="2200" spc="-30" dirty="0">
                <a:solidFill>
                  <a:srgbClr val="3E3E3E"/>
                </a:solidFill>
                <a:latin typeface="Arial"/>
                <a:cs typeface="Arial"/>
              </a:rPr>
              <a:t>in </a:t>
            </a:r>
            <a:r>
              <a:rPr sz="2200" spc="-40" dirty="0">
                <a:solidFill>
                  <a:srgbClr val="3E3E3E"/>
                </a:solidFill>
                <a:latin typeface="Arial"/>
                <a:cs typeface="Arial"/>
              </a:rPr>
              <a:t>them </a:t>
            </a:r>
            <a:r>
              <a:rPr sz="2200" spc="-140" dirty="0">
                <a:solidFill>
                  <a:srgbClr val="3E3E3E"/>
                </a:solidFill>
                <a:latin typeface="Arial"/>
                <a:cs typeface="Arial"/>
              </a:rPr>
              <a:t>can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be </a:t>
            </a:r>
            <a:r>
              <a:rPr sz="2200" spc="-70" dirty="0">
                <a:solidFill>
                  <a:srgbClr val="3E3E3E"/>
                </a:solidFill>
                <a:latin typeface="Arial"/>
                <a:cs typeface="Arial"/>
              </a:rPr>
              <a:t>extracted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and indexed by  </a:t>
            </a:r>
            <a:r>
              <a:rPr sz="2200" spc="-60" dirty="0">
                <a:solidFill>
                  <a:srgbClr val="3E3E3E"/>
                </a:solidFill>
                <a:latin typeface="Arial"/>
                <a:cs typeface="Arial"/>
              </a:rPr>
              <a:t>software</a:t>
            </a:r>
            <a:r>
              <a:rPr sz="2200" spc="-135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3E3E3E"/>
                </a:solidFill>
                <a:latin typeface="Arial"/>
                <a:cs typeface="Arial"/>
              </a:rPr>
              <a:t>agents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2200" b="1" spc="-204" dirty="0">
                <a:solidFill>
                  <a:srgbClr val="3E3E3E"/>
                </a:solidFill>
                <a:latin typeface="Arial"/>
                <a:cs typeface="Arial"/>
              </a:rPr>
              <a:t>hCard 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2200" spc="-80" dirty="0">
                <a:solidFill>
                  <a:srgbClr val="3E3E3E"/>
                </a:solidFill>
                <a:latin typeface="Arial"/>
                <a:cs typeface="Arial"/>
              </a:rPr>
              <a:t>markup </a:t>
            </a:r>
            <a:r>
              <a:rPr sz="2200" spc="-65" dirty="0">
                <a:solidFill>
                  <a:srgbClr val="3E3E3E"/>
                </a:solidFill>
                <a:latin typeface="Arial"/>
                <a:cs typeface="Arial"/>
              </a:rPr>
              <a:t>contact</a:t>
            </a:r>
            <a:r>
              <a:rPr sz="2200" spc="-13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information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2200" b="1" spc="-185" dirty="0">
                <a:solidFill>
                  <a:srgbClr val="3E3E3E"/>
                </a:solidFill>
                <a:latin typeface="Arial"/>
                <a:cs typeface="Arial"/>
              </a:rPr>
              <a:t>hNews </a:t>
            </a:r>
            <a:r>
              <a:rPr sz="2200" b="1" spc="-130" dirty="0">
                <a:solidFill>
                  <a:srgbClr val="3E3E3E"/>
                </a:solidFill>
                <a:latin typeface="Arial"/>
                <a:cs typeface="Arial"/>
              </a:rPr>
              <a:t>– </a:t>
            </a:r>
            <a:r>
              <a:rPr sz="2200" spc="-50" dirty="0">
                <a:solidFill>
                  <a:srgbClr val="3E3E3E"/>
                </a:solidFill>
                <a:latin typeface="Arial"/>
                <a:cs typeface="Arial"/>
              </a:rPr>
              <a:t>richly </a:t>
            </a:r>
            <a:r>
              <a:rPr sz="2200" spc="-35" dirty="0">
                <a:solidFill>
                  <a:srgbClr val="3E3E3E"/>
                </a:solidFill>
                <a:latin typeface="Arial"/>
                <a:cs typeface="Arial"/>
              </a:rPr>
              <a:t>formatted, </a:t>
            </a:r>
            <a:r>
              <a:rPr sz="2200" spc="-100" dirty="0">
                <a:solidFill>
                  <a:srgbClr val="3E3E3E"/>
                </a:solidFill>
                <a:latin typeface="Arial"/>
                <a:cs typeface="Arial"/>
              </a:rPr>
              <a:t>standardized</a:t>
            </a:r>
            <a:r>
              <a:rPr sz="2200" spc="-220" dirty="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3E3E3E"/>
                </a:solidFill>
                <a:latin typeface="Arial"/>
                <a:cs typeface="Arial"/>
              </a:rPr>
              <a:t>markup: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5800" y="4038600"/>
            <a:ext cx="7157046" cy="2453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37477"/>
            <a:ext cx="3176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Microformat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698226"/>
            <a:ext cx="7124700" cy="40813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4294967295"/>
          </p:nvPr>
        </p:nvSpPr>
        <p:spPr>
          <a:xfrm>
            <a:off x="5971540" y="6617201"/>
            <a:ext cx="2499995" cy="20447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5400" y="0"/>
            <a:ext cx="228600" cy="6858000"/>
          </a:xfrm>
          <a:custGeom>
            <a:avLst/>
            <a:gdLst/>
            <a:ahLst/>
            <a:cxnLst/>
            <a:rect l="l" t="t" r="r" b="b"/>
            <a:pathLst>
              <a:path w="228600" h="6858000">
                <a:moveTo>
                  <a:pt x="0" y="6858000"/>
                </a:moveTo>
                <a:lnTo>
                  <a:pt x="228600" y="685800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773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6200">
            <a:solidFill>
              <a:srgbClr val="4670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6553200"/>
            <a:ext cx="8001000" cy="0"/>
          </a:xfrm>
          <a:custGeom>
            <a:avLst/>
            <a:gdLst/>
            <a:ahLst/>
            <a:cxnLst/>
            <a:rect l="l" t="t" r="r" b="b"/>
            <a:pathLst>
              <a:path w="8001000">
                <a:moveTo>
                  <a:pt x="8001000" y="0"/>
                </a:moveTo>
                <a:lnTo>
                  <a:pt x="0" y="0"/>
                </a:lnTo>
              </a:path>
            </a:pathLst>
          </a:custGeom>
          <a:ln w="1016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139" y="167640"/>
            <a:ext cx="53536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What </a:t>
            </a:r>
            <a:r>
              <a:rPr spc="145" dirty="0"/>
              <a:t>you’ve</a:t>
            </a:r>
            <a:r>
              <a:rPr spc="-5" dirty="0"/>
              <a:t> </a:t>
            </a:r>
            <a:r>
              <a:rPr spc="175" dirty="0"/>
              <a:t>learned</a:t>
            </a:r>
          </a:p>
        </p:txBody>
      </p:sp>
      <p:sp>
        <p:nvSpPr>
          <p:cNvPr id="7" name="object 7"/>
          <p:cNvSpPr/>
          <p:nvPr/>
        </p:nvSpPr>
        <p:spPr>
          <a:xfrm>
            <a:off x="914400" y="914400"/>
            <a:ext cx="3581400" cy="1219200"/>
          </a:xfrm>
          <a:custGeom>
            <a:avLst/>
            <a:gdLst/>
            <a:ahLst/>
            <a:cxnLst/>
            <a:rect l="l" t="t" r="r" b="b"/>
            <a:pathLst>
              <a:path w="3581400" h="1219200">
                <a:moveTo>
                  <a:pt x="3378200" y="0"/>
                </a:moveTo>
                <a:lnTo>
                  <a:pt x="203200" y="0"/>
                </a:lnTo>
                <a:lnTo>
                  <a:pt x="156610" y="5366"/>
                </a:lnTo>
                <a:lnTo>
                  <a:pt x="113840" y="20652"/>
                </a:lnTo>
                <a:lnTo>
                  <a:pt x="76111" y="44638"/>
                </a:lnTo>
                <a:lnTo>
                  <a:pt x="44642" y="76106"/>
                </a:lnTo>
                <a:lnTo>
                  <a:pt x="20654" y="113835"/>
                </a:lnTo>
                <a:lnTo>
                  <a:pt x="5367" y="156606"/>
                </a:lnTo>
                <a:lnTo>
                  <a:pt x="0" y="203200"/>
                </a:lnTo>
                <a:lnTo>
                  <a:pt x="0" y="1015987"/>
                </a:lnTo>
                <a:lnTo>
                  <a:pt x="5367" y="1062581"/>
                </a:lnTo>
                <a:lnTo>
                  <a:pt x="20654" y="1105354"/>
                </a:lnTo>
                <a:lnTo>
                  <a:pt x="44642" y="1143085"/>
                </a:lnTo>
                <a:lnTo>
                  <a:pt x="76111" y="1174556"/>
                </a:lnTo>
                <a:lnTo>
                  <a:pt x="113840" y="1198544"/>
                </a:lnTo>
                <a:lnTo>
                  <a:pt x="156610" y="1213832"/>
                </a:lnTo>
                <a:lnTo>
                  <a:pt x="203200" y="1219200"/>
                </a:lnTo>
                <a:lnTo>
                  <a:pt x="3378200" y="1219200"/>
                </a:lnTo>
                <a:lnTo>
                  <a:pt x="3424789" y="1213832"/>
                </a:lnTo>
                <a:lnTo>
                  <a:pt x="3467559" y="1198544"/>
                </a:lnTo>
                <a:lnTo>
                  <a:pt x="3505288" y="1174556"/>
                </a:lnTo>
                <a:lnTo>
                  <a:pt x="3536757" y="1143085"/>
                </a:lnTo>
                <a:lnTo>
                  <a:pt x="3560745" y="1105354"/>
                </a:lnTo>
                <a:lnTo>
                  <a:pt x="3576032" y="1062581"/>
                </a:lnTo>
                <a:lnTo>
                  <a:pt x="3581400" y="1015987"/>
                </a:lnTo>
                <a:lnTo>
                  <a:pt x="3581400" y="203200"/>
                </a:lnTo>
                <a:lnTo>
                  <a:pt x="3576032" y="156606"/>
                </a:lnTo>
                <a:lnTo>
                  <a:pt x="3560745" y="113835"/>
                </a:lnTo>
                <a:lnTo>
                  <a:pt x="3536757" y="76106"/>
                </a:lnTo>
                <a:lnTo>
                  <a:pt x="3505288" y="44638"/>
                </a:lnTo>
                <a:lnTo>
                  <a:pt x="3467559" y="20652"/>
                </a:lnTo>
                <a:lnTo>
                  <a:pt x="3424789" y="5366"/>
                </a:lnTo>
                <a:lnTo>
                  <a:pt x="3378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48200" y="914400"/>
            <a:ext cx="3581400" cy="1219200"/>
          </a:xfrm>
          <a:custGeom>
            <a:avLst/>
            <a:gdLst/>
            <a:ahLst/>
            <a:cxnLst/>
            <a:rect l="l" t="t" r="r" b="b"/>
            <a:pathLst>
              <a:path w="3581400" h="1219200">
                <a:moveTo>
                  <a:pt x="3378200" y="0"/>
                </a:moveTo>
                <a:lnTo>
                  <a:pt x="203200" y="0"/>
                </a:lnTo>
                <a:lnTo>
                  <a:pt x="156610" y="5366"/>
                </a:lnTo>
                <a:lnTo>
                  <a:pt x="113840" y="20652"/>
                </a:lnTo>
                <a:lnTo>
                  <a:pt x="76111" y="44638"/>
                </a:lnTo>
                <a:lnTo>
                  <a:pt x="44642" y="76106"/>
                </a:lnTo>
                <a:lnTo>
                  <a:pt x="20654" y="113835"/>
                </a:lnTo>
                <a:lnTo>
                  <a:pt x="5367" y="156606"/>
                </a:lnTo>
                <a:lnTo>
                  <a:pt x="0" y="203200"/>
                </a:lnTo>
                <a:lnTo>
                  <a:pt x="0" y="1015987"/>
                </a:lnTo>
                <a:lnTo>
                  <a:pt x="5367" y="1062581"/>
                </a:lnTo>
                <a:lnTo>
                  <a:pt x="20654" y="1105354"/>
                </a:lnTo>
                <a:lnTo>
                  <a:pt x="44642" y="1143085"/>
                </a:lnTo>
                <a:lnTo>
                  <a:pt x="76111" y="1174556"/>
                </a:lnTo>
                <a:lnTo>
                  <a:pt x="113840" y="1198544"/>
                </a:lnTo>
                <a:lnTo>
                  <a:pt x="156610" y="1213832"/>
                </a:lnTo>
                <a:lnTo>
                  <a:pt x="203200" y="1219200"/>
                </a:lnTo>
                <a:lnTo>
                  <a:pt x="3378200" y="1219200"/>
                </a:lnTo>
                <a:lnTo>
                  <a:pt x="3424789" y="1213832"/>
                </a:lnTo>
                <a:lnTo>
                  <a:pt x="3467559" y="1198544"/>
                </a:lnTo>
                <a:lnTo>
                  <a:pt x="3505288" y="1174556"/>
                </a:lnTo>
                <a:lnTo>
                  <a:pt x="3536757" y="1143085"/>
                </a:lnTo>
                <a:lnTo>
                  <a:pt x="3560745" y="1105354"/>
                </a:lnTo>
                <a:lnTo>
                  <a:pt x="3576032" y="1062581"/>
                </a:lnTo>
                <a:lnTo>
                  <a:pt x="3581400" y="1015987"/>
                </a:lnTo>
                <a:lnTo>
                  <a:pt x="3581400" y="203200"/>
                </a:lnTo>
                <a:lnTo>
                  <a:pt x="3576032" y="156606"/>
                </a:lnTo>
                <a:lnTo>
                  <a:pt x="3560745" y="113835"/>
                </a:lnTo>
                <a:lnTo>
                  <a:pt x="3536757" y="76106"/>
                </a:lnTo>
                <a:lnTo>
                  <a:pt x="3505288" y="44638"/>
                </a:lnTo>
                <a:lnTo>
                  <a:pt x="3467559" y="20652"/>
                </a:lnTo>
                <a:lnTo>
                  <a:pt x="3424789" y="5366"/>
                </a:lnTo>
                <a:lnTo>
                  <a:pt x="3378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27986" y="1094765"/>
            <a:ext cx="2108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80" dirty="0">
                <a:solidFill>
                  <a:srgbClr val="FFFFFF"/>
                </a:solidFill>
                <a:latin typeface="Trebuchet MS"/>
                <a:cs typeface="Trebuchet MS"/>
              </a:rPr>
              <a:t>Introducing</a:t>
            </a:r>
            <a:r>
              <a:rPr sz="28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430" dirty="0">
                <a:solidFill>
                  <a:srgbClr val="F3703A"/>
                </a:solidFill>
                <a:latin typeface="Trebuchet MS"/>
                <a:cs typeface="Trebuchet MS"/>
              </a:rPr>
              <a:t>Tables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2362200"/>
            <a:ext cx="3581400" cy="1219200"/>
          </a:xfrm>
          <a:custGeom>
            <a:avLst/>
            <a:gdLst/>
            <a:ahLst/>
            <a:cxnLst/>
            <a:rect l="l" t="t" r="r" b="b"/>
            <a:pathLst>
              <a:path w="3581400" h="1219200">
                <a:moveTo>
                  <a:pt x="3378200" y="0"/>
                </a:moveTo>
                <a:lnTo>
                  <a:pt x="203200" y="0"/>
                </a:lnTo>
                <a:lnTo>
                  <a:pt x="156610" y="5366"/>
                </a:lnTo>
                <a:lnTo>
                  <a:pt x="113840" y="20652"/>
                </a:lnTo>
                <a:lnTo>
                  <a:pt x="76111" y="44638"/>
                </a:lnTo>
                <a:lnTo>
                  <a:pt x="44642" y="76106"/>
                </a:lnTo>
                <a:lnTo>
                  <a:pt x="20654" y="113835"/>
                </a:lnTo>
                <a:lnTo>
                  <a:pt x="5367" y="156606"/>
                </a:lnTo>
                <a:lnTo>
                  <a:pt x="0" y="203200"/>
                </a:lnTo>
                <a:lnTo>
                  <a:pt x="0" y="1015987"/>
                </a:lnTo>
                <a:lnTo>
                  <a:pt x="5367" y="1062581"/>
                </a:lnTo>
                <a:lnTo>
                  <a:pt x="20654" y="1105354"/>
                </a:lnTo>
                <a:lnTo>
                  <a:pt x="44642" y="1143085"/>
                </a:lnTo>
                <a:lnTo>
                  <a:pt x="76111" y="1174556"/>
                </a:lnTo>
                <a:lnTo>
                  <a:pt x="113840" y="1198544"/>
                </a:lnTo>
                <a:lnTo>
                  <a:pt x="156610" y="1213832"/>
                </a:lnTo>
                <a:lnTo>
                  <a:pt x="203200" y="1219200"/>
                </a:lnTo>
                <a:lnTo>
                  <a:pt x="3378200" y="1219200"/>
                </a:lnTo>
                <a:lnTo>
                  <a:pt x="3424789" y="1213832"/>
                </a:lnTo>
                <a:lnTo>
                  <a:pt x="3467559" y="1198544"/>
                </a:lnTo>
                <a:lnTo>
                  <a:pt x="3505288" y="1174556"/>
                </a:lnTo>
                <a:lnTo>
                  <a:pt x="3536757" y="1143085"/>
                </a:lnTo>
                <a:lnTo>
                  <a:pt x="3560745" y="1105354"/>
                </a:lnTo>
                <a:lnTo>
                  <a:pt x="3576032" y="1062581"/>
                </a:lnTo>
                <a:lnTo>
                  <a:pt x="3581400" y="1015987"/>
                </a:lnTo>
                <a:lnTo>
                  <a:pt x="3581400" y="203200"/>
                </a:lnTo>
                <a:lnTo>
                  <a:pt x="3576032" y="156606"/>
                </a:lnTo>
                <a:lnTo>
                  <a:pt x="3560745" y="113835"/>
                </a:lnTo>
                <a:lnTo>
                  <a:pt x="3536757" y="76106"/>
                </a:lnTo>
                <a:lnTo>
                  <a:pt x="3505288" y="44638"/>
                </a:lnTo>
                <a:lnTo>
                  <a:pt x="3467559" y="20652"/>
                </a:lnTo>
                <a:lnTo>
                  <a:pt x="3424789" y="5366"/>
                </a:lnTo>
                <a:lnTo>
                  <a:pt x="3378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48200" y="2362200"/>
            <a:ext cx="3581400" cy="1219200"/>
          </a:xfrm>
          <a:custGeom>
            <a:avLst/>
            <a:gdLst/>
            <a:ahLst/>
            <a:cxnLst/>
            <a:rect l="l" t="t" r="r" b="b"/>
            <a:pathLst>
              <a:path w="3581400" h="1219200">
                <a:moveTo>
                  <a:pt x="3378200" y="0"/>
                </a:moveTo>
                <a:lnTo>
                  <a:pt x="203200" y="0"/>
                </a:lnTo>
                <a:lnTo>
                  <a:pt x="156610" y="5366"/>
                </a:lnTo>
                <a:lnTo>
                  <a:pt x="113840" y="20652"/>
                </a:lnTo>
                <a:lnTo>
                  <a:pt x="76111" y="44638"/>
                </a:lnTo>
                <a:lnTo>
                  <a:pt x="44642" y="76106"/>
                </a:lnTo>
                <a:lnTo>
                  <a:pt x="20654" y="113835"/>
                </a:lnTo>
                <a:lnTo>
                  <a:pt x="5367" y="156606"/>
                </a:lnTo>
                <a:lnTo>
                  <a:pt x="0" y="203200"/>
                </a:lnTo>
                <a:lnTo>
                  <a:pt x="0" y="1015987"/>
                </a:lnTo>
                <a:lnTo>
                  <a:pt x="5367" y="1062581"/>
                </a:lnTo>
                <a:lnTo>
                  <a:pt x="20654" y="1105354"/>
                </a:lnTo>
                <a:lnTo>
                  <a:pt x="44642" y="1143085"/>
                </a:lnTo>
                <a:lnTo>
                  <a:pt x="76111" y="1174556"/>
                </a:lnTo>
                <a:lnTo>
                  <a:pt x="113840" y="1198544"/>
                </a:lnTo>
                <a:lnTo>
                  <a:pt x="156610" y="1213832"/>
                </a:lnTo>
                <a:lnTo>
                  <a:pt x="203200" y="1219200"/>
                </a:lnTo>
                <a:lnTo>
                  <a:pt x="3378200" y="1219200"/>
                </a:lnTo>
                <a:lnTo>
                  <a:pt x="3424789" y="1213832"/>
                </a:lnTo>
                <a:lnTo>
                  <a:pt x="3467559" y="1198544"/>
                </a:lnTo>
                <a:lnTo>
                  <a:pt x="3505288" y="1174556"/>
                </a:lnTo>
                <a:lnTo>
                  <a:pt x="3536757" y="1143085"/>
                </a:lnTo>
                <a:lnTo>
                  <a:pt x="3560745" y="1105354"/>
                </a:lnTo>
                <a:lnTo>
                  <a:pt x="3576032" y="1062581"/>
                </a:lnTo>
                <a:lnTo>
                  <a:pt x="3581400" y="1015987"/>
                </a:lnTo>
                <a:lnTo>
                  <a:pt x="3581400" y="203200"/>
                </a:lnTo>
                <a:lnTo>
                  <a:pt x="3576032" y="156606"/>
                </a:lnTo>
                <a:lnTo>
                  <a:pt x="3560745" y="113835"/>
                </a:lnTo>
                <a:lnTo>
                  <a:pt x="3536757" y="76106"/>
                </a:lnTo>
                <a:lnTo>
                  <a:pt x="3505288" y="44638"/>
                </a:lnTo>
                <a:lnTo>
                  <a:pt x="3467559" y="20652"/>
                </a:lnTo>
                <a:lnTo>
                  <a:pt x="3424789" y="5366"/>
                </a:lnTo>
                <a:lnTo>
                  <a:pt x="3378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4400" y="3810000"/>
            <a:ext cx="3581400" cy="1219200"/>
          </a:xfrm>
          <a:custGeom>
            <a:avLst/>
            <a:gdLst/>
            <a:ahLst/>
            <a:cxnLst/>
            <a:rect l="l" t="t" r="r" b="b"/>
            <a:pathLst>
              <a:path w="3581400" h="1219200">
                <a:moveTo>
                  <a:pt x="3378200" y="0"/>
                </a:moveTo>
                <a:lnTo>
                  <a:pt x="203200" y="0"/>
                </a:lnTo>
                <a:lnTo>
                  <a:pt x="156610" y="5366"/>
                </a:lnTo>
                <a:lnTo>
                  <a:pt x="113840" y="20652"/>
                </a:lnTo>
                <a:lnTo>
                  <a:pt x="76111" y="44638"/>
                </a:lnTo>
                <a:lnTo>
                  <a:pt x="44642" y="76106"/>
                </a:lnTo>
                <a:lnTo>
                  <a:pt x="20654" y="113835"/>
                </a:lnTo>
                <a:lnTo>
                  <a:pt x="5367" y="156606"/>
                </a:lnTo>
                <a:lnTo>
                  <a:pt x="0" y="203200"/>
                </a:lnTo>
                <a:lnTo>
                  <a:pt x="0" y="1015987"/>
                </a:lnTo>
                <a:lnTo>
                  <a:pt x="5367" y="1062581"/>
                </a:lnTo>
                <a:lnTo>
                  <a:pt x="20654" y="1105354"/>
                </a:lnTo>
                <a:lnTo>
                  <a:pt x="44642" y="1143085"/>
                </a:lnTo>
                <a:lnTo>
                  <a:pt x="76111" y="1174556"/>
                </a:lnTo>
                <a:lnTo>
                  <a:pt x="113840" y="1198544"/>
                </a:lnTo>
                <a:lnTo>
                  <a:pt x="156610" y="1213832"/>
                </a:lnTo>
                <a:lnTo>
                  <a:pt x="203200" y="1219200"/>
                </a:lnTo>
                <a:lnTo>
                  <a:pt x="3378200" y="1219200"/>
                </a:lnTo>
                <a:lnTo>
                  <a:pt x="3424789" y="1213832"/>
                </a:lnTo>
                <a:lnTo>
                  <a:pt x="3467559" y="1198544"/>
                </a:lnTo>
                <a:lnTo>
                  <a:pt x="3505288" y="1174556"/>
                </a:lnTo>
                <a:lnTo>
                  <a:pt x="3536757" y="1143085"/>
                </a:lnTo>
                <a:lnTo>
                  <a:pt x="3560745" y="1105354"/>
                </a:lnTo>
                <a:lnTo>
                  <a:pt x="3576032" y="1062581"/>
                </a:lnTo>
                <a:lnTo>
                  <a:pt x="3581400" y="1015987"/>
                </a:lnTo>
                <a:lnTo>
                  <a:pt x="3581400" y="203200"/>
                </a:lnTo>
                <a:lnTo>
                  <a:pt x="3576032" y="156606"/>
                </a:lnTo>
                <a:lnTo>
                  <a:pt x="3560745" y="113835"/>
                </a:lnTo>
                <a:lnTo>
                  <a:pt x="3536757" y="76106"/>
                </a:lnTo>
                <a:lnTo>
                  <a:pt x="3505288" y="44638"/>
                </a:lnTo>
                <a:lnTo>
                  <a:pt x="3467559" y="20652"/>
                </a:lnTo>
                <a:lnTo>
                  <a:pt x="3424789" y="5366"/>
                </a:lnTo>
                <a:lnTo>
                  <a:pt x="3378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55139" y="3990365"/>
            <a:ext cx="18014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459" dirty="0">
                <a:solidFill>
                  <a:srgbClr val="FFFFFF"/>
                </a:solidFill>
                <a:latin typeface="Trebuchet MS"/>
                <a:cs typeface="Trebuchet MS"/>
              </a:rPr>
              <a:t>Table and </a:t>
            </a:r>
            <a:r>
              <a:rPr sz="2800" spc="-540" dirty="0">
                <a:solidFill>
                  <a:srgbClr val="FFFFFF"/>
                </a:solidFill>
                <a:latin typeface="Trebuchet MS"/>
                <a:cs typeface="Trebuchet MS"/>
              </a:rPr>
              <a:t>Form  </a:t>
            </a:r>
            <a:r>
              <a:rPr sz="2800" spc="-330" dirty="0">
                <a:solidFill>
                  <a:srgbClr val="F3703A"/>
                </a:solidFill>
                <a:latin typeface="Trebuchet MS"/>
                <a:cs typeface="Trebuchet MS"/>
              </a:rPr>
              <a:t>Accessibility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48200" y="3810000"/>
            <a:ext cx="3581400" cy="1219200"/>
          </a:xfrm>
          <a:custGeom>
            <a:avLst/>
            <a:gdLst/>
            <a:ahLst/>
            <a:cxnLst/>
            <a:rect l="l" t="t" r="r" b="b"/>
            <a:pathLst>
              <a:path w="3581400" h="1219200">
                <a:moveTo>
                  <a:pt x="3378200" y="0"/>
                </a:moveTo>
                <a:lnTo>
                  <a:pt x="203200" y="0"/>
                </a:lnTo>
                <a:lnTo>
                  <a:pt x="156610" y="5366"/>
                </a:lnTo>
                <a:lnTo>
                  <a:pt x="113840" y="20652"/>
                </a:lnTo>
                <a:lnTo>
                  <a:pt x="76111" y="44638"/>
                </a:lnTo>
                <a:lnTo>
                  <a:pt x="44642" y="76106"/>
                </a:lnTo>
                <a:lnTo>
                  <a:pt x="20654" y="113835"/>
                </a:lnTo>
                <a:lnTo>
                  <a:pt x="5367" y="156606"/>
                </a:lnTo>
                <a:lnTo>
                  <a:pt x="0" y="203200"/>
                </a:lnTo>
                <a:lnTo>
                  <a:pt x="0" y="1015987"/>
                </a:lnTo>
                <a:lnTo>
                  <a:pt x="5367" y="1062581"/>
                </a:lnTo>
                <a:lnTo>
                  <a:pt x="20654" y="1105354"/>
                </a:lnTo>
                <a:lnTo>
                  <a:pt x="44642" y="1143085"/>
                </a:lnTo>
                <a:lnTo>
                  <a:pt x="76111" y="1174556"/>
                </a:lnTo>
                <a:lnTo>
                  <a:pt x="113840" y="1198544"/>
                </a:lnTo>
                <a:lnTo>
                  <a:pt x="156610" y="1213832"/>
                </a:lnTo>
                <a:lnTo>
                  <a:pt x="203200" y="1219200"/>
                </a:lnTo>
                <a:lnTo>
                  <a:pt x="3378200" y="1219200"/>
                </a:lnTo>
                <a:lnTo>
                  <a:pt x="3424789" y="1213832"/>
                </a:lnTo>
                <a:lnTo>
                  <a:pt x="3467559" y="1198544"/>
                </a:lnTo>
                <a:lnTo>
                  <a:pt x="3505288" y="1174556"/>
                </a:lnTo>
                <a:lnTo>
                  <a:pt x="3536757" y="1143085"/>
                </a:lnTo>
                <a:lnTo>
                  <a:pt x="3560745" y="1105354"/>
                </a:lnTo>
                <a:lnTo>
                  <a:pt x="3576032" y="1062581"/>
                </a:lnTo>
                <a:lnTo>
                  <a:pt x="3581400" y="1015987"/>
                </a:lnTo>
                <a:lnTo>
                  <a:pt x="3581400" y="203200"/>
                </a:lnTo>
                <a:lnTo>
                  <a:pt x="3576032" y="156606"/>
                </a:lnTo>
                <a:lnTo>
                  <a:pt x="3560745" y="113835"/>
                </a:lnTo>
                <a:lnTo>
                  <a:pt x="3536757" y="76106"/>
                </a:lnTo>
                <a:lnTo>
                  <a:pt x="3505288" y="44638"/>
                </a:lnTo>
                <a:lnTo>
                  <a:pt x="3467559" y="20652"/>
                </a:lnTo>
                <a:lnTo>
                  <a:pt x="3424789" y="5366"/>
                </a:lnTo>
                <a:lnTo>
                  <a:pt x="3378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93139" y="916940"/>
            <a:ext cx="6546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spc="-170" dirty="0">
                <a:solidFill>
                  <a:srgbClr val="F3F3E7"/>
                </a:solidFill>
                <a:latin typeface="Verdana"/>
                <a:cs typeface="Verdana"/>
              </a:rPr>
              <a:t>1</a:t>
            </a:r>
            <a:endParaRPr sz="72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endParaRPr spc="20" dirty="0"/>
          </a:p>
        </p:txBody>
      </p:sp>
      <p:sp>
        <p:nvSpPr>
          <p:cNvPr id="16" name="object 16"/>
          <p:cNvSpPr txBox="1"/>
          <p:nvPr/>
        </p:nvSpPr>
        <p:spPr>
          <a:xfrm>
            <a:off x="993139" y="1983765"/>
            <a:ext cx="28371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800" b="1" spc="-254" baseline="-24305" dirty="0">
                <a:solidFill>
                  <a:srgbClr val="F3F3E7"/>
                </a:solidFill>
                <a:latin typeface="Verdana"/>
                <a:cs typeface="Verdana"/>
              </a:rPr>
              <a:t>3</a:t>
            </a:r>
            <a:r>
              <a:rPr sz="10800" b="1" spc="-2197" baseline="-24305" dirty="0">
                <a:solidFill>
                  <a:srgbClr val="F3F3E7"/>
                </a:solidFill>
                <a:latin typeface="Verdana"/>
                <a:cs typeface="Verdana"/>
              </a:rPr>
              <a:t> </a:t>
            </a:r>
            <a:r>
              <a:rPr sz="2800" spc="-380" dirty="0">
                <a:solidFill>
                  <a:srgbClr val="FFFFFF"/>
                </a:solidFill>
                <a:latin typeface="Trebuchet MS"/>
                <a:cs typeface="Trebuchet MS"/>
              </a:rPr>
              <a:t>Introducing </a:t>
            </a:r>
            <a:r>
              <a:rPr sz="2800" spc="-484" dirty="0">
                <a:solidFill>
                  <a:srgbClr val="F3703A"/>
                </a:solidFill>
                <a:latin typeface="Trebuchet MS"/>
                <a:cs typeface="Trebuchet MS"/>
              </a:rPr>
              <a:t>Forms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3139" y="3812844"/>
            <a:ext cx="6546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spc="-170" dirty="0">
                <a:solidFill>
                  <a:srgbClr val="F3F3E7"/>
                </a:solidFill>
                <a:latin typeface="Verdana"/>
                <a:cs typeface="Verdana"/>
              </a:rPr>
              <a:t>5</a:t>
            </a:r>
            <a:endParaRPr sz="7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26635" y="185445"/>
            <a:ext cx="3109595" cy="436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sz="10800" b="1" spc="-254" baseline="-23148" dirty="0">
                <a:solidFill>
                  <a:srgbClr val="F3F3E7"/>
                </a:solidFill>
                <a:latin typeface="Verdana"/>
                <a:cs typeface="Verdana"/>
              </a:rPr>
              <a:t>2 </a:t>
            </a:r>
            <a:r>
              <a:rPr sz="2800" spc="-315" dirty="0">
                <a:solidFill>
                  <a:srgbClr val="F3703A"/>
                </a:solidFill>
                <a:latin typeface="Trebuchet MS"/>
                <a:cs typeface="Trebuchet MS"/>
              </a:rPr>
              <a:t>Styling </a:t>
            </a:r>
            <a:r>
              <a:rPr sz="2800" spc="-430" dirty="0">
                <a:solidFill>
                  <a:srgbClr val="FFFFFF"/>
                </a:solidFill>
                <a:latin typeface="Trebuchet MS"/>
                <a:cs typeface="Trebuchet MS"/>
              </a:rPr>
              <a:t>Tables </a:t>
            </a:r>
            <a:r>
              <a:rPr sz="4200" spc="-644" baseline="-62499" dirty="0">
                <a:solidFill>
                  <a:srgbClr val="F3F3E7"/>
                </a:solidFill>
                <a:latin typeface="Trebuchet MS"/>
                <a:cs typeface="Trebuchet MS"/>
              </a:rPr>
              <a:t> </a:t>
            </a:r>
            <a:r>
              <a:rPr sz="10800" b="1" spc="-254" baseline="-24305" dirty="0">
                <a:solidFill>
                  <a:srgbClr val="F3F3E7"/>
                </a:solidFill>
                <a:latin typeface="Verdana"/>
                <a:cs typeface="Verdana"/>
              </a:rPr>
              <a:t>4</a:t>
            </a:r>
            <a:r>
              <a:rPr sz="10800" b="1" spc="-1995" baseline="-24305" dirty="0">
                <a:solidFill>
                  <a:srgbClr val="F3F3E7"/>
                </a:solidFill>
                <a:latin typeface="Verdana"/>
                <a:cs typeface="Verdana"/>
              </a:rPr>
              <a:t> </a:t>
            </a:r>
            <a:r>
              <a:rPr sz="2800" spc="-540" dirty="0">
                <a:solidFill>
                  <a:srgbClr val="F3703A"/>
                </a:solidFill>
                <a:latin typeface="Trebuchet MS"/>
                <a:cs typeface="Trebuchet MS"/>
              </a:rPr>
              <a:t>Form </a:t>
            </a:r>
            <a:r>
              <a:rPr sz="2800" spc="-440" dirty="0">
                <a:solidFill>
                  <a:srgbClr val="F3703A"/>
                </a:solidFill>
                <a:latin typeface="Trebuchet MS"/>
                <a:cs typeface="Trebuchet MS"/>
              </a:rPr>
              <a:t>Control </a:t>
            </a:r>
            <a:r>
              <a:rPr sz="2800" spc="-375" dirty="0">
                <a:solidFill>
                  <a:srgbClr val="FFFFFF"/>
                </a:solidFill>
                <a:latin typeface="Trebuchet MS"/>
                <a:cs typeface="Trebuchet MS"/>
              </a:rPr>
              <a:t>Details </a:t>
            </a:r>
            <a:r>
              <a:rPr sz="4200" spc="-562" baseline="-59523" dirty="0">
                <a:solidFill>
                  <a:srgbClr val="F3F3E7"/>
                </a:solidFill>
                <a:latin typeface="Trebuchet MS"/>
                <a:cs typeface="Trebuchet MS"/>
              </a:rPr>
              <a:t> </a:t>
            </a:r>
            <a:r>
              <a:rPr sz="10800" b="1" spc="-254" baseline="-23148" dirty="0">
                <a:solidFill>
                  <a:srgbClr val="F3F3E7"/>
                </a:solidFill>
                <a:latin typeface="Verdana"/>
                <a:cs typeface="Verdana"/>
              </a:rPr>
              <a:t>6</a:t>
            </a:r>
            <a:r>
              <a:rPr sz="10800" b="1" spc="-2145" baseline="-23148" dirty="0">
                <a:solidFill>
                  <a:srgbClr val="F3F3E7"/>
                </a:solidFill>
                <a:latin typeface="Verdana"/>
                <a:cs typeface="Verdana"/>
              </a:rPr>
              <a:t> </a:t>
            </a:r>
            <a:r>
              <a:rPr sz="2800" spc="-395" dirty="0">
                <a:solidFill>
                  <a:srgbClr val="FFFFFF"/>
                </a:solidFill>
                <a:latin typeface="Trebuchet MS"/>
                <a:cs typeface="Trebuchet MS"/>
              </a:rPr>
              <a:t>Microformats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2">
      <a:dk1>
        <a:srgbClr val="002060"/>
      </a:dk1>
      <a:lt1>
        <a:sysClr val="window" lastClr="FFFFFF"/>
      </a:lt1>
      <a:dk2>
        <a:srgbClr val="000000"/>
      </a:dk2>
      <a:lt2>
        <a:srgbClr val="E9E5DC"/>
      </a:lt2>
      <a:accent1>
        <a:srgbClr val="97BAFF"/>
      </a:accent1>
      <a:accent2>
        <a:srgbClr val="97BAF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6059</TotalTime>
  <Words>2910</Words>
  <Application>Microsoft Office PowerPoint</Application>
  <PresentationFormat>On-screen Show (4:3)</PresentationFormat>
  <Paragraphs>359</Paragraphs>
  <Slides>65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Office Theme</vt:lpstr>
      <vt:lpstr>HTML Tables and  Forms</vt:lpstr>
      <vt:lpstr>HTML Tables A grid of cells</vt:lpstr>
      <vt:lpstr>HTML Tables Example usages</vt:lpstr>
      <vt:lpstr>Table Basics Rows and cells</vt:lpstr>
      <vt:lpstr>A Simple Example</vt:lpstr>
      <vt:lpstr>With Table Headings</vt:lpstr>
      <vt:lpstr>Why Table Headings</vt:lpstr>
      <vt:lpstr>Spanning Rows and Columns</vt:lpstr>
      <vt:lpstr>Web Accessibility</vt:lpstr>
      <vt:lpstr>Accessible Tables</vt:lpstr>
      <vt:lpstr>Additional table tags</vt:lpstr>
      <vt:lpstr>Styling Tables The old ways deprecated</vt:lpstr>
      <vt:lpstr>Styling Tables Borders</vt:lpstr>
      <vt:lpstr>Styling Tables Padding and spacing</vt:lpstr>
      <vt:lpstr>Styling Tables Examples</vt:lpstr>
      <vt:lpstr>Nth-Child Nifty Table styling tricks: hover effect and zebra-stripes</vt:lpstr>
      <vt:lpstr>HTML Forms Richer way to interact with server</vt:lpstr>
      <vt:lpstr>Static Vs Dynamic</vt:lpstr>
      <vt:lpstr>Overview of Forms</vt:lpstr>
      <vt:lpstr>How forms interact with servers</vt:lpstr>
      <vt:lpstr>Attributes of the &lt;form&gt;  element:</vt:lpstr>
      <vt:lpstr>GET vs POST</vt:lpstr>
      <vt:lpstr>GET vs POST</vt:lpstr>
      <vt:lpstr>Query Strings</vt:lpstr>
      <vt:lpstr>URL encoding Special symbols</vt:lpstr>
      <vt:lpstr>GET vs POST Advantages and Disadvantages</vt:lpstr>
      <vt:lpstr>Form Control Elements</vt:lpstr>
      <vt:lpstr>Text Input Controls</vt:lpstr>
      <vt:lpstr>type="text"</vt:lpstr>
      <vt:lpstr>type="password"</vt:lpstr>
      <vt:lpstr>Slide 31</vt:lpstr>
      <vt:lpstr>The Name Attribute</vt:lpstr>
      <vt:lpstr>Radio Buttons</vt:lpstr>
      <vt:lpstr>Radio Buttons</vt:lpstr>
      <vt:lpstr>Radio Buttons</vt:lpstr>
      <vt:lpstr>Checkboxes</vt:lpstr>
      <vt:lpstr>Checkboxes</vt:lpstr>
      <vt:lpstr>Selection</vt:lpstr>
      <vt:lpstr>Which Value to send Select Lists Cont.</vt:lpstr>
      <vt:lpstr>Text Areas</vt:lpstr>
      <vt:lpstr>type= "submit"</vt:lpstr>
      <vt:lpstr>type= "reset"</vt:lpstr>
      <vt:lpstr>Accessible Forms</vt:lpstr>
      <vt:lpstr>Accessible Forms</vt:lpstr>
      <vt:lpstr>Accessibility guideline</vt:lpstr>
      <vt:lpstr>Label element</vt:lpstr>
      <vt:lpstr>Fieldset and Legend Elements</vt:lpstr>
      <vt:lpstr>Putting It All Together</vt:lpstr>
      <vt:lpstr>Button Controls</vt:lpstr>
      <vt:lpstr>Button Controls</vt:lpstr>
      <vt:lpstr>Specialized Controls</vt:lpstr>
      <vt:lpstr>Number and Range</vt:lpstr>
      <vt:lpstr>Number and Range</vt:lpstr>
      <vt:lpstr>Color</vt:lpstr>
      <vt:lpstr>Date and Time Controls</vt:lpstr>
      <vt:lpstr>HTML5 Date and Time Controls</vt:lpstr>
      <vt:lpstr>HTML5 Date and Time Controls</vt:lpstr>
      <vt:lpstr>HTML Controls</vt:lpstr>
      <vt:lpstr>HTML5</vt:lpstr>
      <vt:lpstr>Formatting</vt:lpstr>
      <vt:lpstr>The HTML for the form</vt:lpstr>
      <vt:lpstr>The CSS for the controls</vt:lpstr>
      <vt:lpstr>Microformats</vt:lpstr>
      <vt:lpstr>Microformat</vt:lpstr>
      <vt:lpstr>What you’ve learned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Randy Connolly</dc:creator>
  <cp:lastModifiedBy>chayapathi A R</cp:lastModifiedBy>
  <cp:revision>191</cp:revision>
  <dcterms:created xsi:type="dcterms:W3CDTF">2018-09-18T04:50:51Z</dcterms:created>
  <dcterms:modified xsi:type="dcterms:W3CDTF">2020-10-12T05:46:13Z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2018-01-23T00:00:00Z</vt:filetime>
  </property>
  <property fmtid="{D5CDD505-2E9C-101B-9397-08002B2CF9AE}" pid="3" name="Creator">
    <vt:lpwstr>Acrobat PDFMaker 18 for PowerPoint</vt:lpwstr>
  </property>
  <property fmtid="{D5CDD505-2E9C-101B-9397-08002B2CF9AE}" pid="4" name="LastSaved">
    <vt:filetime>2018-09-18T00:00:00Z</vt:filetime>
  </property>
</Properties>
</file>